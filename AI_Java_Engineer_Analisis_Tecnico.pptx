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con una idea simple: AI Java Engineer no es un chatbot de código; es un pipeline de ingeniería gobernado. La propuesta combina agentes LLM con herramientas deterministas y compuertas de control para convertir requisitos en cambios revisables.
Fuentes del repositorio:
• README.md
• pyproject.toml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Enfatizar que el valor del diseño está en coordinar especialización + control. El sistema intenta comprimir handoffs de análisis, arquitectura, coding, QA, debugging, seguridad y review, manteniendo decisiones sensibles fuera de la autonomía irrestricta.
Fuentes del repositorio:
• README.md
• SECURITY.md
• specs/SPEC-020.md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vista ejecutiva es entrada -&gt; orquestación -&gt; artefactos. El repositorio declara v0.1.0 y 20 especificaciones; graph.py instancia siete agentes. Existen implementaciones para OpenAI, Gemini, Anthropic y Mock, y dos estrategias de ejecución Java: remota y simulada.
Fuentes del repositorio:
• README.md
• pyproject.toml
• src/ai_java_engineer/orchestration/graph.py
• src/ai_java_engineer/llm/providers/
• src/ai_java_engineer/execution/remote_ci.py
• src/ai_java_engineer/execution/local_mock.py
Limitación de verificación:
Los recuentos exactos aportados de archivos Python, LOC, archivos de test y endpoints no pudieron recontarse localmente porque el entorno de ejecución no pudo clonar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separación es la decisión arquitectónica más importante. El LLM razona y propone; las herramientas ejecutan operaciones acotadas; gobernanza decide límites, bloqueos y aprobaciones. El repositorio usa un EngineeringOrchestrator secuencial, aunque la documentación también usa el lenguaje LangGraph / state machine.
Fuentes del repositorio:
• README.md
• pyproject.toml
• requirements.txt
• src/ai_java_engineer/orchestration/graph.py
• src/ai_java_engineer/orchestration/state.py
• src/ai_java_engineer/infrastructure/settings.py
• SECURITY.md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a los agentes como roles de una fábrica, no como bots autónomos. Product estructura el requerimiento, Architect diseña, Coding modifica, QA prueba, Debug repara fallos de build, Security evalúa cambios y Review consolida el diff y resultados.
Fuentes del repositorio:
• src/ai_java_engineer/orchestration/graph.py
• src/ai_java_engineer/agents/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la secuencia de izquierda a derecha y luego la segunda fila. Si build falla, Debug intenta corregir y recompilar hasta el límite. Después se ejecutan tests, seguridad y review; una vulnerabilidad crítica bloquea. Con aprobación, se crea rama/commit local y se construye el payload del Pull Request.
Fuentes del repositorio:
• src/ai_java_engineer/orchestration/graph.py
• src/ai_java_engineer/infrastructure/settings.py
• src/ai_java_engineer/execution/remote_ci.py
• src/ai_java_engineer/execution/local_mock.py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Distinguir seguridad de modelo y seguridad operacional. Hay controles de filesystem, redacción de secretos, mitigación de prompt injection, clasificación de riesgo de herramientas y bloqueos deterministas. SECURITY.md marca push/PR como alto riesgo y despliegue productivo como prohibido.
Fuentes del repositorio:
• SECURITY.md
• src/ai_java_engineer/security/
• src/ai_java_engineer/orchestration/graph.py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API funciona como control plane. Jira puede usar Atlassian Cloud y mantiene fallback local. Remote CI delega Maven a un endpoint; LocalMock simula build y tests. CheckpointStore persiste estado en SQLite, mientras que la API conserva runs activos en memoria. Hay un provider Anthropic implementado, aunque la factory visible en app.py no lo selecciona.
Fuentes del repositorio:
• src/ai_java_engineer/api/app.py
• src/ai_java_engineer/integrations/jira_client.py
• src/ai_java_engineer/llm/providers/
• src/ai_java_engineer/execution/remote_ci.py
• src/ai_java_engineer/execution/local_mock.py
• src/ai_java_engineer/orchestration/checkpoints.py
• src/ai_java_engineer/observability/tracing.py
• pyproject.toml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diapositiva de decisión. El repositorio muestra una arquitectura y controles consistentes para un piloto, pero varias piezas operan en modo demo/simulado y faltan evidencias de operación real. Evitar confundir el Definition of Done de una SPEC con evidencia de producción.
Fuentes del repositorio:
• README.md
• SECURITY.md
• specs/SPEC-001.md
• specs/SPEC-020.md
• src/ai_java_engineer/orchestration/graph.py
• src/ai_java_engineer/api/app.py
• src/ai_java_engineer/integrations/jira_client.py
• src/ai_java_engineer/execution/remote_ci.py
• src/ai_java_engineer/execution/local_mock.py
• tests/
Limitación de verificación:
El sandbox de análisis no pudo resolver github.com desde la terminal, por lo que no fue posible clonar el repositorio ni ejecutar pytest. La estructura de tests sí es visible en GitHub, pero no se certifica su resultado.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con una hoja de ruta de validación, no con una promesa de producción. El siguiente hito debe ser un piloto controlado sobre un repositorio Spring Boot real; a partir de ahí se integran CI/PR reales, identidad y persistencia robustas, métricas y políticas de auditoría.
Fuentes del repositorio:
• README.md
• SECURITY.md
• specs/SPEC-020.md
• src/ai_java_engineer/orchestration/graph.py
• src/ai_java_engineer/api/app.py
• src/ai_java_engineer/execution/remote_ci.py
• src/ai_java_engineer/orchestration/checkpoints.py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71525"/>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B75FF"/>
          </a:solidFill>
          <a:ln w="12700">
            <a:solidFill>
              <a:srgbClr val="1B75FF">
                <a:alpha val="0"/>
              </a:srgbClr>
            </a:solidFill>
            <a:prstDash val="solid"/>
          </a:ln>
        </p:spPr>
      </p:sp>
      <p:sp>
        <p:nvSpPr>
          <p:cNvPr id="3" name="Shape 1"/>
          <p:cNvSpPr/>
          <p:nvPr/>
        </p:nvSpPr>
        <p:spPr>
          <a:xfrm>
            <a:off x="548640" y="6547104"/>
            <a:ext cx="11064240" cy="0"/>
          </a:xfrm>
          <a:prstGeom prst="line">
            <a:avLst/>
          </a:prstGeom>
          <a:noFill/>
          <a:ln w="10160">
            <a:solidFill>
              <a:srgbClr val="274258"/>
            </a:solidFill>
            <a:prstDash val="solid"/>
          </a:ln>
        </p:spPr>
      </p:sp>
      <p:sp>
        <p:nvSpPr>
          <p:cNvPr id="4" name="Text 2"/>
          <p:cNvSpPr/>
          <p:nvPr/>
        </p:nvSpPr>
        <p:spPr>
          <a:xfrm>
            <a:off x="566928" y="6574536"/>
            <a:ext cx="4937760" cy="164592"/>
          </a:xfrm>
          <a:prstGeom prst="rect">
            <a:avLst/>
          </a:prstGeom>
          <a:noFill/>
          <a:ln/>
        </p:spPr>
        <p:txBody>
          <a:bodyPr wrap="square" lIns="0" tIns="0" rIns="0" bIns="0" rtlCol="0" anchor="ctr"/>
          <a:lstStyle/>
          <a:p>
            <a:pPr indent="0" marL="0">
              <a:buNone/>
            </a:pPr>
            <a:r>
              <a:rPr lang="en-US" sz="850" spc="110" kern="0" dirty="0">
                <a:solidFill>
                  <a:srgbClr val="6F879B"/>
                </a:solidFill>
                <a:latin typeface="Inter" pitchFamily="34" charset="0"/>
                <a:ea typeface="Inter" pitchFamily="34" charset="-122"/>
                <a:cs typeface="Inter" pitchFamily="34" charset="-120"/>
              </a:rPr>
              <a:t>AI JAVA ENGINEER · ANÁLISIS TÉCNICO</a:t>
            </a:r>
            <a:endParaRPr lang="en-US" sz="850" dirty="0"/>
          </a:p>
        </p:txBody>
      </p:sp>
      <p:sp>
        <p:nvSpPr>
          <p:cNvPr id="25" name="Slide Number Placeholder 0"/>
          <p:cNvSpPr>
            <a:spLocks noGrp="1"/>
          </p:cNvSpPr>
          <p:nvPr>
            <p:ph type="sldNum" sz="quarter" idx="4294967295"/>
          </p:nvPr>
        </p:nvSpPr>
        <p:spPr>
          <a:xfrm>
            <a:off x="11192256" y="6556248"/>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F879B"/>
                </a:solidFill>
                <a:latin typeface="Inter"/>
                <a:ea typeface="Inter"/>
                <a:cs typeface="Inter"/>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92256" y="6556248"/>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F879B"/>
                </a:solidFill>
                <a:latin typeface="Inter"/>
                <a:ea typeface="Inter"/>
                <a:cs typeface="Inter"/>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726680" y="594360"/>
            <a:ext cx="0" cy="4434840"/>
          </a:xfrm>
          <a:prstGeom prst="line">
            <a:avLst/>
          </a:prstGeom>
          <a:noFill/>
          <a:ln w="10160">
            <a:solidFill>
              <a:srgbClr val="274258"/>
            </a:solidFill>
            <a:prstDash val="solid"/>
          </a:ln>
        </p:spPr>
      </p:sp>
      <p:sp>
        <p:nvSpPr>
          <p:cNvPr id="3" name="Shape 1"/>
          <p:cNvSpPr/>
          <p:nvPr/>
        </p:nvSpPr>
        <p:spPr>
          <a:xfrm>
            <a:off x="8229600" y="594360"/>
            <a:ext cx="0" cy="4434840"/>
          </a:xfrm>
          <a:prstGeom prst="line">
            <a:avLst/>
          </a:prstGeom>
          <a:noFill/>
          <a:ln w="10160">
            <a:solidFill>
              <a:srgbClr val="274258"/>
            </a:solidFill>
            <a:prstDash val="solid"/>
          </a:ln>
        </p:spPr>
      </p:sp>
      <p:sp>
        <p:nvSpPr>
          <p:cNvPr id="4" name="Shape 2"/>
          <p:cNvSpPr/>
          <p:nvPr/>
        </p:nvSpPr>
        <p:spPr>
          <a:xfrm>
            <a:off x="8732520" y="594360"/>
            <a:ext cx="0" cy="4434840"/>
          </a:xfrm>
          <a:prstGeom prst="line">
            <a:avLst/>
          </a:prstGeom>
          <a:noFill/>
          <a:ln w="10160">
            <a:solidFill>
              <a:srgbClr val="274258"/>
            </a:solidFill>
            <a:prstDash val="solid"/>
          </a:ln>
        </p:spPr>
      </p:sp>
      <p:sp>
        <p:nvSpPr>
          <p:cNvPr id="5" name="Shape 3"/>
          <p:cNvSpPr/>
          <p:nvPr/>
        </p:nvSpPr>
        <p:spPr>
          <a:xfrm>
            <a:off x="9235440" y="594360"/>
            <a:ext cx="0" cy="4434840"/>
          </a:xfrm>
          <a:prstGeom prst="line">
            <a:avLst/>
          </a:prstGeom>
          <a:noFill/>
          <a:ln w="10160">
            <a:solidFill>
              <a:srgbClr val="274258"/>
            </a:solidFill>
            <a:prstDash val="solid"/>
          </a:ln>
        </p:spPr>
      </p:sp>
      <p:sp>
        <p:nvSpPr>
          <p:cNvPr id="6" name="Shape 4"/>
          <p:cNvSpPr/>
          <p:nvPr/>
        </p:nvSpPr>
        <p:spPr>
          <a:xfrm>
            <a:off x="9738360" y="594360"/>
            <a:ext cx="0" cy="4434840"/>
          </a:xfrm>
          <a:prstGeom prst="line">
            <a:avLst/>
          </a:prstGeom>
          <a:noFill/>
          <a:ln w="10160">
            <a:solidFill>
              <a:srgbClr val="274258"/>
            </a:solidFill>
            <a:prstDash val="solid"/>
          </a:ln>
        </p:spPr>
      </p:sp>
      <p:sp>
        <p:nvSpPr>
          <p:cNvPr id="7" name="Shape 5"/>
          <p:cNvSpPr/>
          <p:nvPr/>
        </p:nvSpPr>
        <p:spPr>
          <a:xfrm>
            <a:off x="10241280" y="594360"/>
            <a:ext cx="0" cy="4434840"/>
          </a:xfrm>
          <a:prstGeom prst="line">
            <a:avLst/>
          </a:prstGeom>
          <a:noFill/>
          <a:ln w="10160">
            <a:solidFill>
              <a:srgbClr val="274258"/>
            </a:solidFill>
            <a:prstDash val="solid"/>
          </a:ln>
        </p:spPr>
      </p:sp>
      <p:sp>
        <p:nvSpPr>
          <p:cNvPr id="8" name="Shape 6"/>
          <p:cNvSpPr/>
          <p:nvPr/>
        </p:nvSpPr>
        <p:spPr>
          <a:xfrm>
            <a:off x="7452360" y="914400"/>
            <a:ext cx="3794760" cy="0"/>
          </a:xfrm>
          <a:prstGeom prst="line">
            <a:avLst/>
          </a:prstGeom>
          <a:noFill/>
          <a:ln w="10160">
            <a:solidFill>
              <a:srgbClr val="274258"/>
            </a:solidFill>
            <a:prstDash val="solid"/>
          </a:ln>
        </p:spPr>
      </p:sp>
      <p:sp>
        <p:nvSpPr>
          <p:cNvPr id="9" name="Shape 7"/>
          <p:cNvSpPr/>
          <p:nvPr/>
        </p:nvSpPr>
        <p:spPr>
          <a:xfrm>
            <a:off x="7452360" y="1490472"/>
            <a:ext cx="3794760" cy="0"/>
          </a:xfrm>
          <a:prstGeom prst="line">
            <a:avLst/>
          </a:prstGeom>
          <a:noFill/>
          <a:ln w="10160">
            <a:solidFill>
              <a:srgbClr val="274258"/>
            </a:solidFill>
            <a:prstDash val="solid"/>
          </a:ln>
        </p:spPr>
      </p:sp>
      <p:sp>
        <p:nvSpPr>
          <p:cNvPr id="10" name="Shape 8"/>
          <p:cNvSpPr/>
          <p:nvPr/>
        </p:nvSpPr>
        <p:spPr>
          <a:xfrm>
            <a:off x="7452360" y="2066544"/>
            <a:ext cx="3794760" cy="0"/>
          </a:xfrm>
          <a:prstGeom prst="line">
            <a:avLst/>
          </a:prstGeom>
          <a:noFill/>
          <a:ln w="10160">
            <a:solidFill>
              <a:srgbClr val="274258"/>
            </a:solidFill>
            <a:prstDash val="solid"/>
          </a:ln>
        </p:spPr>
      </p:sp>
      <p:sp>
        <p:nvSpPr>
          <p:cNvPr id="11" name="Shape 9"/>
          <p:cNvSpPr/>
          <p:nvPr/>
        </p:nvSpPr>
        <p:spPr>
          <a:xfrm>
            <a:off x="7452360" y="2642616"/>
            <a:ext cx="3794760" cy="0"/>
          </a:xfrm>
          <a:prstGeom prst="line">
            <a:avLst/>
          </a:prstGeom>
          <a:noFill/>
          <a:ln w="10160">
            <a:solidFill>
              <a:srgbClr val="274258"/>
            </a:solidFill>
            <a:prstDash val="solid"/>
          </a:ln>
        </p:spPr>
      </p:sp>
      <p:sp>
        <p:nvSpPr>
          <p:cNvPr id="12" name="Shape 10"/>
          <p:cNvSpPr/>
          <p:nvPr/>
        </p:nvSpPr>
        <p:spPr>
          <a:xfrm>
            <a:off x="7452360" y="3218688"/>
            <a:ext cx="3794760" cy="0"/>
          </a:xfrm>
          <a:prstGeom prst="line">
            <a:avLst/>
          </a:prstGeom>
          <a:noFill/>
          <a:ln w="10160">
            <a:solidFill>
              <a:srgbClr val="274258"/>
            </a:solidFill>
            <a:prstDash val="solid"/>
          </a:ln>
        </p:spPr>
      </p:sp>
      <p:sp>
        <p:nvSpPr>
          <p:cNvPr id="13" name="Shape 11"/>
          <p:cNvSpPr/>
          <p:nvPr/>
        </p:nvSpPr>
        <p:spPr>
          <a:xfrm>
            <a:off x="7452360" y="3794760"/>
            <a:ext cx="3794760" cy="0"/>
          </a:xfrm>
          <a:prstGeom prst="line">
            <a:avLst/>
          </a:prstGeom>
          <a:noFill/>
          <a:ln w="10160">
            <a:solidFill>
              <a:srgbClr val="274258"/>
            </a:solidFill>
            <a:prstDash val="solid"/>
          </a:ln>
        </p:spPr>
      </p:sp>
      <p:sp>
        <p:nvSpPr>
          <p:cNvPr id="14" name="Shape 12"/>
          <p:cNvSpPr/>
          <p:nvPr/>
        </p:nvSpPr>
        <p:spPr>
          <a:xfrm>
            <a:off x="7891272" y="832104"/>
            <a:ext cx="164592" cy="164592"/>
          </a:xfrm>
          <a:prstGeom prst="ellipse">
            <a:avLst/>
          </a:prstGeom>
          <a:solidFill>
            <a:srgbClr val="1B75FF"/>
          </a:solidFill>
          <a:ln w="12700">
            <a:solidFill>
              <a:srgbClr val="1B75FF"/>
            </a:solidFill>
            <a:prstDash val="solid"/>
          </a:ln>
        </p:spPr>
      </p:sp>
      <p:sp>
        <p:nvSpPr>
          <p:cNvPr id="15" name="Shape 13"/>
          <p:cNvSpPr/>
          <p:nvPr/>
        </p:nvSpPr>
        <p:spPr>
          <a:xfrm>
            <a:off x="8650224" y="1408176"/>
            <a:ext cx="164592" cy="164592"/>
          </a:xfrm>
          <a:prstGeom prst="ellipse">
            <a:avLst/>
          </a:prstGeom>
          <a:solidFill>
            <a:srgbClr val="2EA8FF"/>
          </a:solidFill>
          <a:ln w="12700">
            <a:solidFill>
              <a:srgbClr val="2EA8FF"/>
            </a:solidFill>
            <a:prstDash val="solid"/>
          </a:ln>
        </p:spPr>
      </p:sp>
      <p:sp>
        <p:nvSpPr>
          <p:cNvPr id="16" name="Shape 14"/>
          <p:cNvSpPr/>
          <p:nvPr/>
        </p:nvSpPr>
        <p:spPr>
          <a:xfrm>
            <a:off x="9656064" y="1984248"/>
            <a:ext cx="164592" cy="164592"/>
          </a:xfrm>
          <a:prstGeom prst="ellipse">
            <a:avLst/>
          </a:prstGeom>
          <a:solidFill>
            <a:srgbClr val="1B75FF"/>
          </a:solidFill>
          <a:ln w="12700">
            <a:solidFill>
              <a:srgbClr val="1B75FF"/>
            </a:solidFill>
            <a:prstDash val="solid"/>
          </a:ln>
        </p:spPr>
      </p:sp>
      <p:sp>
        <p:nvSpPr>
          <p:cNvPr id="17" name="Shape 15"/>
          <p:cNvSpPr/>
          <p:nvPr/>
        </p:nvSpPr>
        <p:spPr>
          <a:xfrm>
            <a:off x="10396728" y="2560320"/>
            <a:ext cx="164592" cy="164592"/>
          </a:xfrm>
          <a:prstGeom prst="ellipse">
            <a:avLst/>
          </a:prstGeom>
          <a:solidFill>
            <a:srgbClr val="2EA8FF"/>
          </a:solidFill>
          <a:ln w="12700">
            <a:solidFill>
              <a:srgbClr val="2EA8FF"/>
            </a:solidFill>
            <a:prstDash val="solid"/>
          </a:ln>
        </p:spPr>
      </p:sp>
      <p:sp>
        <p:nvSpPr>
          <p:cNvPr id="18" name="Shape 16"/>
          <p:cNvSpPr/>
          <p:nvPr/>
        </p:nvSpPr>
        <p:spPr>
          <a:xfrm>
            <a:off x="8897112" y="3136392"/>
            <a:ext cx="164592" cy="164592"/>
          </a:xfrm>
          <a:prstGeom prst="ellipse">
            <a:avLst/>
          </a:prstGeom>
          <a:solidFill>
            <a:srgbClr val="1B75FF"/>
          </a:solidFill>
          <a:ln w="12700">
            <a:solidFill>
              <a:srgbClr val="1B75FF"/>
            </a:solidFill>
            <a:prstDash val="solid"/>
          </a:ln>
        </p:spPr>
      </p:sp>
      <p:sp>
        <p:nvSpPr>
          <p:cNvPr id="19" name="Shape 17"/>
          <p:cNvSpPr/>
          <p:nvPr/>
        </p:nvSpPr>
        <p:spPr>
          <a:xfrm>
            <a:off x="10689336" y="3712464"/>
            <a:ext cx="164592" cy="164592"/>
          </a:xfrm>
          <a:prstGeom prst="ellipse">
            <a:avLst/>
          </a:prstGeom>
          <a:solidFill>
            <a:srgbClr val="38D996"/>
          </a:solidFill>
          <a:ln w="12700">
            <a:solidFill>
              <a:srgbClr val="38D996"/>
            </a:solidFill>
            <a:prstDash val="solid"/>
          </a:ln>
        </p:spPr>
      </p:sp>
      <p:sp>
        <p:nvSpPr>
          <p:cNvPr id="20" name="Shape 18"/>
          <p:cNvSpPr/>
          <p:nvPr/>
        </p:nvSpPr>
        <p:spPr>
          <a:xfrm>
            <a:off x="7973568" y="914400"/>
            <a:ext cx="758952" cy="576072"/>
          </a:xfrm>
          <a:prstGeom prst="line">
            <a:avLst/>
          </a:prstGeom>
          <a:noFill/>
          <a:ln w="25400">
            <a:solidFill>
              <a:srgbClr val="2EA8FF"/>
            </a:solidFill>
            <a:prstDash val="solid"/>
            <a:tailEnd type="triangle"/>
          </a:ln>
        </p:spPr>
      </p:sp>
      <p:sp>
        <p:nvSpPr>
          <p:cNvPr id="21" name="Shape 19"/>
          <p:cNvSpPr/>
          <p:nvPr/>
        </p:nvSpPr>
        <p:spPr>
          <a:xfrm>
            <a:off x="8732520" y="1490472"/>
            <a:ext cx="1005840" cy="576072"/>
          </a:xfrm>
          <a:prstGeom prst="line">
            <a:avLst/>
          </a:prstGeom>
          <a:noFill/>
          <a:ln w="25400">
            <a:solidFill>
              <a:srgbClr val="2EA8FF"/>
            </a:solidFill>
            <a:prstDash val="solid"/>
            <a:tailEnd type="triangle"/>
          </a:ln>
        </p:spPr>
      </p:sp>
      <p:sp>
        <p:nvSpPr>
          <p:cNvPr id="22" name="Shape 20"/>
          <p:cNvSpPr/>
          <p:nvPr/>
        </p:nvSpPr>
        <p:spPr>
          <a:xfrm>
            <a:off x="9738360" y="2066544"/>
            <a:ext cx="740664" cy="576072"/>
          </a:xfrm>
          <a:prstGeom prst="line">
            <a:avLst/>
          </a:prstGeom>
          <a:noFill/>
          <a:ln w="25400">
            <a:solidFill>
              <a:srgbClr val="1B75FF"/>
            </a:solidFill>
            <a:prstDash val="solid"/>
            <a:tailEnd type="triangle"/>
          </a:ln>
        </p:spPr>
      </p:sp>
      <p:sp>
        <p:nvSpPr>
          <p:cNvPr id="23" name="Shape 21"/>
          <p:cNvSpPr/>
          <p:nvPr/>
        </p:nvSpPr>
        <p:spPr>
          <a:xfrm>
            <a:off x="10479024" y="2642616"/>
            <a:ext cx="-1499616" cy="576072"/>
          </a:xfrm>
          <a:prstGeom prst="line">
            <a:avLst/>
          </a:prstGeom>
          <a:noFill/>
          <a:ln w="25400">
            <a:solidFill>
              <a:srgbClr val="45D0E6"/>
            </a:solidFill>
            <a:prstDash val="solid"/>
            <a:tailEnd type="triangle"/>
          </a:ln>
        </p:spPr>
      </p:sp>
      <p:sp>
        <p:nvSpPr>
          <p:cNvPr id="24" name="Shape 22"/>
          <p:cNvSpPr/>
          <p:nvPr/>
        </p:nvSpPr>
        <p:spPr>
          <a:xfrm>
            <a:off x="8979408" y="3218688"/>
            <a:ext cx="1792224" cy="576072"/>
          </a:xfrm>
          <a:prstGeom prst="line">
            <a:avLst/>
          </a:prstGeom>
          <a:noFill/>
          <a:ln w="25400">
            <a:solidFill>
              <a:srgbClr val="38D996"/>
            </a:solidFill>
            <a:prstDash val="solid"/>
            <a:tailEnd type="triangle"/>
          </a:ln>
        </p:spPr>
      </p:sp>
      <p:sp>
        <p:nvSpPr>
          <p:cNvPr id="25" name="Shape 23"/>
          <p:cNvSpPr/>
          <p:nvPr/>
        </p:nvSpPr>
        <p:spPr>
          <a:xfrm>
            <a:off x="658368" y="713232"/>
            <a:ext cx="2331720" cy="329184"/>
          </a:xfrm>
          <a:prstGeom prst="roundRect">
            <a:avLst>
              <a:gd name="adj" fmla="val 44444"/>
            </a:avLst>
          </a:prstGeom>
          <a:solidFill>
            <a:srgbClr val="102A40"/>
          </a:solidFill>
          <a:ln w="12700">
            <a:solidFill>
              <a:srgbClr val="102A40"/>
            </a:solidFill>
            <a:prstDash val="solid"/>
          </a:ln>
        </p:spPr>
      </p:sp>
      <p:sp>
        <p:nvSpPr>
          <p:cNvPr id="26" name="Text 24"/>
          <p:cNvSpPr txBox="1"/>
          <p:nvPr/>
        </p:nvSpPr>
        <p:spPr>
          <a:xfrm>
            <a:off x="731520" y="731520"/>
            <a:ext cx="2185416" cy="283464"/>
          </a:xfrm>
          <a:prstGeom prst="rect">
            <a:avLst/>
          </a:prstGeom>
          <a:noFill/>
          <a:ln/>
        </p:spPr>
        <p:txBody>
          <a:bodyPr wrap="square" lIns="0" tIns="0" rIns="0" bIns="0" rtlCol="0" anchor="ctr">
            <a:normAutofit/>
          </a:bodyPr>
          <a:lstStyle/>
          <a:p>
            <a:pPr algn="ctr" indent="0" marL="0">
              <a:buNone/>
            </a:pPr>
            <a:r>
              <a:rPr lang="en-US" sz="1050" b="1" dirty="0">
                <a:solidFill>
                  <a:srgbClr val="2EA8FF"/>
                </a:solidFill>
                <a:latin typeface="Inter" pitchFamily="34" charset="0"/>
                <a:ea typeface="Inter" pitchFamily="34" charset="-122"/>
                <a:cs typeface="Inter" pitchFamily="34" charset="-120"/>
              </a:rPr>
              <a:t>ANÁLISIS ARQUITECTÓNICO · MAIN</a:t>
            </a:r>
            <a:endParaRPr lang="en-US" sz="1050" dirty="0"/>
          </a:p>
        </p:txBody>
      </p:sp>
      <p:sp>
        <p:nvSpPr>
          <p:cNvPr id="27" name="Text 25"/>
          <p:cNvSpPr txBox="1"/>
          <p:nvPr/>
        </p:nvSpPr>
        <p:spPr>
          <a:xfrm>
            <a:off x="658368" y="1261872"/>
            <a:ext cx="6583680" cy="1335024"/>
          </a:xfrm>
          <a:prstGeom prst="rect">
            <a:avLst/>
          </a:prstGeom>
          <a:noFill/>
          <a:ln/>
        </p:spPr>
        <p:txBody>
          <a:bodyPr wrap="square" lIns="0" tIns="0" rIns="0" bIns="0" rtlCol="0" anchor="t">
            <a:normAutofit/>
          </a:bodyPr>
          <a:lstStyle/>
          <a:p>
            <a:pPr algn="l" indent="0" marL="0">
              <a:buNone/>
            </a:pPr>
            <a:r>
              <a:rPr lang="en-US" sz="4700" b="1" dirty="0">
                <a:solidFill>
                  <a:srgbClr val="F7FAFC"/>
                </a:solidFill>
                <a:latin typeface="Inter" pitchFamily="34" charset="0"/>
                <a:ea typeface="Inter" pitchFamily="34" charset="-122"/>
                <a:cs typeface="Inter" pitchFamily="34" charset="-120"/>
              </a:rPr>
              <a:t>AI Java</a:t>
            </a:r>
            <a:endParaRPr lang="en-US" sz="4700" dirty="0"/>
          </a:p>
          <a:p>
            <a:pPr algn="l" indent="0" marL="0">
              <a:buNone/>
            </a:pPr>
            <a:r>
              <a:rPr lang="en-US" sz="4700" b="1" dirty="0">
                <a:solidFill>
                  <a:srgbClr val="F7FAFC"/>
                </a:solidFill>
                <a:latin typeface="Inter" pitchFamily="34" charset="0"/>
                <a:ea typeface="Inter" pitchFamily="34" charset="-122"/>
                <a:cs typeface="Inter" pitchFamily="34" charset="-120"/>
              </a:rPr>
              <a:t>Engineer</a:t>
            </a:r>
            <a:endParaRPr lang="en-US" sz="4700" dirty="0"/>
          </a:p>
        </p:txBody>
      </p:sp>
      <p:sp>
        <p:nvSpPr>
          <p:cNvPr id="28" name="Text 26"/>
          <p:cNvSpPr txBox="1"/>
          <p:nvPr/>
        </p:nvSpPr>
        <p:spPr>
          <a:xfrm>
            <a:off x="685800" y="2770632"/>
            <a:ext cx="6355080" cy="640080"/>
          </a:xfrm>
          <a:prstGeom prst="rect">
            <a:avLst/>
          </a:prstGeom>
          <a:noFill/>
          <a:ln/>
        </p:spPr>
        <p:txBody>
          <a:bodyPr wrap="square" lIns="0" tIns="0" rIns="0" bIns="0" rtlCol="0" anchor="t">
            <a:normAutofit/>
          </a:bodyPr>
          <a:lstStyle/>
          <a:p>
            <a:pPr algn="l" indent="0" marL="0">
              <a:buNone/>
            </a:pPr>
            <a:r>
              <a:rPr lang="en-US" sz="2400" dirty="0">
                <a:solidFill>
                  <a:srgbClr val="DCE6F2"/>
                </a:solidFill>
                <a:latin typeface="Inter" pitchFamily="34" charset="0"/>
                <a:ea typeface="Inter" pitchFamily="34" charset="-122"/>
                <a:cs typeface="Inter" pitchFamily="34" charset="-120"/>
              </a:rPr>
              <a:t>Fábrica gobernada de agentes para desarrollo Java</a:t>
            </a:r>
            <a:endParaRPr lang="en-US" sz="2400" dirty="0"/>
          </a:p>
        </p:txBody>
      </p:sp>
      <p:sp>
        <p:nvSpPr>
          <p:cNvPr id="29" name="Text 27"/>
          <p:cNvSpPr txBox="1"/>
          <p:nvPr/>
        </p:nvSpPr>
        <p:spPr>
          <a:xfrm>
            <a:off x="685800" y="3657600"/>
            <a:ext cx="6272784" cy="713232"/>
          </a:xfrm>
          <a:prstGeom prst="rect">
            <a:avLst/>
          </a:prstGeom>
          <a:noFill/>
          <a:ln/>
        </p:spPr>
        <p:txBody>
          <a:bodyPr wrap="square" lIns="0" tIns="0" rIns="0" bIns="0" rtlCol="0" anchor="t">
            <a:normAutofit/>
          </a:bodyPr>
          <a:lstStyle/>
          <a:p>
            <a:pPr algn="l" indent="0" marL="0">
              <a:buNone/>
            </a:pPr>
            <a:r>
              <a:rPr lang="en-US" sz="1700" dirty="0">
                <a:solidFill>
                  <a:srgbClr val="8FA3B8"/>
                </a:solidFill>
                <a:latin typeface="Inter" pitchFamily="34" charset="0"/>
                <a:ea typeface="Inter" pitchFamily="34" charset="-122"/>
                <a:cs typeface="Inter" pitchFamily="34" charset="-120"/>
              </a:rPr>
              <a:t>De un requerimiento en lenguaje natural a artefactos Java/Spring Boot</a:t>
            </a:r>
            <a:endParaRPr lang="en-US" sz="1700" dirty="0"/>
          </a:p>
          <a:p>
            <a:pPr algn="l" indent="0" marL="0">
              <a:buNone/>
            </a:pPr>
            <a:r>
              <a:rPr lang="en-US" sz="1700" dirty="0">
                <a:solidFill>
                  <a:srgbClr val="8FA3B8"/>
                </a:solidFill>
                <a:latin typeface="Inter" pitchFamily="34" charset="0"/>
                <a:ea typeface="Inter" pitchFamily="34" charset="-122"/>
                <a:cs typeface="Inter" pitchFamily="34" charset="-120"/>
              </a:rPr>
              <a:t>validados, trazables y preparados para revisión humana.</a:t>
            </a:r>
            <a:endParaRPr lang="en-US" sz="1700" dirty="0"/>
          </a:p>
        </p:txBody>
      </p:sp>
      <p:sp>
        <p:nvSpPr>
          <p:cNvPr id="30" name="Shape 28"/>
          <p:cNvSpPr/>
          <p:nvPr/>
        </p:nvSpPr>
        <p:spPr>
          <a:xfrm>
            <a:off x="685800" y="4709160"/>
            <a:ext cx="6080760" cy="0"/>
          </a:xfrm>
          <a:prstGeom prst="line">
            <a:avLst/>
          </a:prstGeom>
          <a:noFill/>
          <a:ln w="12700">
            <a:solidFill>
              <a:srgbClr val="274258"/>
            </a:solidFill>
            <a:prstDash val="solid"/>
          </a:ln>
        </p:spPr>
      </p:sp>
      <p:sp>
        <p:nvSpPr>
          <p:cNvPr id="31" name="Text 29"/>
          <p:cNvSpPr txBox="1"/>
          <p:nvPr/>
        </p:nvSpPr>
        <p:spPr>
          <a:xfrm>
            <a:off x="685800" y="4864608"/>
            <a:ext cx="1298448" cy="228600"/>
          </a:xfrm>
          <a:prstGeom prst="rect">
            <a:avLst/>
          </a:prstGeom>
          <a:noFill/>
          <a:ln/>
        </p:spPr>
        <p:txBody>
          <a:bodyPr wrap="square" lIns="0" tIns="0" rIns="0" bIns="0" rtlCol="0" anchor="ctr">
            <a:normAutofit/>
          </a:bodyPr>
          <a:lstStyle/>
          <a:p>
            <a:pPr algn="l" indent="0" marL="0">
              <a:buNone/>
            </a:pPr>
            <a:r>
              <a:rPr lang="en-US" sz="1050" b="1" dirty="0">
                <a:solidFill>
                  <a:srgbClr val="6F879B"/>
                </a:solidFill>
                <a:latin typeface="Inter" pitchFamily="34" charset="0"/>
                <a:ea typeface="Inter" pitchFamily="34" charset="-122"/>
                <a:cs typeface="Inter" pitchFamily="34" charset="-120"/>
              </a:rPr>
              <a:t>Versión declarada</a:t>
            </a:r>
            <a:endParaRPr lang="en-US" sz="1050" dirty="0"/>
          </a:p>
        </p:txBody>
      </p:sp>
      <p:sp>
        <p:nvSpPr>
          <p:cNvPr id="32" name="Text 30"/>
          <p:cNvSpPr txBox="1"/>
          <p:nvPr/>
        </p:nvSpPr>
        <p:spPr>
          <a:xfrm>
            <a:off x="685800" y="5111496"/>
            <a:ext cx="1280160" cy="347472"/>
          </a:xfrm>
          <a:prstGeom prst="rect">
            <a:avLst/>
          </a:prstGeom>
          <a:noFill/>
          <a:ln/>
        </p:spPr>
        <p:txBody>
          <a:bodyPr wrap="square" lIns="0" tIns="0" rIns="0" bIns="0" rtlCol="0" anchor="ctr">
            <a:normAutofit/>
          </a:bodyPr>
          <a:lstStyle/>
          <a:p>
            <a:pPr algn="l" indent="0" marL="0">
              <a:buNone/>
            </a:pPr>
            <a:r>
              <a:rPr lang="en-US" sz="1800" b="1" dirty="0">
                <a:solidFill>
                  <a:srgbClr val="2EA8FF"/>
                </a:solidFill>
                <a:latin typeface="Inter" pitchFamily="34" charset="0"/>
                <a:ea typeface="Inter" pitchFamily="34" charset="-122"/>
                <a:cs typeface="Inter" pitchFamily="34" charset="-120"/>
              </a:rPr>
              <a:t>0.1.0</a:t>
            </a:r>
            <a:endParaRPr lang="en-US" sz="1800" dirty="0"/>
          </a:p>
        </p:txBody>
      </p:sp>
      <p:sp>
        <p:nvSpPr>
          <p:cNvPr id="33" name="Text 31"/>
          <p:cNvSpPr txBox="1"/>
          <p:nvPr/>
        </p:nvSpPr>
        <p:spPr>
          <a:xfrm>
            <a:off x="2240280" y="4864608"/>
            <a:ext cx="914400" cy="228600"/>
          </a:xfrm>
          <a:prstGeom prst="rect">
            <a:avLst/>
          </a:prstGeom>
          <a:noFill/>
          <a:ln/>
        </p:spPr>
        <p:txBody>
          <a:bodyPr wrap="square" lIns="0" tIns="0" rIns="0" bIns="0" rtlCol="0" anchor="ctr">
            <a:normAutofit/>
          </a:bodyPr>
          <a:lstStyle/>
          <a:p>
            <a:pPr algn="l" indent="0" marL="0">
              <a:buNone/>
            </a:pPr>
            <a:r>
              <a:rPr lang="en-US" sz="1050" b="1" dirty="0">
                <a:solidFill>
                  <a:srgbClr val="6F879B"/>
                </a:solidFill>
                <a:latin typeface="Inter" pitchFamily="34" charset="0"/>
                <a:ea typeface="Inter" pitchFamily="34" charset="-122"/>
                <a:cs typeface="Inter" pitchFamily="34" charset="-120"/>
              </a:rPr>
              <a:t>Host</a:t>
            </a:r>
            <a:endParaRPr lang="en-US" sz="1050" dirty="0"/>
          </a:p>
        </p:txBody>
      </p:sp>
      <p:sp>
        <p:nvSpPr>
          <p:cNvPr id="34" name="Text 32"/>
          <p:cNvSpPr txBox="1"/>
          <p:nvPr/>
        </p:nvSpPr>
        <p:spPr>
          <a:xfrm>
            <a:off x="2240280" y="5111496"/>
            <a:ext cx="1600200" cy="347472"/>
          </a:xfrm>
          <a:prstGeom prst="rect">
            <a:avLst/>
          </a:prstGeom>
          <a:noFill/>
          <a:ln/>
        </p:spPr>
        <p:txBody>
          <a:bodyPr wrap="square" lIns="0" tIns="0" rIns="0" bIns="0" rtlCol="0" anchor="ctr">
            <a:normAutofit/>
          </a:bodyPr>
          <a:lstStyle/>
          <a:p>
            <a:pPr algn="l" indent="0" marL="0">
              <a:buNone/>
            </a:pPr>
            <a:r>
              <a:rPr lang="en-US" sz="1800" b="1" dirty="0">
                <a:solidFill>
                  <a:srgbClr val="F7FAFC"/>
                </a:solidFill>
                <a:latin typeface="Inter" pitchFamily="34" charset="0"/>
                <a:ea typeface="Inter" pitchFamily="34" charset="-122"/>
                <a:cs typeface="Inter" pitchFamily="34" charset="-120"/>
              </a:rPr>
              <a:t>Python 3.11+</a:t>
            </a:r>
            <a:endParaRPr lang="en-US" sz="1800" dirty="0"/>
          </a:p>
        </p:txBody>
      </p:sp>
      <p:sp>
        <p:nvSpPr>
          <p:cNvPr id="35" name="Text 33"/>
          <p:cNvSpPr txBox="1"/>
          <p:nvPr/>
        </p:nvSpPr>
        <p:spPr>
          <a:xfrm>
            <a:off x="4160520" y="4864608"/>
            <a:ext cx="914400" cy="228600"/>
          </a:xfrm>
          <a:prstGeom prst="rect">
            <a:avLst/>
          </a:prstGeom>
          <a:noFill/>
          <a:ln/>
        </p:spPr>
        <p:txBody>
          <a:bodyPr wrap="square" lIns="0" tIns="0" rIns="0" bIns="0" rtlCol="0" anchor="ctr">
            <a:normAutofit/>
          </a:bodyPr>
          <a:lstStyle/>
          <a:p>
            <a:pPr algn="l" indent="0" marL="0">
              <a:buNone/>
            </a:pPr>
            <a:r>
              <a:rPr lang="en-US" sz="1050" b="1" dirty="0">
                <a:solidFill>
                  <a:srgbClr val="6F879B"/>
                </a:solidFill>
                <a:latin typeface="Inter" pitchFamily="34" charset="0"/>
                <a:ea typeface="Inter" pitchFamily="34" charset="-122"/>
                <a:cs typeface="Inter" pitchFamily="34" charset="-120"/>
              </a:rPr>
              <a:t>Target</a:t>
            </a:r>
            <a:endParaRPr lang="en-US" sz="1050" dirty="0"/>
          </a:p>
        </p:txBody>
      </p:sp>
      <p:sp>
        <p:nvSpPr>
          <p:cNvPr id="36" name="Text 34"/>
          <p:cNvSpPr txBox="1"/>
          <p:nvPr/>
        </p:nvSpPr>
        <p:spPr>
          <a:xfrm>
            <a:off x="4160520" y="5111496"/>
            <a:ext cx="2743200" cy="347472"/>
          </a:xfrm>
          <a:prstGeom prst="rect">
            <a:avLst/>
          </a:prstGeom>
          <a:noFill/>
          <a:ln/>
        </p:spPr>
        <p:txBody>
          <a:bodyPr wrap="square" lIns="0" tIns="0" rIns="0" bIns="0" rtlCol="0" anchor="ctr">
            <a:normAutofit/>
          </a:bodyPr>
          <a:lstStyle/>
          <a:p>
            <a:pPr algn="l" indent="0" marL="0">
              <a:buNone/>
            </a:pPr>
            <a:r>
              <a:rPr lang="en-US" sz="1600" b="1" dirty="0">
                <a:solidFill>
                  <a:srgbClr val="F7FAFC"/>
                </a:solidFill>
                <a:latin typeface="Inter" pitchFamily="34" charset="0"/>
                <a:ea typeface="Inter" pitchFamily="34" charset="-122"/>
                <a:cs typeface="Inter" pitchFamily="34" charset="-120"/>
              </a:rPr>
              <a:t>Java 21 · Spring Boot · Maven</a:t>
            </a:r>
            <a:endParaRPr lang="en-US" sz="1600" dirty="0"/>
          </a:p>
        </p:txBody>
      </p:sp>
      <p:sp>
        <p:nvSpPr>
          <p:cNvPr id="37" name="Text 35"/>
          <p:cNvSpPr txBox="1"/>
          <p:nvPr/>
        </p:nvSpPr>
        <p:spPr>
          <a:xfrm>
            <a:off x="7818120" y="5266944"/>
            <a:ext cx="3383280" cy="310896"/>
          </a:xfrm>
          <a:prstGeom prst="rect">
            <a:avLst/>
          </a:prstGeom>
          <a:noFill/>
          <a:ln/>
        </p:spPr>
        <p:txBody>
          <a:bodyPr wrap="square" lIns="0" tIns="0" rIns="0" bIns="0" rtlCol="0" anchor="ctr">
            <a:normAutofit/>
          </a:bodyPr>
          <a:lstStyle/>
          <a:p>
            <a:pPr algn="r" indent="0" marL="0">
              <a:buNone/>
            </a:pPr>
            <a:r>
              <a:rPr lang="en-US" sz="1050" dirty="0">
                <a:solidFill>
                  <a:srgbClr val="6F879B"/>
                </a:solidFill>
                <a:latin typeface="Inter" pitchFamily="34" charset="0"/>
                <a:ea typeface="Inter" pitchFamily="34" charset="-122"/>
                <a:cs typeface="Inter" pitchFamily="34" charset="-120"/>
              </a:rPr>
              <a:t>Revisión del repositorio público · 23 sep 2026</a:t>
            </a:r>
            <a:endParaRPr lang="en-US" sz="1050" dirty="0"/>
          </a:p>
        </p:txBody>
      </p:sp>
      <p:sp>
        <p:nvSpPr>
          <p:cNvPr id="38" name="Text 36"/>
          <p:cNvSpPr txBox="1"/>
          <p:nvPr/>
        </p:nvSpPr>
        <p:spPr>
          <a:xfrm>
            <a:off x="7818120" y="5623560"/>
            <a:ext cx="3383280" cy="274320"/>
          </a:xfrm>
          <a:prstGeom prst="rect">
            <a:avLst/>
          </a:prstGeom>
          <a:noFill/>
          <a:ln/>
        </p:spPr>
        <p:txBody>
          <a:bodyPr wrap="square" lIns="0" tIns="0" rIns="0" bIns="0" rtlCol="0" anchor="ctr">
            <a:normAutofit/>
          </a:bodyPr>
          <a:lstStyle/>
          <a:p>
            <a:pPr algn="r" indent="0" marL="0">
              <a:buNone/>
            </a:pPr>
            <a:r>
              <a:rPr lang="en-US" sz="1100" dirty="0">
                <a:solidFill>
                  <a:srgbClr val="8FA3B8"/>
                </a:solidFill>
                <a:latin typeface="Inter" pitchFamily="34" charset="0"/>
                <a:ea typeface="Inter" pitchFamily="34" charset="-122"/>
                <a:cs typeface="Inter" pitchFamily="34" charset="-120"/>
              </a:rPr>
              <a:t>github.com/7zradar/ai-java-engineer</a:t>
            </a:r>
            <a:endParaRPr lang="en-US" sz="1100" dirty="0"/>
          </a:p>
        </p:txBody>
      </p:sp>
      <p:sp>
        <p:nvSpPr>
          <p:cNvPr id="25" name="Slide Number Placeholder 0"/>
          <p:cNvSpPr>
            <a:spLocks noGrp="1"/>
          </p:cNvSpPr>
          <p:nvPr>
            <p:ph type="sldNum" sz="quarter" idx="4294967295"/>
          </p:nvPr>
        </p:nvSpPr>
        <p:spPr>
          <a:xfrm>
            <a:off x="11192256" y="6556248"/>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F879B"/>
                </a:solidFill>
                <a:latin typeface="Inter"/>
                <a:ea typeface="Inter"/>
                <a:cs typeface="Inter"/>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21792" y="384048"/>
            <a:ext cx="2926080" cy="256032"/>
          </a:xfrm>
          <a:prstGeom prst="rect">
            <a:avLst/>
          </a:prstGeom>
          <a:noFill/>
          <a:ln/>
        </p:spPr>
        <p:txBody>
          <a:bodyPr wrap="square" lIns="0" tIns="0" rIns="0" bIns="0" rtlCol="0" anchor="ctr">
            <a:normAutofit/>
          </a:bodyPr>
          <a:lstStyle/>
          <a:p>
            <a:pPr algn="l" indent="0" marL="0">
              <a:buNone/>
            </a:pPr>
            <a:r>
              <a:rPr lang="en-US" sz="1050" b="1" spc="160" kern="0" dirty="0">
                <a:solidFill>
                  <a:srgbClr val="2EA8FF"/>
                </a:solidFill>
                <a:latin typeface="Inter" pitchFamily="34" charset="0"/>
                <a:ea typeface="Inter" pitchFamily="34" charset="-122"/>
                <a:cs typeface="Inter" pitchFamily="34" charset="-120"/>
              </a:rPr>
              <a:t>01 · PROBLEMA Y PROPUESTA</a:t>
            </a:r>
            <a:endParaRPr lang="en-US" sz="1050" dirty="0"/>
          </a:p>
        </p:txBody>
      </p:sp>
      <p:sp>
        <p:nvSpPr>
          <p:cNvPr id="3" name="Text 1"/>
          <p:cNvSpPr txBox="1"/>
          <p:nvPr/>
        </p:nvSpPr>
        <p:spPr>
          <a:xfrm>
            <a:off x="621792" y="713232"/>
            <a:ext cx="10927080" cy="530352"/>
          </a:xfrm>
          <a:prstGeom prst="rect">
            <a:avLst/>
          </a:prstGeom>
          <a:noFill/>
          <a:ln/>
        </p:spPr>
        <p:txBody>
          <a:bodyPr wrap="square" lIns="0" tIns="0" rIns="0" bIns="0" rtlCol="0" anchor="ctr">
            <a:normAutofit/>
          </a:bodyPr>
          <a:lstStyle/>
          <a:p>
            <a:pPr algn="l" indent="0" marL="0">
              <a:buNone/>
            </a:pPr>
            <a:r>
              <a:rPr lang="en-US" sz="3200" b="1" dirty="0">
                <a:solidFill>
                  <a:srgbClr val="F7FAFC"/>
                </a:solidFill>
                <a:latin typeface="Inter" pitchFamily="34" charset="0"/>
                <a:ea typeface="Inter" pitchFamily="34" charset="-122"/>
                <a:cs typeface="Inter" pitchFamily="34" charset="-120"/>
              </a:rPr>
              <a:t>Reducir handoffs sin perder control</a:t>
            </a:r>
            <a:endParaRPr lang="en-US" sz="3200" dirty="0"/>
          </a:p>
        </p:txBody>
      </p:sp>
      <p:sp>
        <p:nvSpPr>
          <p:cNvPr id="4" name="Text 2"/>
          <p:cNvSpPr txBox="1"/>
          <p:nvPr/>
        </p:nvSpPr>
        <p:spPr>
          <a:xfrm>
            <a:off x="621792" y="1261872"/>
            <a:ext cx="10744200" cy="384048"/>
          </a:xfrm>
          <a:prstGeom prst="rect">
            <a:avLst/>
          </a:prstGeom>
          <a:noFill/>
          <a:ln/>
        </p:spPr>
        <p:txBody>
          <a:bodyPr wrap="square" lIns="0" tIns="0" rIns="0" bIns="0" rtlCol="0" anchor="ctr">
            <a:normAutofit/>
          </a:bodyPr>
          <a:lstStyle/>
          <a:p>
            <a:pPr algn="l" indent="0" marL="0">
              <a:buNone/>
            </a:pPr>
            <a:r>
              <a:rPr lang="en-US" sz="1550" dirty="0">
                <a:solidFill>
                  <a:srgbClr val="8FA3B8"/>
                </a:solidFill>
                <a:latin typeface="Inter" pitchFamily="34" charset="0"/>
                <a:ea typeface="Inter" pitchFamily="34" charset="-122"/>
                <a:cs typeface="Inter" pitchFamily="34" charset="-120"/>
              </a:rPr>
              <a:t>La automatización propuesta cubre el tramo repetitivo entre entender una feature y dejarla lista para revisión.</a:t>
            </a:r>
            <a:endParaRPr lang="en-US" sz="1550" dirty="0"/>
          </a:p>
        </p:txBody>
      </p:sp>
      <p:sp>
        <p:nvSpPr>
          <p:cNvPr id="5" name="Text 3"/>
          <p:cNvSpPr txBox="1"/>
          <p:nvPr/>
        </p:nvSpPr>
        <p:spPr>
          <a:xfrm>
            <a:off x="713232" y="1828800"/>
            <a:ext cx="914400" cy="237744"/>
          </a:xfrm>
          <a:prstGeom prst="rect">
            <a:avLst/>
          </a:prstGeom>
          <a:noFill/>
          <a:ln/>
        </p:spPr>
        <p:txBody>
          <a:bodyPr wrap="square" lIns="0" tIns="0" rIns="0" bIns="0" rtlCol="0" anchor="ctr">
            <a:normAutofit/>
          </a:bodyPr>
          <a:lstStyle/>
          <a:p>
            <a:pPr algn="l" indent="0" marL="0">
              <a:buNone/>
            </a:pPr>
            <a:r>
              <a:rPr lang="en-US" sz="1100" b="1" spc="130" kern="0" dirty="0">
                <a:solidFill>
                  <a:srgbClr val="FF5B6E"/>
                </a:solidFill>
                <a:latin typeface="Inter" pitchFamily="34" charset="0"/>
                <a:ea typeface="Inter" pitchFamily="34" charset="-122"/>
                <a:cs typeface="Inter" pitchFamily="34" charset="-120"/>
              </a:rPr>
              <a:t>HOY</a:t>
            </a:r>
            <a:endParaRPr lang="en-US" sz="1100" dirty="0"/>
          </a:p>
        </p:txBody>
      </p:sp>
      <p:sp>
        <p:nvSpPr>
          <p:cNvPr id="6" name="Text 4"/>
          <p:cNvSpPr txBox="1"/>
          <p:nvPr/>
        </p:nvSpPr>
        <p:spPr>
          <a:xfrm>
            <a:off x="713232" y="2103120"/>
            <a:ext cx="4709160" cy="530352"/>
          </a:xfrm>
          <a:prstGeom prst="rect">
            <a:avLst/>
          </a:prstGeom>
          <a:noFill/>
          <a:ln/>
        </p:spPr>
        <p:txBody>
          <a:bodyPr wrap="square" lIns="0" tIns="0" rIns="0" bIns="0" rtlCol="0" anchor="ctr">
            <a:normAutofit/>
          </a:bodyPr>
          <a:lstStyle/>
          <a:p>
            <a:pPr algn="l" indent="0" marL="0">
              <a:buNone/>
            </a:pPr>
            <a:r>
              <a:rPr lang="en-US" sz="2200" b="1" dirty="0">
                <a:solidFill>
                  <a:srgbClr val="F7FAFC"/>
                </a:solidFill>
                <a:latin typeface="Inter" pitchFamily="34" charset="0"/>
                <a:ea typeface="Inter" pitchFamily="34" charset="-122"/>
                <a:cs typeface="Inter" pitchFamily="34" charset="-120"/>
              </a:rPr>
              <a:t>Una feature Java atraviesa múltiples handoffs</a:t>
            </a:r>
            <a:endParaRPr lang="en-US" sz="2200" dirty="0"/>
          </a:p>
        </p:txBody>
      </p:sp>
      <p:sp>
        <p:nvSpPr>
          <p:cNvPr id="7" name="Shape 5"/>
          <p:cNvSpPr/>
          <p:nvPr/>
        </p:nvSpPr>
        <p:spPr>
          <a:xfrm>
            <a:off x="731520" y="2788920"/>
            <a:ext cx="420624" cy="329184"/>
          </a:xfrm>
          <a:prstGeom prst="roundRect">
            <a:avLst>
              <a:gd name="adj" fmla="val 44444"/>
            </a:avLst>
          </a:prstGeom>
          <a:solidFill>
            <a:srgbClr val="102A40"/>
          </a:solidFill>
          <a:ln w="12700">
            <a:solidFill>
              <a:srgbClr val="102A40"/>
            </a:solidFill>
            <a:prstDash val="solid"/>
          </a:ln>
        </p:spPr>
      </p:sp>
      <p:sp>
        <p:nvSpPr>
          <p:cNvPr id="8" name="Text 6"/>
          <p:cNvSpPr txBox="1"/>
          <p:nvPr/>
        </p:nvSpPr>
        <p:spPr>
          <a:xfrm>
            <a:off x="804672" y="2807208"/>
            <a:ext cx="274320" cy="283464"/>
          </a:xfrm>
          <a:prstGeom prst="rect">
            <a:avLst/>
          </a:prstGeom>
          <a:noFill/>
          <a:ln/>
        </p:spPr>
        <p:txBody>
          <a:bodyPr wrap="square" lIns="0" tIns="0" rIns="0" bIns="0" rtlCol="0" anchor="ctr">
            <a:normAutofit/>
          </a:bodyPr>
          <a:lstStyle/>
          <a:p>
            <a:pPr algn="ctr" indent="0" marL="0">
              <a:buNone/>
            </a:pPr>
            <a:r>
              <a:rPr lang="en-US" sz="950" b="1" dirty="0">
                <a:solidFill>
                  <a:srgbClr val="8FA3B8"/>
                </a:solidFill>
                <a:latin typeface="Inter" pitchFamily="34" charset="0"/>
                <a:ea typeface="Inter" pitchFamily="34" charset="-122"/>
                <a:cs typeface="Inter" pitchFamily="34" charset="-120"/>
              </a:rPr>
              <a:t>01</a:t>
            </a:r>
            <a:endParaRPr lang="en-US" sz="950" dirty="0"/>
          </a:p>
        </p:txBody>
      </p:sp>
      <p:sp>
        <p:nvSpPr>
          <p:cNvPr id="9" name="Text 7"/>
          <p:cNvSpPr txBox="1"/>
          <p:nvPr/>
        </p:nvSpPr>
        <p:spPr>
          <a:xfrm>
            <a:off x="1280160" y="2779776"/>
            <a:ext cx="1600200" cy="274320"/>
          </a:xfrm>
          <a:prstGeom prst="rect">
            <a:avLst/>
          </a:prstGeom>
          <a:noFill/>
          <a:ln/>
        </p:spPr>
        <p:txBody>
          <a:bodyPr wrap="square" lIns="0" tIns="0" rIns="0" bIns="0" rtlCol="0" anchor="ctr">
            <a:normAutofit/>
          </a:bodyPr>
          <a:lstStyle/>
          <a:p>
            <a:pPr algn="l" indent="0" marL="0">
              <a:buNone/>
            </a:pPr>
            <a:r>
              <a:rPr lang="en-US" sz="1550" b="1" dirty="0">
                <a:solidFill>
                  <a:srgbClr val="DCE6F2"/>
                </a:solidFill>
                <a:latin typeface="Inter" pitchFamily="34" charset="0"/>
                <a:ea typeface="Inter" pitchFamily="34" charset="-122"/>
                <a:cs typeface="Inter" pitchFamily="34" charset="-120"/>
              </a:rPr>
              <a:t>Interpretar</a:t>
            </a:r>
            <a:endParaRPr lang="en-US" sz="1550" dirty="0"/>
          </a:p>
        </p:txBody>
      </p:sp>
      <p:sp>
        <p:nvSpPr>
          <p:cNvPr id="10" name="Text 8"/>
          <p:cNvSpPr txBox="1"/>
          <p:nvPr/>
        </p:nvSpPr>
        <p:spPr>
          <a:xfrm>
            <a:off x="2880360" y="2770632"/>
            <a:ext cx="2651760" cy="384048"/>
          </a:xfrm>
          <a:prstGeom prst="rect">
            <a:avLst/>
          </a:prstGeom>
          <a:noFill/>
          <a:ln/>
        </p:spPr>
        <p:txBody>
          <a:bodyPr wrap="square" lIns="0" tIns="0" rIns="0" bIns="0" rtlCol="0" anchor="ctr">
            <a:normAutofit/>
          </a:bodyPr>
          <a:lstStyle/>
          <a:p>
            <a:pPr algn="l" indent="0" marL="0">
              <a:buNone/>
            </a:pPr>
            <a:r>
              <a:rPr lang="en-US" sz="1250" dirty="0">
                <a:solidFill>
                  <a:srgbClr val="8FA3B8"/>
                </a:solidFill>
                <a:latin typeface="Inter" pitchFamily="34" charset="0"/>
                <a:ea typeface="Inter" pitchFamily="34" charset="-122"/>
                <a:cs typeface="Inter" pitchFamily="34" charset="-120"/>
              </a:rPr>
              <a:t>Convertir necesidad de negocio en criterios técnicos.</a:t>
            </a:r>
            <a:endParaRPr lang="en-US" sz="1250" dirty="0"/>
          </a:p>
        </p:txBody>
      </p:sp>
      <p:sp>
        <p:nvSpPr>
          <p:cNvPr id="11" name="Shape 9"/>
          <p:cNvSpPr/>
          <p:nvPr/>
        </p:nvSpPr>
        <p:spPr>
          <a:xfrm>
            <a:off x="731520" y="3456432"/>
            <a:ext cx="420624" cy="329184"/>
          </a:xfrm>
          <a:prstGeom prst="roundRect">
            <a:avLst>
              <a:gd name="adj" fmla="val 44444"/>
            </a:avLst>
          </a:prstGeom>
          <a:solidFill>
            <a:srgbClr val="102A40"/>
          </a:solidFill>
          <a:ln w="12700">
            <a:solidFill>
              <a:srgbClr val="102A40"/>
            </a:solidFill>
            <a:prstDash val="solid"/>
          </a:ln>
        </p:spPr>
      </p:sp>
      <p:sp>
        <p:nvSpPr>
          <p:cNvPr id="12" name="Text 10"/>
          <p:cNvSpPr txBox="1"/>
          <p:nvPr/>
        </p:nvSpPr>
        <p:spPr>
          <a:xfrm>
            <a:off x="804672" y="3474720"/>
            <a:ext cx="274320" cy="283464"/>
          </a:xfrm>
          <a:prstGeom prst="rect">
            <a:avLst/>
          </a:prstGeom>
          <a:noFill/>
          <a:ln/>
        </p:spPr>
        <p:txBody>
          <a:bodyPr wrap="square" lIns="0" tIns="0" rIns="0" bIns="0" rtlCol="0" anchor="ctr">
            <a:normAutofit/>
          </a:bodyPr>
          <a:lstStyle/>
          <a:p>
            <a:pPr algn="ctr" indent="0" marL="0">
              <a:buNone/>
            </a:pPr>
            <a:r>
              <a:rPr lang="en-US" sz="950" b="1" dirty="0">
                <a:solidFill>
                  <a:srgbClr val="8FA3B8"/>
                </a:solidFill>
                <a:latin typeface="Inter" pitchFamily="34" charset="0"/>
                <a:ea typeface="Inter" pitchFamily="34" charset="-122"/>
                <a:cs typeface="Inter" pitchFamily="34" charset="-120"/>
              </a:rPr>
              <a:t>02</a:t>
            </a:r>
            <a:endParaRPr lang="en-US" sz="950" dirty="0"/>
          </a:p>
        </p:txBody>
      </p:sp>
      <p:sp>
        <p:nvSpPr>
          <p:cNvPr id="13" name="Text 11"/>
          <p:cNvSpPr txBox="1"/>
          <p:nvPr/>
        </p:nvSpPr>
        <p:spPr>
          <a:xfrm>
            <a:off x="1280160" y="3447288"/>
            <a:ext cx="1600200" cy="274320"/>
          </a:xfrm>
          <a:prstGeom prst="rect">
            <a:avLst/>
          </a:prstGeom>
          <a:noFill/>
          <a:ln/>
        </p:spPr>
        <p:txBody>
          <a:bodyPr wrap="square" lIns="0" tIns="0" rIns="0" bIns="0" rtlCol="0" anchor="ctr">
            <a:normAutofit/>
          </a:bodyPr>
          <a:lstStyle/>
          <a:p>
            <a:pPr algn="l" indent="0" marL="0">
              <a:buNone/>
            </a:pPr>
            <a:r>
              <a:rPr lang="en-US" sz="1550" b="1" dirty="0">
                <a:solidFill>
                  <a:srgbClr val="DCE6F2"/>
                </a:solidFill>
                <a:latin typeface="Inter" pitchFamily="34" charset="0"/>
                <a:ea typeface="Inter" pitchFamily="34" charset="-122"/>
                <a:cs typeface="Inter" pitchFamily="34" charset="-120"/>
              </a:rPr>
              <a:t>Diseñar</a:t>
            </a:r>
            <a:endParaRPr lang="en-US" sz="1550" dirty="0"/>
          </a:p>
        </p:txBody>
      </p:sp>
      <p:sp>
        <p:nvSpPr>
          <p:cNvPr id="14" name="Text 12"/>
          <p:cNvSpPr txBox="1"/>
          <p:nvPr/>
        </p:nvSpPr>
        <p:spPr>
          <a:xfrm>
            <a:off x="2880360" y="3438144"/>
            <a:ext cx="2651760" cy="384048"/>
          </a:xfrm>
          <a:prstGeom prst="rect">
            <a:avLst/>
          </a:prstGeom>
          <a:noFill/>
          <a:ln/>
        </p:spPr>
        <p:txBody>
          <a:bodyPr wrap="square" lIns="0" tIns="0" rIns="0" bIns="0" rtlCol="0" anchor="ctr">
            <a:normAutofit/>
          </a:bodyPr>
          <a:lstStyle/>
          <a:p>
            <a:pPr algn="l" indent="0" marL="0">
              <a:buNone/>
            </a:pPr>
            <a:r>
              <a:rPr lang="en-US" sz="1250" dirty="0">
                <a:solidFill>
                  <a:srgbClr val="8FA3B8"/>
                </a:solidFill>
                <a:latin typeface="Inter" pitchFamily="34" charset="0"/>
                <a:ea typeface="Inter" pitchFamily="34" charset="-122"/>
                <a:cs typeface="Inter" pitchFamily="34" charset="-120"/>
              </a:rPr>
              <a:t>Alinear la solución con el repositorio existente.</a:t>
            </a:r>
            <a:endParaRPr lang="en-US" sz="1250" dirty="0"/>
          </a:p>
        </p:txBody>
      </p:sp>
      <p:sp>
        <p:nvSpPr>
          <p:cNvPr id="15" name="Shape 13"/>
          <p:cNvSpPr/>
          <p:nvPr/>
        </p:nvSpPr>
        <p:spPr>
          <a:xfrm>
            <a:off x="731520" y="4123944"/>
            <a:ext cx="420624" cy="329184"/>
          </a:xfrm>
          <a:prstGeom prst="roundRect">
            <a:avLst>
              <a:gd name="adj" fmla="val 44444"/>
            </a:avLst>
          </a:prstGeom>
          <a:solidFill>
            <a:srgbClr val="102A40"/>
          </a:solidFill>
          <a:ln w="12700">
            <a:solidFill>
              <a:srgbClr val="102A40"/>
            </a:solidFill>
            <a:prstDash val="solid"/>
          </a:ln>
        </p:spPr>
      </p:sp>
      <p:sp>
        <p:nvSpPr>
          <p:cNvPr id="16" name="Text 14"/>
          <p:cNvSpPr txBox="1"/>
          <p:nvPr/>
        </p:nvSpPr>
        <p:spPr>
          <a:xfrm>
            <a:off x="804672" y="4142232"/>
            <a:ext cx="274320" cy="283464"/>
          </a:xfrm>
          <a:prstGeom prst="rect">
            <a:avLst/>
          </a:prstGeom>
          <a:noFill/>
          <a:ln/>
        </p:spPr>
        <p:txBody>
          <a:bodyPr wrap="square" lIns="0" tIns="0" rIns="0" bIns="0" rtlCol="0" anchor="ctr">
            <a:normAutofit/>
          </a:bodyPr>
          <a:lstStyle/>
          <a:p>
            <a:pPr algn="ctr" indent="0" marL="0">
              <a:buNone/>
            </a:pPr>
            <a:r>
              <a:rPr lang="en-US" sz="950" b="1" dirty="0">
                <a:solidFill>
                  <a:srgbClr val="8FA3B8"/>
                </a:solidFill>
                <a:latin typeface="Inter" pitchFamily="34" charset="0"/>
                <a:ea typeface="Inter" pitchFamily="34" charset="-122"/>
                <a:cs typeface="Inter" pitchFamily="34" charset="-120"/>
              </a:rPr>
              <a:t>03</a:t>
            </a:r>
            <a:endParaRPr lang="en-US" sz="950" dirty="0"/>
          </a:p>
        </p:txBody>
      </p:sp>
      <p:sp>
        <p:nvSpPr>
          <p:cNvPr id="17" name="Text 15"/>
          <p:cNvSpPr txBox="1"/>
          <p:nvPr/>
        </p:nvSpPr>
        <p:spPr>
          <a:xfrm>
            <a:off x="1280160" y="4114800"/>
            <a:ext cx="1600200" cy="274320"/>
          </a:xfrm>
          <a:prstGeom prst="rect">
            <a:avLst/>
          </a:prstGeom>
          <a:noFill/>
          <a:ln/>
        </p:spPr>
        <p:txBody>
          <a:bodyPr wrap="square" lIns="0" tIns="0" rIns="0" bIns="0" rtlCol="0" anchor="ctr">
            <a:normAutofit/>
          </a:bodyPr>
          <a:lstStyle/>
          <a:p>
            <a:pPr algn="l" indent="0" marL="0">
              <a:buNone/>
            </a:pPr>
            <a:r>
              <a:rPr lang="en-US" sz="1550" b="1" dirty="0">
                <a:solidFill>
                  <a:srgbClr val="DCE6F2"/>
                </a:solidFill>
                <a:latin typeface="Inter" pitchFamily="34" charset="0"/>
                <a:ea typeface="Inter" pitchFamily="34" charset="-122"/>
                <a:cs typeface="Inter" pitchFamily="34" charset="-120"/>
              </a:rPr>
              <a:t>Implementar + probar</a:t>
            </a:r>
            <a:endParaRPr lang="en-US" sz="1550" dirty="0"/>
          </a:p>
        </p:txBody>
      </p:sp>
      <p:sp>
        <p:nvSpPr>
          <p:cNvPr id="18" name="Text 16"/>
          <p:cNvSpPr txBox="1"/>
          <p:nvPr/>
        </p:nvSpPr>
        <p:spPr>
          <a:xfrm>
            <a:off x="2880360" y="4105656"/>
            <a:ext cx="2651760" cy="384048"/>
          </a:xfrm>
          <a:prstGeom prst="rect">
            <a:avLst/>
          </a:prstGeom>
          <a:noFill/>
          <a:ln/>
        </p:spPr>
        <p:txBody>
          <a:bodyPr wrap="square" lIns="0" tIns="0" rIns="0" bIns="0" rtlCol="0" anchor="ctr">
            <a:normAutofit/>
          </a:bodyPr>
          <a:lstStyle/>
          <a:p>
            <a:pPr algn="l" indent="0" marL="0">
              <a:buNone/>
            </a:pPr>
            <a:r>
              <a:rPr lang="en-US" sz="1250" dirty="0">
                <a:solidFill>
                  <a:srgbClr val="8FA3B8"/>
                </a:solidFill>
                <a:latin typeface="Inter" pitchFamily="34" charset="0"/>
                <a:ea typeface="Inter" pitchFamily="34" charset="-122"/>
                <a:cs typeface="Inter" pitchFamily="34" charset="-120"/>
              </a:rPr>
              <a:t>Código, tests, compilación y correcciones iterativas.</a:t>
            </a:r>
            <a:endParaRPr lang="en-US" sz="1250" dirty="0"/>
          </a:p>
        </p:txBody>
      </p:sp>
      <p:sp>
        <p:nvSpPr>
          <p:cNvPr id="19" name="Shape 17"/>
          <p:cNvSpPr/>
          <p:nvPr/>
        </p:nvSpPr>
        <p:spPr>
          <a:xfrm>
            <a:off x="731520" y="4791456"/>
            <a:ext cx="420624" cy="329184"/>
          </a:xfrm>
          <a:prstGeom prst="roundRect">
            <a:avLst>
              <a:gd name="adj" fmla="val 44444"/>
            </a:avLst>
          </a:prstGeom>
          <a:solidFill>
            <a:srgbClr val="102A40"/>
          </a:solidFill>
          <a:ln w="12700">
            <a:solidFill>
              <a:srgbClr val="102A40"/>
            </a:solidFill>
            <a:prstDash val="solid"/>
          </a:ln>
        </p:spPr>
      </p:sp>
      <p:sp>
        <p:nvSpPr>
          <p:cNvPr id="20" name="Text 18"/>
          <p:cNvSpPr txBox="1"/>
          <p:nvPr/>
        </p:nvSpPr>
        <p:spPr>
          <a:xfrm>
            <a:off x="804672" y="4809744"/>
            <a:ext cx="274320" cy="283464"/>
          </a:xfrm>
          <a:prstGeom prst="rect">
            <a:avLst/>
          </a:prstGeom>
          <a:noFill/>
          <a:ln/>
        </p:spPr>
        <p:txBody>
          <a:bodyPr wrap="square" lIns="0" tIns="0" rIns="0" bIns="0" rtlCol="0" anchor="ctr">
            <a:normAutofit/>
          </a:bodyPr>
          <a:lstStyle/>
          <a:p>
            <a:pPr algn="ctr" indent="0" marL="0">
              <a:buNone/>
            </a:pPr>
            <a:r>
              <a:rPr lang="en-US" sz="950" b="1" dirty="0">
                <a:solidFill>
                  <a:srgbClr val="8FA3B8"/>
                </a:solidFill>
                <a:latin typeface="Inter" pitchFamily="34" charset="0"/>
                <a:ea typeface="Inter" pitchFamily="34" charset="-122"/>
                <a:cs typeface="Inter" pitchFamily="34" charset="-120"/>
              </a:rPr>
              <a:t>04</a:t>
            </a:r>
            <a:endParaRPr lang="en-US" sz="950" dirty="0"/>
          </a:p>
        </p:txBody>
      </p:sp>
      <p:sp>
        <p:nvSpPr>
          <p:cNvPr id="21" name="Text 19"/>
          <p:cNvSpPr txBox="1"/>
          <p:nvPr/>
        </p:nvSpPr>
        <p:spPr>
          <a:xfrm>
            <a:off x="1280160" y="4782312"/>
            <a:ext cx="1600200" cy="274320"/>
          </a:xfrm>
          <a:prstGeom prst="rect">
            <a:avLst/>
          </a:prstGeom>
          <a:noFill/>
          <a:ln/>
        </p:spPr>
        <p:txBody>
          <a:bodyPr wrap="square" lIns="0" tIns="0" rIns="0" bIns="0" rtlCol="0" anchor="ctr">
            <a:normAutofit/>
          </a:bodyPr>
          <a:lstStyle/>
          <a:p>
            <a:pPr algn="l" indent="0" marL="0">
              <a:buNone/>
            </a:pPr>
            <a:r>
              <a:rPr lang="en-US" sz="1550" b="1" dirty="0">
                <a:solidFill>
                  <a:srgbClr val="DCE6F2"/>
                </a:solidFill>
                <a:latin typeface="Inter" pitchFamily="34" charset="0"/>
                <a:ea typeface="Inter" pitchFamily="34" charset="-122"/>
                <a:cs typeface="Inter" pitchFamily="34" charset="-120"/>
              </a:rPr>
              <a:t>Revisar + entregar</a:t>
            </a:r>
            <a:endParaRPr lang="en-US" sz="1550" dirty="0"/>
          </a:p>
        </p:txBody>
      </p:sp>
      <p:sp>
        <p:nvSpPr>
          <p:cNvPr id="22" name="Text 20"/>
          <p:cNvSpPr txBox="1"/>
          <p:nvPr/>
        </p:nvSpPr>
        <p:spPr>
          <a:xfrm>
            <a:off x="2880360" y="4773168"/>
            <a:ext cx="2651760" cy="384048"/>
          </a:xfrm>
          <a:prstGeom prst="rect">
            <a:avLst/>
          </a:prstGeom>
          <a:noFill/>
          <a:ln/>
        </p:spPr>
        <p:txBody>
          <a:bodyPr wrap="square" lIns="0" tIns="0" rIns="0" bIns="0" rtlCol="0" anchor="ctr">
            <a:normAutofit/>
          </a:bodyPr>
          <a:lstStyle/>
          <a:p>
            <a:pPr algn="l" indent="0" marL="0">
              <a:buNone/>
            </a:pPr>
            <a:r>
              <a:rPr lang="en-US" sz="1250" dirty="0">
                <a:solidFill>
                  <a:srgbClr val="8FA3B8"/>
                </a:solidFill>
                <a:latin typeface="Inter" pitchFamily="34" charset="0"/>
                <a:ea typeface="Inter" pitchFamily="34" charset="-122"/>
                <a:cs typeface="Inter" pitchFamily="34" charset="-120"/>
              </a:rPr>
              <a:t>Diff, seguridad, aprobaciones y preparación del PR.</a:t>
            </a:r>
            <a:endParaRPr lang="en-US" sz="1250" dirty="0"/>
          </a:p>
        </p:txBody>
      </p:sp>
      <p:sp>
        <p:nvSpPr>
          <p:cNvPr id="23" name="Shape 21"/>
          <p:cNvSpPr/>
          <p:nvPr/>
        </p:nvSpPr>
        <p:spPr>
          <a:xfrm>
            <a:off x="5852160" y="1847088"/>
            <a:ext cx="0" cy="4005072"/>
          </a:xfrm>
          <a:prstGeom prst="line">
            <a:avLst/>
          </a:prstGeom>
          <a:noFill/>
          <a:ln w="13970">
            <a:solidFill>
              <a:srgbClr val="274258"/>
            </a:solidFill>
            <a:prstDash val="solid"/>
          </a:ln>
        </p:spPr>
      </p:sp>
      <p:sp>
        <p:nvSpPr>
          <p:cNvPr id="24" name="Shape 22"/>
          <p:cNvSpPr/>
          <p:nvPr/>
        </p:nvSpPr>
        <p:spPr>
          <a:xfrm>
            <a:off x="5605272" y="3319272"/>
            <a:ext cx="512064" cy="438912"/>
          </a:xfrm>
          <a:prstGeom prst="rightArrow">
            <a:avLst/>
          </a:prstGeom>
          <a:solidFill>
            <a:srgbClr val="1B75FF"/>
          </a:solidFill>
          <a:ln w="12700">
            <a:solidFill>
              <a:srgbClr val="1B75FF"/>
            </a:solidFill>
            <a:prstDash val="solid"/>
          </a:ln>
        </p:spPr>
      </p:sp>
      <p:sp>
        <p:nvSpPr>
          <p:cNvPr id="25" name="Text 23"/>
          <p:cNvSpPr txBox="1"/>
          <p:nvPr/>
        </p:nvSpPr>
        <p:spPr>
          <a:xfrm>
            <a:off x="6355080" y="1828800"/>
            <a:ext cx="1234440" cy="237744"/>
          </a:xfrm>
          <a:prstGeom prst="rect">
            <a:avLst/>
          </a:prstGeom>
          <a:noFill/>
          <a:ln/>
        </p:spPr>
        <p:txBody>
          <a:bodyPr wrap="square" lIns="0" tIns="0" rIns="0" bIns="0" rtlCol="0" anchor="ctr">
            <a:normAutofit/>
          </a:bodyPr>
          <a:lstStyle/>
          <a:p>
            <a:pPr algn="l" indent="0" marL="0">
              <a:buNone/>
            </a:pPr>
            <a:r>
              <a:rPr lang="en-US" sz="1100" b="1" spc="130" kern="0" dirty="0">
                <a:solidFill>
                  <a:srgbClr val="38D996"/>
                </a:solidFill>
                <a:latin typeface="Inter" pitchFamily="34" charset="0"/>
                <a:ea typeface="Inter" pitchFamily="34" charset="-122"/>
                <a:cs typeface="Inter" pitchFamily="34" charset="-120"/>
              </a:rPr>
              <a:t>PROPUESTA</a:t>
            </a:r>
            <a:endParaRPr lang="en-US" sz="1100" dirty="0"/>
          </a:p>
        </p:txBody>
      </p:sp>
      <p:sp>
        <p:nvSpPr>
          <p:cNvPr id="26" name="Text 24"/>
          <p:cNvSpPr txBox="1"/>
          <p:nvPr/>
        </p:nvSpPr>
        <p:spPr>
          <a:xfrm>
            <a:off x="6355080" y="2103120"/>
            <a:ext cx="4956048" cy="530352"/>
          </a:xfrm>
          <a:prstGeom prst="rect">
            <a:avLst/>
          </a:prstGeom>
          <a:noFill/>
          <a:ln/>
        </p:spPr>
        <p:txBody>
          <a:bodyPr wrap="square" lIns="0" tIns="0" rIns="0" bIns="0" rtlCol="0" anchor="ctr">
            <a:normAutofit/>
          </a:bodyPr>
          <a:lstStyle/>
          <a:p>
            <a:pPr algn="l" indent="0" marL="0">
              <a:buNone/>
            </a:pPr>
            <a:r>
              <a:rPr lang="en-US" sz="2200" b="1" dirty="0">
                <a:solidFill>
                  <a:srgbClr val="F7FAFC"/>
                </a:solidFill>
                <a:latin typeface="Inter" pitchFamily="34" charset="0"/>
                <a:ea typeface="Inter" pitchFamily="34" charset="-122"/>
                <a:cs typeface="Inter" pitchFamily="34" charset="-120"/>
              </a:rPr>
              <a:t>Agentes especializados dentro de un flujo determinista</a:t>
            </a:r>
            <a:endParaRPr lang="en-US" sz="2200" dirty="0"/>
          </a:p>
        </p:txBody>
      </p:sp>
      <p:sp>
        <p:nvSpPr>
          <p:cNvPr id="27" name="Shape 25"/>
          <p:cNvSpPr/>
          <p:nvPr/>
        </p:nvSpPr>
        <p:spPr>
          <a:xfrm>
            <a:off x="6382512" y="2798064"/>
            <a:ext cx="420624" cy="420624"/>
          </a:xfrm>
          <a:prstGeom prst="ellipse">
            <a:avLst/>
          </a:prstGeom>
          <a:solidFill>
            <a:srgbClr val="1B75FF"/>
          </a:solidFill>
          <a:ln w="12700">
            <a:solidFill>
              <a:srgbClr val="1B75FF"/>
            </a:solidFill>
            <a:prstDash val="solid"/>
          </a:ln>
        </p:spPr>
      </p:sp>
      <p:sp>
        <p:nvSpPr>
          <p:cNvPr id="28" name="Text 26"/>
          <p:cNvSpPr txBox="1"/>
          <p:nvPr/>
        </p:nvSpPr>
        <p:spPr>
          <a:xfrm>
            <a:off x="6382512" y="2798064"/>
            <a:ext cx="420624" cy="420624"/>
          </a:xfrm>
          <a:prstGeom prst="rect">
            <a:avLst/>
          </a:prstGeom>
          <a:noFill/>
          <a:ln/>
        </p:spPr>
        <p:txBody>
          <a:bodyPr wrap="square" lIns="0" tIns="0" rIns="0" bIns="0" rtlCol="0" anchor="ctr">
            <a:normAutofit/>
          </a:bodyPr>
          <a:lstStyle/>
          <a:p>
            <a:pPr algn="ctr" indent="0" marL="0">
              <a:buNone/>
            </a:pPr>
            <a:r>
              <a:rPr lang="en-US" sz="1050" b="1" dirty="0">
                <a:solidFill>
                  <a:srgbClr val="F7FAFC"/>
                </a:solidFill>
                <a:latin typeface="Inter" pitchFamily="34" charset="0"/>
                <a:ea typeface="Inter" pitchFamily="34" charset="-122"/>
                <a:cs typeface="Inter" pitchFamily="34" charset="-120"/>
              </a:rPr>
              <a:t>1</a:t>
            </a:r>
            <a:endParaRPr lang="en-US" sz="1050" dirty="0"/>
          </a:p>
        </p:txBody>
      </p:sp>
      <p:sp>
        <p:nvSpPr>
          <p:cNvPr id="29" name="Text 27"/>
          <p:cNvSpPr txBox="1"/>
          <p:nvPr/>
        </p:nvSpPr>
        <p:spPr>
          <a:xfrm>
            <a:off x="6931152" y="2770632"/>
            <a:ext cx="1755648" cy="283464"/>
          </a:xfrm>
          <a:prstGeom prst="rect">
            <a:avLst/>
          </a:prstGeom>
          <a:noFill/>
          <a:ln/>
        </p:spPr>
        <p:txBody>
          <a:bodyPr wrap="square" lIns="0" tIns="0" rIns="0" bIns="0" rtlCol="0" anchor="ctr">
            <a:normAutofit/>
          </a:bodyPr>
          <a:lstStyle/>
          <a:p>
            <a:pPr algn="l" indent="0" marL="0">
              <a:buNone/>
            </a:pPr>
            <a:r>
              <a:rPr lang="en-US" sz="1550" b="1" dirty="0">
                <a:solidFill>
                  <a:srgbClr val="F7FAFC"/>
                </a:solidFill>
                <a:latin typeface="Inter" pitchFamily="34" charset="0"/>
                <a:ea typeface="Inter" pitchFamily="34" charset="-122"/>
                <a:cs typeface="Inter" pitchFamily="34" charset="-120"/>
              </a:rPr>
              <a:t>Especialización</a:t>
            </a:r>
            <a:endParaRPr lang="en-US" sz="1550" dirty="0"/>
          </a:p>
        </p:txBody>
      </p:sp>
      <p:sp>
        <p:nvSpPr>
          <p:cNvPr id="30" name="Text 28"/>
          <p:cNvSpPr txBox="1"/>
          <p:nvPr/>
        </p:nvSpPr>
        <p:spPr>
          <a:xfrm>
            <a:off x="8641080" y="2752344"/>
            <a:ext cx="2706624" cy="411480"/>
          </a:xfrm>
          <a:prstGeom prst="rect">
            <a:avLst/>
          </a:prstGeom>
          <a:noFill/>
          <a:ln/>
        </p:spPr>
        <p:txBody>
          <a:bodyPr wrap="square" lIns="0" tIns="0" rIns="0" bIns="0" rtlCol="0" anchor="ctr">
            <a:normAutofit/>
          </a:bodyPr>
          <a:lstStyle/>
          <a:p>
            <a:pPr algn="l" indent="0" marL="0">
              <a:buNone/>
            </a:pPr>
            <a:r>
              <a:rPr lang="en-US" sz="1250" dirty="0">
                <a:solidFill>
                  <a:srgbClr val="8FA3B8"/>
                </a:solidFill>
                <a:latin typeface="Inter" pitchFamily="34" charset="0"/>
                <a:ea typeface="Inter" pitchFamily="34" charset="-122"/>
                <a:cs typeface="Inter" pitchFamily="34" charset="-120"/>
              </a:rPr>
              <a:t>Cada agente produce un artefacto o decisión acotada.</a:t>
            </a:r>
            <a:endParaRPr lang="en-US" sz="1250" dirty="0"/>
          </a:p>
        </p:txBody>
      </p:sp>
      <p:sp>
        <p:nvSpPr>
          <p:cNvPr id="31" name="Shape 29"/>
          <p:cNvSpPr/>
          <p:nvPr/>
        </p:nvSpPr>
        <p:spPr>
          <a:xfrm>
            <a:off x="6382512" y="3493008"/>
            <a:ext cx="420624" cy="420624"/>
          </a:xfrm>
          <a:prstGeom prst="ellipse">
            <a:avLst/>
          </a:prstGeom>
          <a:solidFill>
            <a:srgbClr val="1B75FF"/>
          </a:solidFill>
          <a:ln w="12700">
            <a:solidFill>
              <a:srgbClr val="1B75FF"/>
            </a:solidFill>
            <a:prstDash val="solid"/>
          </a:ln>
        </p:spPr>
      </p:sp>
      <p:sp>
        <p:nvSpPr>
          <p:cNvPr id="32" name="Text 30"/>
          <p:cNvSpPr txBox="1"/>
          <p:nvPr/>
        </p:nvSpPr>
        <p:spPr>
          <a:xfrm>
            <a:off x="6382512" y="3493008"/>
            <a:ext cx="420624" cy="420624"/>
          </a:xfrm>
          <a:prstGeom prst="rect">
            <a:avLst/>
          </a:prstGeom>
          <a:noFill/>
          <a:ln/>
        </p:spPr>
        <p:txBody>
          <a:bodyPr wrap="square" lIns="0" tIns="0" rIns="0" bIns="0" rtlCol="0" anchor="ctr">
            <a:normAutofit/>
          </a:bodyPr>
          <a:lstStyle/>
          <a:p>
            <a:pPr algn="ctr" indent="0" marL="0">
              <a:buNone/>
            </a:pPr>
            <a:r>
              <a:rPr lang="en-US" sz="1050" b="1" dirty="0">
                <a:solidFill>
                  <a:srgbClr val="F7FAFC"/>
                </a:solidFill>
                <a:latin typeface="Inter" pitchFamily="34" charset="0"/>
                <a:ea typeface="Inter" pitchFamily="34" charset="-122"/>
                <a:cs typeface="Inter" pitchFamily="34" charset="-120"/>
              </a:rPr>
              <a:t>2</a:t>
            </a:r>
            <a:endParaRPr lang="en-US" sz="1050" dirty="0"/>
          </a:p>
        </p:txBody>
      </p:sp>
      <p:sp>
        <p:nvSpPr>
          <p:cNvPr id="33" name="Text 31"/>
          <p:cNvSpPr txBox="1"/>
          <p:nvPr/>
        </p:nvSpPr>
        <p:spPr>
          <a:xfrm>
            <a:off x="6931152" y="3465576"/>
            <a:ext cx="1755648" cy="283464"/>
          </a:xfrm>
          <a:prstGeom prst="rect">
            <a:avLst/>
          </a:prstGeom>
          <a:noFill/>
          <a:ln/>
        </p:spPr>
        <p:txBody>
          <a:bodyPr wrap="square" lIns="0" tIns="0" rIns="0" bIns="0" rtlCol="0" anchor="ctr">
            <a:normAutofit/>
          </a:bodyPr>
          <a:lstStyle/>
          <a:p>
            <a:pPr algn="l" indent="0" marL="0">
              <a:buNone/>
            </a:pPr>
            <a:r>
              <a:rPr lang="en-US" sz="1550" b="1" dirty="0">
                <a:solidFill>
                  <a:srgbClr val="F7FAFC"/>
                </a:solidFill>
                <a:latin typeface="Inter" pitchFamily="34" charset="0"/>
                <a:ea typeface="Inter" pitchFamily="34" charset="-122"/>
                <a:cs typeface="Inter" pitchFamily="34" charset="-120"/>
              </a:rPr>
              <a:t>Determinismo</a:t>
            </a:r>
            <a:endParaRPr lang="en-US" sz="1550" dirty="0"/>
          </a:p>
        </p:txBody>
      </p:sp>
      <p:sp>
        <p:nvSpPr>
          <p:cNvPr id="34" name="Text 32"/>
          <p:cNvSpPr txBox="1"/>
          <p:nvPr/>
        </p:nvSpPr>
        <p:spPr>
          <a:xfrm>
            <a:off x="8641080" y="3447288"/>
            <a:ext cx="2706624" cy="411480"/>
          </a:xfrm>
          <a:prstGeom prst="rect">
            <a:avLst/>
          </a:prstGeom>
          <a:noFill/>
          <a:ln/>
        </p:spPr>
        <p:txBody>
          <a:bodyPr wrap="square" lIns="0" tIns="0" rIns="0" bIns="0" rtlCol="0" anchor="ctr">
            <a:normAutofit/>
          </a:bodyPr>
          <a:lstStyle/>
          <a:p>
            <a:pPr algn="l" indent="0" marL="0">
              <a:buNone/>
            </a:pPr>
            <a:r>
              <a:rPr lang="en-US" sz="1250" dirty="0">
                <a:solidFill>
                  <a:srgbClr val="8FA3B8"/>
                </a:solidFill>
                <a:latin typeface="Inter" pitchFamily="34" charset="0"/>
                <a:ea typeface="Inter" pitchFamily="34" charset="-122"/>
                <a:cs typeface="Inter" pitchFamily="34" charset="-120"/>
              </a:rPr>
              <a:t>El orquestador decide el siguiente paso, no un agente libre.</a:t>
            </a:r>
            <a:endParaRPr lang="en-US" sz="1250" dirty="0"/>
          </a:p>
        </p:txBody>
      </p:sp>
      <p:sp>
        <p:nvSpPr>
          <p:cNvPr id="35" name="Shape 33"/>
          <p:cNvSpPr/>
          <p:nvPr/>
        </p:nvSpPr>
        <p:spPr>
          <a:xfrm>
            <a:off x="6382512" y="4187952"/>
            <a:ext cx="420624" cy="420624"/>
          </a:xfrm>
          <a:prstGeom prst="ellipse">
            <a:avLst/>
          </a:prstGeom>
          <a:solidFill>
            <a:srgbClr val="1B75FF"/>
          </a:solidFill>
          <a:ln w="12700">
            <a:solidFill>
              <a:srgbClr val="1B75FF"/>
            </a:solidFill>
            <a:prstDash val="solid"/>
          </a:ln>
        </p:spPr>
      </p:sp>
      <p:sp>
        <p:nvSpPr>
          <p:cNvPr id="36" name="Text 34"/>
          <p:cNvSpPr txBox="1"/>
          <p:nvPr/>
        </p:nvSpPr>
        <p:spPr>
          <a:xfrm>
            <a:off x="6382512" y="4187952"/>
            <a:ext cx="420624" cy="420624"/>
          </a:xfrm>
          <a:prstGeom prst="rect">
            <a:avLst/>
          </a:prstGeom>
          <a:noFill/>
          <a:ln/>
        </p:spPr>
        <p:txBody>
          <a:bodyPr wrap="square" lIns="0" tIns="0" rIns="0" bIns="0" rtlCol="0" anchor="ctr">
            <a:normAutofit/>
          </a:bodyPr>
          <a:lstStyle/>
          <a:p>
            <a:pPr algn="ctr" indent="0" marL="0">
              <a:buNone/>
            </a:pPr>
            <a:r>
              <a:rPr lang="en-US" sz="1050" b="1" dirty="0">
                <a:solidFill>
                  <a:srgbClr val="F7FAFC"/>
                </a:solidFill>
                <a:latin typeface="Inter" pitchFamily="34" charset="0"/>
                <a:ea typeface="Inter" pitchFamily="34" charset="-122"/>
                <a:cs typeface="Inter" pitchFamily="34" charset="-120"/>
              </a:rPr>
              <a:t>3</a:t>
            </a:r>
            <a:endParaRPr lang="en-US" sz="1050" dirty="0"/>
          </a:p>
        </p:txBody>
      </p:sp>
      <p:sp>
        <p:nvSpPr>
          <p:cNvPr id="37" name="Text 35"/>
          <p:cNvSpPr txBox="1"/>
          <p:nvPr/>
        </p:nvSpPr>
        <p:spPr>
          <a:xfrm>
            <a:off x="6931152" y="4160520"/>
            <a:ext cx="1755648" cy="283464"/>
          </a:xfrm>
          <a:prstGeom prst="rect">
            <a:avLst/>
          </a:prstGeom>
          <a:noFill/>
          <a:ln/>
        </p:spPr>
        <p:txBody>
          <a:bodyPr wrap="square" lIns="0" tIns="0" rIns="0" bIns="0" rtlCol="0" anchor="ctr">
            <a:normAutofit/>
          </a:bodyPr>
          <a:lstStyle/>
          <a:p>
            <a:pPr algn="l" indent="0" marL="0">
              <a:buNone/>
            </a:pPr>
            <a:r>
              <a:rPr lang="en-US" sz="1550" b="1" dirty="0">
                <a:solidFill>
                  <a:srgbClr val="F7FAFC"/>
                </a:solidFill>
                <a:latin typeface="Inter" pitchFamily="34" charset="0"/>
                <a:ea typeface="Inter" pitchFamily="34" charset="-122"/>
                <a:cs typeface="Inter" pitchFamily="34" charset="-120"/>
              </a:rPr>
              <a:t>Guardrails</a:t>
            </a:r>
            <a:endParaRPr lang="en-US" sz="1550" dirty="0"/>
          </a:p>
        </p:txBody>
      </p:sp>
      <p:sp>
        <p:nvSpPr>
          <p:cNvPr id="38" name="Text 36"/>
          <p:cNvSpPr txBox="1"/>
          <p:nvPr/>
        </p:nvSpPr>
        <p:spPr>
          <a:xfrm>
            <a:off x="8641080" y="4142232"/>
            <a:ext cx="2706624" cy="411480"/>
          </a:xfrm>
          <a:prstGeom prst="rect">
            <a:avLst/>
          </a:prstGeom>
          <a:noFill/>
          <a:ln/>
        </p:spPr>
        <p:txBody>
          <a:bodyPr wrap="square" lIns="0" tIns="0" rIns="0" bIns="0" rtlCol="0" anchor="ctr">
            <a:normAutofit/>
          </a:bodyPr>
          <a:lstStyle/>
          <a:p>
            <a:pPr algn="l" indent="0" marL="0">
              <a:buNone/>
            </a:pPr>
            <a:r>
              <a:rPr lang="en-US" sz="1250" dirty="0">
                <a:solidFill>
                  <a:srgbClr val="8FA3B8"/>
                </a:solidFill>
                <a:latin typeface="Inter" pitchFamily="34" charset="0"/>
                <a:ea typeface="Inter" pitchFamily="34" charset="-122"/>
                <a:cs typeface="Inter" pitchFamily="34" charset="-120"/>
              </a:rPr>
              <a:t>Filesystem, seguridad, presupuestos y límites de reintento.</a:t>
            </a:r>
            <a:endParaRPr lang="en-US" sz="1250" dirty="0"/>
          </a:p>
        </p:txBody>
      </p:sp>
      <p:sp>
        <p:nvSpPr>
          <p:cNvPr id="39" name="Shape 37"/>
          <p:cNvSpPr/>
          <p:nvPr/>
        </p:nvSpPr>
        <p:spPr>
          <a:xfrm>
            <a:off x="6382512" y="4882896"/>
            <a:ext cx="420624" cy="420624"/>
          </a:xfrm>
          <a:prstGeom prst="ellipse">
            <a:avLst/>
          </a:prstGeom>
          <a:solidFill>
            <a:srgbClr val="38D996"/>
          </a:solidFill>
          <a:ln w="12700">
            <a:solidFill>
              <a:srgbClr val="38D996"/>
            </a:solidFill>
            <a:prstDash val="solid"/>
          </a:ln>
        </p:spPr>
      </p:sp>
      <p:sp>
        <p:nvSpPr>
          <p:cNvPr id="40" name="Text 38"/>
          <p:cNvSpPr txBox="1"/>
          <p:nvPr/>
        </p:nvSpPr>
        <p:spPr>
          <a:xfrm>
            <a:off x="6382512" y="4882896"/>
            <a:ext cx="420624" cy="420624"/>
          </a:xfrm>
          <a:prstGeom prst="rect">
            <a:avLst/>
          </a:prstGeom>
          <a:noFill/>
          <a:ln/>
        </p:spPr>
        <p:txBody>
          <a:bodyPr wrap="square" lIns="0" tIns="0" rIns="0" bIns="0" rtlCol="0" anchor="ctr">
            <a:normAutofit/>
          </a:bodyPr>
          <a:lstStyle/>
          <a:p>
            <a:pPr algn="ctr" indent="0" marL="0">
              <a:buNone/>
            </a:pPr>
            <a:r>
              <a:rPr lang="en-US" sz="1050" b="1" dirty="0">
                <a:solidFill>
                  <a:srgbClr val="F7FAFC"/>
                </a:solidFill>
                <a:latin typeface="Inter" pitchFamily="34" charset="0"/>
                <a:ea typeface="Inter" pitchFamily="34" charset="-122"/>
                <a:cs typeface="Inter" pitchFamily="34" charset="-120"/>
              </a:rPr>
              <a:t>4</a:t>
            </a:r>
            <a:endParaRPr lang="en-US" sz="1050" dirty="0"/>
          </a:p>
        </p:txBody>
      </p:sp>
      <p:sp>
        <p:nvSpPr>
          <p:cNvPr id="41" name="Text 39"/>
          <p:cNvSpPr txBox="1"/>
          <p:nvPr/>
        </p:nvSpPr>
        <p:spPr>
          <a:xfrm>
            <a:off x="6931152" y="4855464"/>
            <a:ext cx="1755648" cy="283464"/>
          </a:xfrm>
          <a:prstGeom prst="rect">
            <a:avLst/>
          </a:prstGeom>
          <a:noFill/>
          <a:ln/>
        </p:spPr>
        <p:txBody>
          <a:bodyPr wrap="square" lIns="0" tIns="0" rIns="0" bIns="0" rtlCol="0" anchor="ctr">
            <a:normAutofit/>
          </a:bodyPr>
          <a:lstStyle/>
          <a:p>
            <a:pPr algn="l" indent="0" marL="0">
              <a:buNone/>
            </a:pPr>
            <a:r>
              <a:rPr lang="en-US" sz="1550" b="1" dirty="0">
                <a:solidFill>
                  <a:srgbClr val="F7FAFC"/>
                </a:solidFill>
                <a:latin typeface="Inter" pitchFamily="34" charset="0"/>
                <a:ea typeface="Inter" pitchFamily="34" charset="-122"/>
                <a:cs typeface="Inter" pitchFamily="34" charset="-120"/>
              </a:rPr>
              <a:t>Human-in-the-loop</a:t>
            </a:r>
            <a:endParaRPr lang="en-US" sz="1550" dirty="0"/>
          </a:p>
        </p:txBody>
      </p:sp>
      <p:sp>
        <p:nvSpPr>
          <p:cNvPr id="42" name="Text 40"/>
          <p:cNvSpPr txBox="1"/>
          <p:nvPr/>
        </p:nvSpPr>
        <p:spPr>
          <a:xfrm>
            <a:off x="8641080" y="4837176"/>
            <a:ext cx="2706624" cy="411480"/>
          </a:xfrm>
          <a:prstGeom prst="rect">
            <a:avLst/>
          </a:prstGeom>
          <a:noFill/>
          <a:ln/>
        </p:spPr>
        <p:txBody>
          <a:bodyPr wrap="square" lIns="0" tIns="0" rIns="0" bIns="0" rtlCol="0" anchor="ctr">
            <a:normAutofit/>
          </a:bodyPr>
          <a:lstStyle/>
          <a:p>
            <a:pPr algn="l" indent="0" marL="0">
              <a:buNone/>
            </a:pPr>
            <a:r>
              <a:rPr lang="en-US" sz="1250" dirty="0">
                <a:solidFill>
                  <a:srgbClr val="8FA3B8"/>
                </a:solidFill>
                <a:latin typeface="Inter" pitchFamily="34" charset="0"/>
                <a:ea typeface="Inter" pitchFamily="34" charset="-122"/>
                <a:cs typeface="Inter" pitchFamily="34" charset="-120"/>
              </a:rPr>
              <a:t>La entrega sensible puede requerir aprobación explícita.</a:t>
            </a:r>
            <a:endParaRPr lang="en-US" sz="1250" dirty="0"/>
          </a:p>
        </p:txBody>
      </p:sp>
      <p:sp>
        <p:nvSpPr>
          <p:cNvPr id="43" name="Shape 41"/>
          <p:cNvSpPr/>
          <p:nvPr/>
        </p:nvSpPr>
        <p:spPr>
          <a:xfrm>
            <a:off x="713232" y="5833872"/>
            <a:ext cx="10625328" cy="438912"/>
          </a:xfrm>
          <a:prstGeom prst="rect">
            <a:avLst/>
          </a:prstGeom>
          <a:solidFill>
            <a:srgbClr val="0B1D2D"/>
          </a:solidFill>
          <a:ln w="6350">
            <a:solidFill>
              <a:srgbClr val="0B1D2D"/>
            </a:solidFill>
            <a:prstDash val="solid"/>
          </a:ln>
        </p:spPr>
      </p:sp>
      <p:sp>
        <p:nvSpPr>
          <p:cNvPr id="44" name="Text 42"/>
          <p:cNvSpPr txBox="1"/>
          <p:nvPr/>
        </p:nvSpPr>
        <p:spPr>
          <a:xfrm>
            <a:off x="896112" y="5925312"/>
            <a:ext cx="1005840" cy="228600"/>
          </a:xfrm>
          <a:prstGeom prst="rect">
            <a:avLst/>
          </a:prstGeom>
          <a:noFill/>
          <a:ln/>
        </p:spPr>
        <p:txBody>
          <a:bodyPr wrap="square" lIns="0" tIns="0" rIns="0" bIns="0" rtlCol="0" anchor="ctr">
            <a:normAutofit/>
          </a:bodyPr>
          <a:lstStyle/>
          <a:p>
            <a:pPr algn="l" indent="0" marL="0">
              <a:buNone/>
            </a:pPr>
            <a:r>
              <a:rPr lang="en-US" sz="1050" b="1" spc="100" kern="0" dirty="0">
                <a:solidFill>
                  <a:srgbClr val="2EA8FF"/>
                </a:solidFill>
                <a:latin typeface="Inter" pitchFamily="34" charset="0"/>
                <a:ea typeface="Inter" pitchFamily="34" charset="-122"/>
                <a:cs typeface="Inter" pitchFamily="34" charset="-120"/>
              </a:rPr>
              <a:t>IDEA CLAVE</a:t>
            </a:r>
            <a:endParaRPr lang="en-US" sz="1050" dirty="0"/>
          </a:p>
        </p:txBody>
      </p:sp>
      <p:sp>
        <p:nvSpPr>
          <p:cNvPr id="45" name="Text 43"/>
          <p:cNvSpPr txBox="1"/>
          <p:nvPr/>
        </p:nvSpPr>
        <p:spPr>
          <a:xfrm>
            <a:off x="1874520" y="5870448"/>
            <a:ext cx="9052560" cy="320040"/>
          </a:xfrm>
          <a:prstGeom prst="rect">
            <a:avLst/>
          </a:prstGeom>
          <a:noFill/>
          <a:ln/>
        </p:spPr>
        <p:txBody>
          <a:bodyPr wrap="square" lIns="0" tIns="0" rIns="0" bIns="0" rtlCol="0" anchor="ctr">
            <a:normAutofit/>
          </a:bodyPr>
          <a:lstStyle/>
          <a:p>
            <a:pPr algn="l" indent="0" marL="0">
              <a:buNone/>
            </a:pPr>
            <a:r>
              <a:rPr lang="en-US" sz="1450" b="1" dirty="0">
                <a:solidFill>
                  <a:srgbClr val="DCE6F2"/>
                </a:solidFill>
                <a:latin typeface="Inter" pitchFamily="34" charset="0"/>
                <a:ea typeface="Inter" pitchFamily="34" charset="-122"/>
                <a:cs typeface="Inter" pitchFamily="34" charset="-120"/>
              </a:rPr>
              <a:t>No reemplaza el SDLC: automatiza tramos repetitivos con control explícito y artefactos auditables.</a:t>
            </a:r>
            <a:endParaRPr lang="en-US" sz="1450" dirty="0"/>
          </a:p>
        </p:txBody>
      </p:sp>
      <p:sp>
        <p:nvSpPr>
          <p:cNvPr id="25" name="Slide Number Placeholder 0"/>
          <p:cNvSpPr>
            <a:spLocks noGrp="1"/>
          </p:cNvSpPr>
          <p:nvPr>
            <p:ph type="sldNum" sz="quarter" idx="4294967295"/>
          </p:nvPr>
        </p:nvSpPr>
        <p:spPr>
          <a:xfrm>
            <a:off x="11192256" y="6556248"/>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F879B"/>
                </a:solidFill>
                <a:latin typeface="Inter"/>
                <a:ea typeface="Inter"/>
                <a:cs typeface="Inter"/>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21792" y="384048"/>
            <a:ext cx="2926080" cy="256032"/>
          </a:xfrm>
          <a:prstGeom prst="rect">
            <a:avLst/>
          </a:prstGeom>
          <a:noFill/>
          <a:ln/>
        </p:spPr>
        <p:txBody>
          <a:bodyPr wrap="square" lIns="0" tIns="0" rIns="0" bIns="0" rtlCol="0" anchor="ctr">
            <a:normAutofit/>
          </a:bodyPr>
          <a:lstStyle/>
          <a:p>
            <a:pPr algn="l" indent="0" marL="0">
              <a:buNone/>
            </a:pPr>
            <a:r>
              <a:rPr lang="en-US" sz="1050" b="1" spc="160" kern="0" dirty="0">
                <a:solidFill>
                  <a:srgbClr val="2EA8FF"/>
                </a:solidFill>
                <a:latin typeface="Inter" pitchFamily="34" charset="0"/>
                <a:ea typeface="Inter" pitchFamily="34" charset="-122"/>
                <a:cs typeface="Inter" pitchFamily="34" charset="-120"/>
              </a:rPr>
              <a:t>02 · VISIÓN GENERAL</a:t>
            </a:r>
            <a:endParaRPr lang="en-US" sz="1050" dirty="0"/>
          </a:p>
        </p:txBody>
      </p:sp>
      <p:sp>
        <p:nvSpPr>
          <p:cNvPr id="3" name="Text 1"/>
          <p:cNvSpPr txBox="1"/>
          <p:nvPr/>
        </p:nvSpPr>
        <p:spPr>
          <a:xfrm>
            <a:off x="621792" y="713232"/>
            <a:ext cx="10927080" cy="530352"/>
          </a:xfrm>
          <a:prstGeom prst="rect">
            <a:avLst/>
          </a:prstGeom>
          <a:noFill/>
          <a:ln/>
        </p:spPr>
        <p:txBody>
          <a:bodyPr wrap="square" lIns="0" tIns="0" rIns="0" bIns="0" rtlCol="0" anchor="ctr">
            <a:normAutofit/>
          </a:bodyPr>
          <a:lstStyle/>
          <a:p>
            <a:pPr algn="l" indent="0" marL="0">
              <a:buNone/>
            </a:pPr>
            <a:r>
              <a:rPr lang="en-US" sz="3200" b="1" dirty="0">
                <a:solidFill>
                  <a:srgbClr val="F7FAFC"/>
                </a:solidFill>
                <a:latin typeface="Inter" pitchFamily="34" charset="0"/>
                <a:ea typeface="Inter" pitchFamily="34" charset="-122"/>
                <a:cs typeface="Inter" pitchFamily="34" charset="-120"/>
              </a:rPr>
              <a:t>Del requisito a un paquete de cambio revisable</a:t>
            </a:r>
            <a:endParaRPr lang="en-US" sz="3200" dirty="0"/>
          </a:p>
        </p:txBody>
      </p:sp>
      <p:sp>
        <p:nvSpPr>
          <p:cNvPr id="4" name="Text 2"/>
          <p:cNvSpPr txBox="1"/>
          <p:nvPr/>
        </p:nvSpPr>
        <p:spPr>
          <a:xfrm>
            <a:off x="621792" y="1261872"/>
            <a:ext cx="10744200" cy="384048"/>
          </a:xfrm>
          <a:prstGeom prst="rect">
            <a:avLst/>
          </a:prstGeom>
          <a:noFill/>
          <a:ln/>
        </p:spPr>
        <p:txBody>
          <a:bodyPr wrap="square" lIns="0" tIns="0" rIns="0" bIns="0" rtlCol="0" anchor="ctr">
            <a:normAutofit/>
          </a:bodyPr>
          <a:lstStyle/>
          <a:p>
            <a:pPr algn="l" indent="0" marL="0">
              <a:buNone/>
            </a:pPr>
            <a:r>
              <a:rPr lang="en-US" sz="1550" dirty="0">
                <a:solidFill>
                  <a:srgbClr val="8FA3B8"/>
                </a:solidFill>
                <a:latin typeface="Inter" pitchFamily="34" charset="0"/>
                <a:ea typeface="Inter" pitchFamily="34" charset="-122"/>
                <a:cs typeface="Inter" pitchFamily="34" charset="-120"/>
              </a:rPr>
              <a:t>La plataforma ejecuta un estado compartido a través de agentes, herramientas y controles.</a:t>
            </a:r>
            <a:endParaRPr lang="en-US" sz="1550" dirty="0"/>
          </a:p>
        </p:txBody>
      </p:sp>
      <p:sp>
        <p:nvSpPr>
          <p:cNvPr id="5" name="Shape 3"/>
          <p:cNvSpPr/>
          <p:nvPr/>
        </p:nvSpPr>
        <p:spPr>
          <a:xfrm>
            <a:off x="713232" y="2103120"/>
            <a:ext cx="2066544" cy="2542032"/>
          </a:xfrm>
          <a:prstGeom prst="roundRect">
            <a:avLst>
              <a:gd name="adj" fmla="val 5310"/>
            </a:avLst>
          </a:prstGeom>
          <a:solidFill>
            <a:srgbClr val="0E2235"/>
          </a:solidFill>
          <a:ln w="12700">
            <a:solidFill>
              <a:srgbClr val="274258"/>
            </a:solidFill>
            <a:prstDash val="solid"/>
          </a:ln>
        </p:spPr>
      </p:sp>
      <p:sp>
        <p:nvSpPr>
          <p:cNvPr id="6" name="Shape 4"/>
          <p:cNvSpPr/>
          <p:nvPr/>
        </p:nvSpPr>
        <p:spPr>
          <a:xfrm>
            <a:off x="896112" y="2313432"/>
            <a:ext cx="841248" cy="329184"/>
          </a:xfrm>
          <a:prstGeom prst="roundRect">
            <a:avLst>
              <a:gd name="adj" fmla="val 44444"/>
            </a:avLst>
          </a:prstGeom>
          <a:solidFill>
            <a:srgbClr val="1B75FF"/>
          </a:solidFill>
          <a:ln w="12700">
            <a:solidFill>
              <a:srgbClr val="1B75FF"/>
            </a:solidFill>
            <a:prstDash val="solid"/>
          </a:ln>
        </p:spPr>
      </p:sp>
      <p:sp>
        <p:nvSpPr>
          <p:cNvPr id="7" name="Text 5"/>
          <p:cNvSpPr txBox="1"/>
          <p:nvPr/>
        </p:nvSpPr>
        <p:spPr>
          <a:xfrm>
            <a:off x="969264" y="2331720"/>
            <a:ext cx="694944" cy="283464"/>
          </a:xfrm>
          <a:prstGeom prst="rect">
            <a:avLst/>
          </a:prstGeom>
          <a:noFill/>
          <a:ln/>
        </p:spPr>
        <p:txBody>
          <a:bodyPr wrap="square" lIns="0" tIns="0" rIns="0" bIns="0" rtlCol="0" anchor="ctr">
            <a:normAutofit/>
          </a:bodyPr>
          <a:lstStyle/>
          <a:p>
            <a:pPr algn="ctr" indent="0" marL="0">
              <a:buNone/>
            </a:pPr>
            <a:r>
              <a:rPr lang="en-US" sz="1000" b="1" dirty="0">
                <a:solidFill>
                  <a:srgbClr val="F7FAFC"/>
                </a:solidFill>
                <a:latin typeface="Inter" pitchFamily="34" charset="0"/>
                <a:ea typeface="Inter" pitchFamily="34" charset="-122"/>
                <a:cs typeface="Inter" pitchFamily="34" charset="-120"/>
              </a:rPr>
              <a:t>ENTRADA</a:t>
            </a:r>
            <a:endParaRPr lang="en-US" sz="1000" dirty="0"/>
          </a:p>
        </p:txBody>
      </p:sp>
      <p:sp>
        <p:nvSpPr>
          <p:cNvPr id="8" name="Text 6"/>
          <p:cNvSpPr txBox="1"/>
          <p:nvPr/>
        </p:nvSpPr>
        <p:spPr>
          <a:xfrm>
            <a:off x="896112" y="2862072"/>
            <a:ext cx="1700784" cy="713232"/>
          </a:xfrm>
          <a:prstGeom prst="rect">
            <a:avLst/>
          </a:prstGeom>
          <a:noFill/>
          <a:ln/>
        </p:spPr>
        <p:txBody>
          <a:bodyPr wrap="square" lIns="0" tIns="0" rIns="0" bIns="0" rtlCol="0" anchor="t">
            <a:normAutofit/>
          </a:bodyPr>
          <a:lstStyle/>
          <a:p>
            <a:pPr algn="l" indent="0" marL="0">
              <a:buNone/>
            </a:pPr>
            <a:r>
              <a:rPr lang="en-US" sz="2100" b="1" dirty="0">
                <a:solidFill>
                  <a:srgbClr val="F7FAFC"/>
                </a:solidFill>
                <a:latin typeface="Inter" pitchFamily="34" charset="0"/>
                <a:ea typeface="Inter" pitchFamily="34" charset="-122"/>
                <a:cs typeface="Inter" pitchFamily="34" charset="-120"/>
              </a:rPr>
              <a:t>Requerimiento</a:t>
            </a:r>
            <a:endParaRPr lang="en-US" sz="2100" dirty="0"/>
          </a:p>
          <a:p>
            <a:pPr algn="l" indent="0" marL="0">
              <a:buNone/>
            </a:pPr>
            <a:r>
              <a:rPr lang="en-US" sz="2100" b="1" dirty="0">
                <a:solidFill>
                  <a:srgbClr val="F7FAFC"/>
                </a:solidFill>
                <a:latin typeface="Inter" pitchFamily="34" charset="0"/>
                <a:ea typeface="Inter" pitchFamily="34" charset="-122"/>
                <a:cs typeface="Inter" pitchFamily="34" charset="-120"/>
              </a:rPr>
              <a:t>en lenguaje natural</a:t>
            </a:r>
            <a:endParaRPr lang="en-US" sz="2100" dirty="0"/>
          </a:p>
        </p:txBody>
      </p:sp>
      <p:sp>
        <p:nvSpPr>
          <p:cNvPr id="9" name="Text 7"/>
          <p:cNvSpPr txBox="1"/>
          <p:nvPr/>
        </p:nvSpPr>
        <p:spPr>
          <a:xfrm>
            <a:off x="896112" y="3803904"/>
            <a:ext cx="1700784" cy="566928"/>
          </a:xfrm>
          <a:prstGeom prst="rect">
            <a:avLst/>
          </a:prstGeom>
          <a:noFill/>
          <a:ln/>
        </p:spPr>
        <p:txBody>
          <a:bodyPr wrap="square" lIns="0" tIns="0" rIns="0" bIns="0" rtlCol="0" anchor="t">
            <a:normAutofit/>
          </a:bodyPr>
          <a:lstStyle/>
          <a:p>
            <a:pPr algn="l" indent="0" marL="0">
              <a:buNone/>
            </a:pPr>
            <a:r>
              <a:rPr lang="en-US" sz="1250" dirty="0">
                <a:solidFill>
                  <a:srgbClr val="8FA3B8"/>
                </a:solidFill>
                <a:latin typeface="Inter" pitchFamily="34" charset="0"/>
                <a:ea typeface="Inter" pitchFamily="34" charset="-122"/>
                <a:cs typeface="Inter" pitchFamily="34" charset="-120"/>
              </a:rPr>
              <a:t>Opcionalmente originado o enriquecido desde Jira.</a:t>
            </a:r>
            <a:endParaRPr lang="en-US" sz="1250" dirty="0"/>
          </a:p>
        </p:txBody>
      </p:sp>
      <p:sp>
        <p:nvSpPr>
          <p:cNvPr id="10" name="Shape 8"/>
          <p:cNvSpPr/>
          <p:nvPr/>
        </p:nvSpPr>
        <p:spPr>
          <a:xfrm>
            <a:off x="2971800" y="2980944"/>
            <a:ext cx="658368" cy="475488"/>
          </a:xfrm>
          <a:prstGeom prst="rightArrow">
            <a:avLst/>
          </a:prstGeom>
          <a:solidFill>
            <a:srgbClr val="1B75FF"/>
          </a:solidFill>
          <a:ln w="12700">
            <a:solidFill>
              <a:srgbClr val="1B75FF"/>
            </a:solidFill>
            <a:prstDash val="solid"/>
          </a:ln>
        </p:spPr>
      </p:sp>
      <p:sp>
        <p:nvSpPr>
          <p:cNvPr id="11" name="Shape 9"/>
          <p:cNvSpPr/>
          <p:nvPr/>
        </p:nvSpPr>
        <p:spPr>
          <a:xfrm>
            <a:off x="3675888" y="1847088"/>
            <a:ext cx="3950208" cy="3054096"/>
          </a:xfrm>
          <a:prstGeom prst="roundRect">
            <a:avLst>
              <a:gd name="adj" fmla="val 3593"/>
            </a:avLst>
          </a:prstGeom>
          <a:solidFill>
            <a:srgbClr val="0B2136"/>
          </a:solidFill>
          <a:ln w="12700">
            <a:solidFill>
              <a:srgbClr val="1B75FF"/>
            </a:solidFill>
            <a:prstDash val="solid"/>
          </a:ln>
        </p:spPr>
      </p:sp>
      <p:sp>
        <p:nvSpPr>
          <p:cNvPr id="12" name="Text 10"/>
          <p:cNvSpPr txBox="1"/>
          <p:nvPr/>
        </p:nvSpPr>
        <p:spPr>
          <a:xfrm>
            <a:off x="3950208" y="2084832"/>
            <a:ext cx="3419856" cy="310896"/>
          </a:xfrm>
          <a:prstGeom prst="rect">
            <a:avLst/>
          </a:prstGeom>
          <a:noFill/>
          <a:ln/>
        </p:spPr>
        <p:txBody>
          <a:bodyPr wrap="square" lIns="0" tIns="0" rIns="0" bIns="0" rtlCol="0" anchor="ctr">
            <a:normAutofit/>
          </a:bodyPr>
          <a:lstStyle/>
          <a:p>
            <a:pPr algn="ctr" indent="0" marL="0">
              <a:buNone/>
            </a:pPr>
            <a:r>
              <a:rPr lang="en-US" sz="1100" b="1" spc="110" kern="0" dirty="0">
                <a:solidFill>
                  <a:srgbClr val="2EA8FF"/>
                </a:solidFill>
                <a:latin typeface="Inter" pitchFamily="34" charset="0"/>
                <a:ea typeface="Inter" pitchFamily="34" charset="-122"/>
                <a:cs typeface="Inter" pitchFamily="34" charset="-120"/>
              </a:rPr>
              <a:t>ENGINEERING ORCHESTRATOR</a:t>
            </a:r>
            <a:endParaRPr lang="en-US" sz="1100" dirty="0"/>
          </a:p>
        </p:txBody>
      </p:sp>
      <p:sp>
        <p:nvSpPr>
          <p:cNvPr id="13" name="Text 11"/>
          <p:cNvSpPr txBox="1"/>
          <p:nvPr/>
        </p:nvSpPr>
        <p:spPr>
          <a:xfrm>
            <a:off x="3986784" y="2542032"/>
            <a:ext cx="3328416" cy="804672"/>
          </a:xfrm>
          <a:prstGeom prst="rect">
            <a:avLst/>
          </a:prstGeom>
          <a:noFill/>
          <a:ln/>
        </p:spPr>
        <p:txBody>
          <a:bodyPr wrap="square" lIns="0" tIns="0" rIns="0" bIns="0" rtlCol="0" anchor="ctr">
            <a:normAutofit/>
          </a:bodyPr>
          <a:lstStyle/>
          <a:p>
            <a:pPr algn="ctr" indent="0" marL="0">
              <a:buNone/>
            </a:pPr>
            <a:r>
              <a:rPr lang="en-US" sz="2300" b="1" dirty="0">
                <a:solidFill>
                  <a:srgbClr val="F7FAFC"/>
                </a:solidFill>
                <a:latin typeface="Inter" pitchFamily="34" charset="0"/>
                <a:ea typeface="Inter" pitchFamily="34" charset="-122"/>
                <a:cs typeface="Inter" pitchFamily="34" charset="-120"/>
              </a:rPr>
              <a:t>7 agentes + herramientas</a:t>
            </a:r>
            <a:endParaRPr lang="en-US" sz="2300" dirty="0"/>
          </a:p>
          <a:p>
            <a:pPr algn="ctr" indent="0" marL="0">
              <a:buNone/>
            </a:pPr>
            <a:r>
              <a:rPr lang="en-US" sz="2300" b="1" dirty="0">
                <a:solidFill>
                  <a:srgbClr val="F7FAFC"/>
                </a:solidFill>
                <a:latin typeface="Inter" pitchFamily="34" charset="0"/>
                <a:ea typeface="Inter" pitchFamily="34" charset="-122"/>
                <a:cs typeface="Inter" pitchFamily="34" charset="-120"/>
              </a:rPr>
              <a:t>deterministas + gobernanza</a:t>
            </a:r>
            <a:endParaRPr lang="en-US" sz="2300" dirty="0"/>
          </a:p>
        </p:txBody>
      </p:sp>
      <p:sp>
        <p:nvSpPr>
          <p:cNvPr id="14" name="Shape 12"/>
          <p:cNvSpPr/>
          <p:nvPr/>
        </p:nvSpPr>
        <p:spPr>
          <a:xfrm>
            <a:off x="4133088" y="3840480"/>
            <a:ext cx="914400" cy="91440"/>
          </a:xfrm>
          <a:prstGeom prst="rect">
            <a:avLst/>
          </a:prstGeom>
          <a:solidFill>
            <a:srgbClr val="2EA8FF"/>
          </a:solidFill>
          <a:ln w="6350">
            <a:solidFill>
              <a:srgbClr val="2EA8FF"/>
            </a:solidFill>
            <a:prstDash val="solid"/>
          </a:ln>
        </p:spPr>
      </p:sp>
      <p:sp>
        <p:nvSpPr>
          <p:cNvPr id="15" name="Text 13"/>
          <p:cNvSpPr txBox="1"/>
          <p:nvPr/>
        </p:nvSpPr>
        <p:spPr>
          <a:xfrm>
            <a:off x="3950208" y="4023360"/>
            <a:ext cx="1280160" cy="219456"/>
          </a:xfrm>
          <a:prstGeom prst="rect">
            <a:avLst/>
          </a:prstGeom>
          <a:noFill/>
          <a:ln/>
        </p:spPr>
        <p:txBody>
          <a:bodyPr wrap="square" lIns="0" tIns="0" rIns="0" bIns="0" rtlCol="0" anchor="ctr">
            <a:normAutofit/>
          </a:bodyPr>
          <a:lstStyle/>
          <a:p>
            <a:pPr algn="ctr" indent="0" marL="0">
              <a:buNone/>
            </a:pPr>
            <a:r>
              <a:rPr lang="en-US" sz="1050" dirty="0">
                <a:solidFill>
                  <a:srgbClr val="8FA3B8"/>
                </a:solidFill>
                <a:latin typeface="Inter" pitchFamily="34" charset="0"/>
                <a:ea typeface="Inter" pitchFamily="34" charset="-122"/>
                <a:cs typeface="Inter" pitchFamily="34" charset="-120"/>
              </a:rPr>
              <a:t>Razonamiento</a:t>
            </a:r>
            <a:endParaRPr lang="en-US" sz="1050" dirty="0"/>
          </a:p>
        </p:txBody>
      </p:sp>
      <p:sp>
        <p:nvSpPr>
          <p:cNvPr id="16" name="Shape 14"/>
          <p:cNvSpPr/>
          <p:nvPr/>
        </p:nvSpPr>
        <p:spPr>
          <a:xfrm>
            <a:off x="5184648" y="3840480"/>
            <a:ext cx="914400" cy="91440"/>
          </a:xfrm>
          <a:prstGeom prst="rect">
            <a:avLst/>
          </a:prstGeom>
          <a:solidFill>
            <a:srgbClr val="45D0E6"/>
          </a:solidFill>
          <a:ln w="6350">
            <a:solidFill>
              <a:srgbClr val="45D0E6"/>
            </a:solidFill>
            <a:prstDash val="solid"/>
          </a:ln>
        </p:spPr>
      </p:sp>
      <p:sp>
        <p:nvSpPr>
          <p:cNvPr id="17" name="Text 15"/>
          <p:cNvSpPr txBox="1"/>
          <p:nvPr/>
        </p:nvSpPr>
        <p:spPr>
          <a:xfrm>
            <a:off x="5047488" y="4023360"/>
            <a:ext cx="1280160" cy="219456"/>
          </a:xfrm>
          <a:prstGeom prst="rect">
            <a:avLst/>
          </a:prstGeom>
          <a:noFill/>
          <a:ln/>
        </p:spPr>
        <p:txBody>
          <a:bodyPr wrap="square" lIns="0" tIns="0" rIns="0" bIns="0" rtlCol="0" anchor="ctr">
            <a:normAutofit/>
          </a:bodyPr>
          <a:lstStyle/>
          <a:p>
            <a:pPr algn="ctr" indent="0" marL="0">
              <a:buNone/>
            </a:pPr>
            <a:r>
              <a:rPr lang="en-US" sz="1050" dirty="0">
                <a:solidFill>
                  <a:srgbClr val="8FA3B8"/>
                </a:solidFill>
                <a:latin typeface="Inter" pitchFamily="34" charset="0"/>
                <a:ea typeface="Inter" pitchFamily="34" charset="-122"/>
                <a:cs typeface="Inter" pitchFamily="34" charset="-120"/>
              </a:rPr>
              <a:t>Herramientas</a:t>
            </a:r>
            <a:endParaRPr lang="en-US" sz="1050" dirty="0"/>
          </a:p>
        </p:txBody>
      </p:sp>
      <p:sp>
        <p:nvSpPr>
          <p:cNvPr id="18" name="Shape 16"/>
          <p:cNvSpPr/>
          <p:nvPr/>
        </p:nvSpPr>
        <p:spPr>
          <a:xfrm>
            <a:off x="6236208" y="3840480"/>
            <a:ext cx="914400" cy="91440"/>
          </a:xfrm>
          <a:prstGeom prst="rect">
            <a:avLst/>
          </a:prstGeom>
          <a:solidFill>
            <a:srgbClr val="38D996"/>
          </a:solidFill>
          <a:ln w="6350">
            <a:solidFill>
              <a:srgbClr val="38D996"/>
            </a:solidFill>
            <a:prstDash val="solid"/>
          </a:ln>
        </p:spPr>
      </p:sp>
      <p:sp>
        <p:nvSpPr>
          <p:cNvPr id="19" name="Text 17"/>
          <p:cNvSpPr txBox="1"/>
          <p:nvPr/>
        </p:nvSpPr>
        <p:spPr>
          <a:xfrm>
            <a:off x="6144768" y="4023360"/>
            <a:ext cx="1280160" cy="219456"/>
          </a:xfrm>
          <a:prstGeom prst="rect">
            <a:avLst/>
          </a:prstGeom>
          <a:noFill/>
          <a:ln/>
        </p:spPr>
        <p:txBody>
          <a:bodyPr wrap="square" lIns="0" tIns="0" rIns="0" bIns="0" rtlCol="0" anchor="ctr">
            <a:normAutofit/>
          </a:bodyPr>
          <a:lstStyle/>
          <a:p>
            <a:pPr algn="ctr" indent="0" marL="0">
              <a:buNone/>
            </a:pPr>
            <a:r>
              <a:rPr lang="en-US" sz="1050" dirty="0">
                <a:solidFill>
                  <a:srgbClr val="8FA3B8"/>
                </a:solidFill>
                <a:latin typeface="Inter" pitchFamily="34" charset="0"/>
                <a:ea typeface="Inter" pitchFamily="34" charset="-122"/>
                <a:cs typeface="Inter" pitchFamily="34" charset="-120"/>
              </a:rPr>
              <a:t>Gobernanza</a:t>
            </a:r>
            <a:endParaRPr lang="en-US" sz="1050" dirty="0"/>
          </a:p>
        </p:txBody>
      </p:sp>
      <p:sp>
        <p:nvSpPr>
          <p:cNvPr id="20" name="Shape 18"/>
          <p:cNvSpPr/>
          <p:nvPr/>
        </p:nvSpPr>
        <p:spPr>
          <a:xfrm>
            <a:off x="7818120" y="2980944"/>
            <a:ext cx="658368" cy="475488"/>
          </a:xfrm>
          <a:prstGeom prst="rightArrow">
            <a:avLst/>
          </a:prstGeom>
          <a:solidFill>
            <a:srgbClr val="38D996"/>
          </a:solidFill>
          <a:ln w="12700">
            <a:solidFill>
              <a:srgbClr val="38D996"/>
            </a:solidFill>
            <a:prstDash val="solid"/>
          </a:ln>
        </p:spPr>
      </p:sp>
      <p:sp>
        <p:nvSpPr>
          <p:cNvPr id="21" name="Shape 19"/>
          <p:cNvSpPr/>
          <p:nvPr/>
        </p:nvSpPr>
        <p:spPr>
          <a:xfrm>
            <a:off x="8522208" y="2103120"/>
            <a:ext cx="2761488" cy="2542032"/>
          </a:xfrm>
          <a:prstGeom prst="roundRect">
            <a:avLst>
              <a:gd name="adj" fmla="val 4317"/>
            </a:avLst>
          </a:prstGeom>
          <a:solidFill>
            <a:srgbClr val="0E2235"/>
          </a:solidFill>
          <a:ln w="12700">
            <a:solidFill>
              <a:srgbClr val="274258"/>
            </a:solidFill>
            <a:prstDash val="solid"/>
          </a:ln>
        </p:spPr>
      </p:sp>
      <p:sp>
        <p:nvSpPr>
          <p:cNvPr id="22" name="Shape 20"/>
          <p:cNvSpPr/>
          <p:nvPr/>
        </p:nvSpPr>
        <p:spPr>
          <a:xfrm>
            <a:off x="8732520" y="2313432"/>
            <a:ext cx="768096" cy="329184"/>
          </a:xfrm>
          <a:prstGeom prst="roundRect">
            <a:avLst>
              <a:gd name="adj" fmla="val 44444"/>
            </a:avLst>
          </a:prstGeom>
          <a:solidFill>
            <a:srgbClr val="38D996"/>
          </a:solidFill>
          <a:ln w="12700">
            <a:solidFill>
              <a:srgbClr val="38D996"/>
            </a:solidFill>
            <a:prstDash val="solid"/>
          </a:ln>
        </p:spPr>
      </p:sp>
      <p:sp>
        <p:nvSpPr>
          <p:cNvPr id="23" name="Text 21"/>
          <p:cNvSpPr txBox="1"/>
          <p:nvPr/>
        </p:nvSpPr>
        <p:spPr>
          <a:xfrm>
            <a:off x="8805672" y="2331720"/>
            <a:ext cx="621792" cy="283464"/>
          </a:xfrm>
          <a:prstGeom prst="rect">
            <a:avLst/>
          </a:prstGeom>
          <a:noFill/>
          <a:ln/>
        </p:spPr>
        <p:txBody>
          <a:bodyPr wrap="square" lIns="0" tIns="0" rIns="0" bIns="0" rtlCol="0" anchor="ctr">
            <a:normAutofit/>
          </a:bodyPr>
          <a:lstStyle/>
          <a:p>
            <a:pPr algn="ctr" indent="0" marL="0">
              <a:buNone/>
            </a:pPr>
            <a:r>
              <a:rPr lang="en-US" sz="1000" b="1" dirty="0">
                <a:solidFill>
                  <a:srgbClr val="06111D"/>
                </a:solidFill>
                <a:latin typeface="Inter" pitchFamily="34" charset="0"/>
                <a:ea typeface="Inter" pitchFamily="34" charset="-122"/>
                <a:cs typeface="Inter" pitchFamily="34" charset="-120"/>
              </a:rPr>
              <a:t>SALIDA</a:t>
            </a:r>
            <a:endParaRPr lang="en-US" sz="1000" dirty="0"/>
          </a:p>
        </p:txBody>
      </p:sp>
      <p:sp>
        <p:nvSpPr>
          <p:cNvPr id="24" name="Text 22"/>
          <p:cNvSpPr txBox="1"/>
          <p:nvPr/>
        </p:nvSpPr>
        <p:spPr>
          <a:xfrm>
            <a:off x="8732520" y="2834640"/>
            <a:ext cx="2304288" cy="384048"/>
          </a:xfrm>
          <a:prstGeom prst="rect">
            <a:avLst/>
          </a:prstGeom>
          <a:noFill/>
          <a:ln/>
        </p:spPr>
        <p:txBody>
          <a:bodyPr wrap="square" lIns="0" tIns="0" rIns="0" bIns="0" rtlCol="0" anchor="ctr">
            <a:normAutofit/>
          </a:bodyPr>
          <a:lstStyle/>
          <a:p>
            <a:pPr algn="l" indent="0" marL="0">
              <a:buNone/>
            </a:pPr>
            <a:r>
              <a:rPr lang="en-US" sz="2000" b="1" dirty="0">
                <a:solidFill>
                  <a:srgbClr val="F7FAFC"/>
                </a:solidFill>
                <a:latin typeface="Inter" pitchFamily="34" charset="0"/>
                <a:ea typeface="Inter" pitchFamily="34" charset="-122"/>
                <a:cs typeface="Inter" pitchFamily="34" charset="-120"/>
              </a:rPr>
              <a:t>Artefactos de ingeniería</a:t>
            </a:r>
            <a:endParaRPr lang="en-US" sz="2000" dirty="0"/>
          </a:p>
        </p:txBody>
      </p:sp>
      <p:sp>
        <p:nvSpPr>
          <p:cNvPr id="25" name="Shape 23"/>
          <p:cNvSpPr/>
          <p:nvPr/>
        </p:nvSpPr>
        <p:spPr>
          <a:xfrm>
            <a:off x="8773668" y="3424428"/>
            <a:ext cx="64008" cy="64008"/>
          </a:xfrm>
          <a:prstGeom prst="ellipse">
            <a:avLst/>
          </a:prstGeom>
          <a:solidFill>
            <a:srgbClr val="2EA8FF"/>
          </a:solidFill>
          <a:ln w="12700">
            <a:solidFill>
              <a:srgbClr val="2EA8FF"/>
            </a:solidFill>
            <a:prstDash val="solid"/>
          </a:ln>
        </p:spPr>
      </p:sp>
      <p:sp>
        <p:nvSpPr>
          <p:cNvPr id="26" name="Text 24"/>
          <p:cNvSpPr txBox="1"/>
          <p:nvPr/>
        </p:nvSpPr>
        <p:spPr>
          <a:xfrm>
            <a:off x="8933688" y="3337560"/>
            <a:ext cx="2057400" cy="237744"/>
          </a:xfrm>
          <a:prstGeom prst="rect">
            <a:avLst/>
          </a:prstGeom>
          <a:noFill/>
          <a:ln/>
        </p:spPr>
        <p:txBody>
          <a:bodyPr wrap="square" lIns="0" tIns="0" rIns="0" bIns="0" rtlCol="0" anchor="ctr">
            <a:normAutofit/>
          </a:bodyPr>
          <a:lstStyle/>
          <a:p>
            <a:pPr algn="l" indent="0" marL="0">
              <a:buNone/>
            </a:pPr>
            <a:r>
              <a:rPr lang="en-US" sz="1170" dirty="0">
                <a:solidFill>
                  <a:srgbClr val="DCE6F2"/>
                </a:solidFill>
                <a:latin typeface="Inter" pitchFamily="34" charset="0"/>
                <a:ea typeface="Inter" pitchFamily="34" charset="-122"/>
                <a:cs typeface="Inter" pitchFamily="34" charset="-120"/>
              </a:rPr>
              <a:t>ProductSpec + ArchitectureSpec</a:t>
            </a:r>
            <a:endParaRPr lang="en-US" sz="1170" dirty="0"/>
          </a:p>
        </p:txBody>
      </p:sp>
      <p:sp>
        <p:nvSpPr>
          <p:cNvPr id="27" name="Shape 25"/>
          <p:cNvSpPr/>
          <p:nvPr/>
        </p:nvSpPr>
        <p:spPr>
          <a:xfrm>
            <a:off x="8773668" y="3735324"/>
            <a:ext cx="64008" cy="64008"/>
          </a:xfrm>
          <a:prstGeom prst="ellipse">
            <a:avLst/>
          </a:prstGeom>
          <a:solidFill>
            <a:srgbClr val="2EA8FF"/>
          </a:solidFill>
          <a:ln w="12700">
            <a:solidFill>
              <a:srgbClr val="2EA8FF"/>
            </a:solidFill>
            <a:prstDash val="solid"/>
          </a:ln>
        </p:spPr>
      </p:sp>
      <p:sp>
        <p:nvSpPr>
          <p:cNvPr id="28" name="Text 26"/>
          <p:cNvSpPr txBox="1"/>
          <p:nvPr/>
        </p:nvSpPr>
        <p:spPr>
          <a:xfrm>
            <a:off x="8933688" y="3648456"/>
            <a:ext cx="2057400" cy="237744"/>
          </a:xfrm>
          <a:prstGeom prst="rect">
            <a:avLst/>
          </a:prstGeom>
          <a:noFill/>
          <a:ln/>
        </p:spPr>
        <p:txBody>
          <a:bodyPr wrap="square" lIns="0" tIns="0" rIns="0" bIns="0" rtlCol="0" anchor="ctr">
            <a:normAutofit/>
          </a:bodyPr>
          <a:lstStyle/>
          <a:p>
            <a:pPr algn="l" indent="0" marL="0">
              <a:buNone/>
            </a:pPr>
            <a:r>
              <a:rPr lang="en-US" sz="1170" dirty="0">
                <a:solidFill>
                  <a:srgbClr val="DCE6F2"/>
                </a:solidFill>
                <a:latin typeface="Inter" pitchFamily="34" charset="0"/>
                <a:ea typeface="Inter" pitchFamily="34" charset="-122"/>
                <a:cs typeface="Inter" pitchFamily="34" charset="-120"/>
              </a:rPr>
              <a:t>Cambios de código + tests</a:t>
            </a:r>
            <a:endParaRPr lang="en-US" sz="1170" dirty="0"/>
          </a:p>
        </p:txBody>
      </p:sp>
      <p:sp>
        <p:nvSpPr>
          <p:cNvPr id="29" name="Shape 27"/>
          <p:cNvSpPr/>
          <p:nvPr/>
        </p:nvSpPr>
        <p:spPr>
          <a:xfrm>
            <a:off x="8773668" y="4046220"/>
            <a:ext cx="64008" cy="64008"/>
          </a:xfrm>
          <a:prstGeom prst="ellipse">
            <a:avLst/>
          </a:prstGeom>
          <a:solidFill>
            <a:srgbClr val="2EA8FF"/>
          </a:solidFill>
          <a:ln w="12700">
            <a:solidFill>
              <a:srgbClr val="2EA8FF"/>
            </a:solidFill>
            <a:prstDash val="solid"/>
          </a:ln>
        </p:spPr>
      </p:sp>
      <p:sp>
        <p:nvSpPr>
          <p:cNvPr id="30" name="Text 28"/>
          <p:cNvSpPr txBox="1"/>
          <p:nvPr/>
        </p:nvSpPr>
        <p:spPr>
          <a:xfrm>
            <a:off x="8933688" y="3959352"/>
            <a:ext cx="2057400" cy="237744"/>
          </a:xfrm>
          <a:prstGeom prst="rect">
            <a:avLst/>
          </a:prstGeom>
          <a:noFill/>
          <a:ln/>
        </p:spPr>
        <p:txBody>
          <a:bodyPr wrap="square" lIns="0" tIns="0" rIns="0" bIns="0" rtlCol="0" anchor="ctr">
            <a:normAutofit/>
          </a:bodyPr>
          <a:lstStyle/>
          <a:p>
            <a:pPr algn="l" indent="0" marL="0">
              <a:buNone/>
            </a:pPr>
            <a:r>
              <a:rPr lang="en-US" sz="1170" dirty="0">
                <a:solidFill>
                  <a:srgbClr val="DCE6F2"/>
                </a:solidFill>
                <a:latin typeface="Inter" pitchFamily="34" charset="0"/>
                <a:ea typeface="Inter" pitchFamily="34" charset="-122"/>
                <a:cs typeface="Inter" pitchFamily="34" charset="-120"/>
              </a:rPr>
              <a:t>Build/test/security/review results</a:t>
            </a:r>
            <a:endParaRPr lang="en-US" sz="1170" dirty="0"/>
          </a:p>
        </p:txBody>
      </p:sp>
      <p:sp>
        <p:nvSpPr>
          <p:cNvPr id="31" name="Shape 29"/>
          <p:cNvSpPr/>
          <p:nvPr/>
        </p:nvSpPr>
        <p:spPr>
          <a:xfrm>
            <a:off x="8773668" y="4357116"/>
            <a:ext cx="64008" cy="64008"/>
          </a:xfrm>
          <a:prstGeom prst="ellipse">
            <a:avLst/>
          </a:prstGeom>
          <a:solidFill>
            <a:srgbClr val="38D996"/>
          </a:solidFill>
          <a:ln w="12700">
            <a:solidFill>
              <a:srgbClr val="38D996"/>
            </a:solidFill>
            <a:prstDash val="solid"/>
          </a:ln>
        </p:spPr>
      </p:sp>
      <p:sp>
        <p:nvSpPr>
          <p:cNvPr id="32" name="Text 30"/>
          <p:cNvSpPr txBox="1"/>
          <p:nvPr/>
        </p:nvSpPr>
        <p:spPr>
          <a:xfrm>
            <a:off x="8933688" y="4270248"/>
            <a:ext cx="2057400" cy="237744"/>
          </a:xfrm>
          <a:prstGeom prst="rect">
            <a:avLst/>
          </a:prstGeom>
          <a:noFill/>
          <a:ln/>
        </p:spPr>
        <p:txBody>
          <a:bodyPr wrap="square" lIns="0" tIns="0" rIns="0" bIns="0" rtlCol="0" anchor="ctr">
            <a:normAutofit/>
          </a:bodyPr>
          <a:lstStyle/>
          <a:p>
            <a:pPr algn="l" indent="0" marL="0">
              <a:buNone/>
            </a:pPr>
            <a:r>
              <a:rPr lang="en-US" sz="1170" dirty="0">
                <a:solidFill>
                  <a:srgbClr val="DCE6F2"/>
                </a:solidFill>
                <a:latin typeface="Inter" pitchFamily="34" charset="0"/>
                <a:ea typeface="Inter" pitchFamily="34" charset="-122"/>
                <a:cs typeface="Inter" pitchFamily="34" charset="-120"/>
              </a:rPr>
              <a:t>Rama + commit local + PR payload</a:t>
            </a:r>
            <a:endParaRPr lang="en-US" sz="1170" dirty="0"/>
          </a:p>
        </p:txBody>
      </p:sp>
      <p:sp>
        <p:nvSpPr>
          <p:cNvPr id="33" name="Text 31"/>
          <p:cNvSpPr txBox="1"/>
          <p:nvPr/>
        </p:nvSpPr>
        <p:spPr>
          <a:xfrm>
            <a:off x="713232" y="5202936"/>
            <a:ext cx="2926080" cy="228600"/>
          </a:xfrm>
          <a:prstGeom prst="rect">
            <a:avLst/>
          </a:prstGeom>
          <a:noFill/>
          <a:ln/>
        </p:spPr>
        <p:txBody>
          <a:bodyPr wrap="square" lIns="0" tIns="0" rIns="0" bIns="0" rtlCol="0" anchor="ctr">
            <a:normAutofit/>
          </a:bodyPr>
          <a:lstStyle/>
          <a:p>
            <a:pPr algn="l" indent="0" marL="0">
              <a:buNone/>
            </a:pPr>
            <a:r>
              <a:rPr lang="en-US" sz="1050" b="1" spc="110" kern="0" dirty="0">
                <a:solidFill>
                  <a:srgbClr val="6F879B"/>
                </a:solidFill>
                <a:latin typeface="Inter" pitchFamily="34" charset="0"/>
                <a:ea typeface="Inter" pitchFamily="34" charset="-122"/>
                <a:cs typeface="Inter" pitchFamily="34" charset="-120"/>
              </a:rPr>
              <a:t>SEÑALES DE ALCANCE VERIFICABLE</a:t>
            </a:r>
            <a:endParaRPr lang="en-US" sz="1050" dirty="0"/>
          </a:p>
        </p:txBody>
      </p:sp>
      <p:sp>
        <p:nvSpPr>
          <p:cNvPr id="34" name="Text 32"/>
          <p:cNvSpPr txBox="1"/>
          <p:nvPr/>
        </p:nvSpPr>
        <p:spPr>
          <a:xfrm>
            <a:off x="731520" y="5486400"/>
            <a:ext cx="685800" cy="347472"/>
          </a:xfrm>
          <a:prstGeom prst="rect">
            <a:avLst/>
          </a:prstGeom>
          <a:noFill/>
          <a:ln/>
        </p:spPr>
        <p:txBody>
          <a:bodyPr wrap="square" lIns="0" tIns="0" rIns="0" bIns="0" rtlCol="0" anchor="ctr">
            <a:normAutofit/>
          </a:bodyPr>
          <a:lstStyle/>
          <a:p>
            <a:pPr algn="l" indent="0" marL="0">
              <a:buNone/>
            </a:pPr>
            <a:r>
              <a:rPr lang="en-US" sz="2000" b="1" dirty="0">
                <a:solidFill>
                  <a:srgbClr val="2EA8FF"/>
                </a:solidFill>
                <a:latin typeface="Inter" pitchFamily="34" charset="0"/>
                <a:ea typeface="Inter" pitchFamily="34" charset="-122"/>
                <a:cs typeface="Inter" pitchFamily="34" charset="-120"/>
              </a:rPr>
              <a:t>0.1.0</a:t>
            </a:r>
            <a:endParaRPr lang="en-US" sz="2000" dirty="0"/>
          </a:p>
        </p:txBody>
      </p:sp>
      <p:sp>
        <p:nvSpPr>
          <p:cNvPr id="35" name="Text 33"/>
          <p:cNvSpPr txBox="1"/>
          <p:nvPr/>
        </p:nvSpPr>
        <p:spPr>
          <a:xfrm>
            <a:off x="1389888" y="5522976"/>
            <a:ext cx="1335024" cy="274320"/>
          </a:xfrm>
          <a:prstGeom prst="rect">
            <a:avLst/>
          </a:prstGeom>
          <a:noFill/>
          <a:ln/>
        </p:spPr>
        <p:txBody>
          <a:bodyPr wrap="square" lIns="0" tIns="0" rIns="0" bIns="0" rtlCol="0" anchor="ctr">
            <a:normAutofit/>
          </a:bodyPr>
          <a:lstStyle/>
          <a:p>
            <a:pPr algn="l" indent="0" marL="0">
              <a:buNone/>
            </a:pPr>
            <a:r>
              <a:rPr lang="en-US" sz="1150" dirty="0">
                <a:solidFill>
                  <a:srgbClr val="8FA3B8"/>
                </a:solidFill>
                <a:latin typeface="Inter" pitchFamily="34" charset="0"/>
                <a:ea typeface="Inter" pitchFamily="34" charset="-122"/>
                <a:cs typeface="Inter" pitchFamily="34" charset="-120"/>
              </a:rPr>
              <a:t>versión declarada</a:t>
            </a:r>
            <a:endParaRPr lang="en-US" sz="1150" dirty="0"/>
          </a:p>
        </p:txBody>
      </p:sp>
      <p:sp>
        <p:nvSpPr>
          <p:cNvPr id="36" name="Text 34"/>
          <p:cNvSpPr txBox="1"/>
          <p:nvPr/>
        </p:nvSpPr>
        <p:spPr>
          <a:xfrm>
            <a:off x="2907792" y="5486400"/>
            <a:ext cx="685800" cy="347472"/>
          </a:xfrm>
          <a:prstGeom prst="rect">
            <a:avLst/>
          </a:prstGeom>
          <a:noFill/>
          <a:ln/>
        </p:spPr>
        <p:txBody>
          <a:bodyPr wrap="square" lIns="0" tIns="0" rIns="0" bIns="0" rtlCol="0" anchor="ctr">
            <a:normAutofit/>
          </a:bodyPr>
          <a:lstStyle/>
          <a:p>
            <a:pPr algn="l" indent="0" marL="0">
              <a:buNone/>
            </a:pPr>
            <a:r>
              <a:rPr lang="en-US" sz="2000" b="1" dirty="0">
                <a:solidFill>
                  <a:srgbClr val="2EA8FF"/>
                </a:solidFill>
                <a:latin typeface="Inter" pitchFamily="34" charset="0"/>
                <a:ea typeface="Inter" pitchFamily="34" charset="-122"/>
                <a:cs typeface="Inter" pitchFamily="34" charset="-120"/>
              </a:rPr>
              <a:t>20</a:t>
            </a:r>
            <a:endParaRPr lang="en-US" sz="2000" dirty="0"/>
          </a:p>
        </p:txBody>
      </p:sp>
      <p:sp>
        <p:nvSpPr>
          <p:cNvPr id="37" name="Text 35"/>
          <p:cNvSpPr txBox="1"/>
          <p:nvPr/>
        </p:nvSpPr>
        <p:spPr>
          <a:xfrm>
            <a:off x="3566160" y="5522976"/>
            <a:ext cx="1335024" cy="274320"/>
          </a:xfrm>
          <a:prstGeom prst="rect">
            <a:avLst/>
          </a:prstGeom>
          <a:noFill/>
          <a:ln/>
        </p:spPr>
        <p:txBody>
          <a:bodyPr wrap="square" lIns="0" tIns="0" rIns="0" bIns="0" rtlCol="0" anchor="ctr">
            <a:normAutofit/>
          </a:bodyPr>
          <a:lstStyle/>
          <a:p>
            <a:pPr algn="l" indent="0" marL="0">
              <a:buNone/>
            </a:pPr>
            <a:r>
              <a:rPr lang="en-US" sz="1150" dirty="0">
                <a:solidFill>
                  <a:srgbClr val="8FA3B8"/>
                </a:solidFill>
                <a:latin typeface="Inter" pitchFamily="34" charset="0"/>
                <a:ea typeface="Inter" pitchFamily="34" charset="-122"/>
                <a:cs typeface="Inter" pitchFamily="34" charset="-120"/>
              </a:rPr>
              <a:t>SPECs en estructura</a:t>
            </a:r>
            <a:endParaRPr lang="en-US" sz="1150" dirty="0"/>
          </a:p>
        </p:txBody>
      </p:sp>
      <p:sp>
        <p:nvSpPr>
          <p:cNvPr id="38" name="Text 36"/>
          <p:cNvSpPr txBox="1"/>
          <p:nvPr/>
        </p:nvSpPr>
        <p:spPr>
          <a:xfrm>
            <a:off x="5084064" y="5486400"/>
            <a:ext cx="685800" cy="347472"/>
          </a:xfrm>
          <a:prstGeom prst="rect">
            <a:avLst/>
          </a:prstGeom>
          <a:noFill/>
          <a:ln/>
        </p:spPr>
        <p:txBody>
          <a:bodyPr wrap="square" lIns="0" tIns="0" rIns="0" bIns="0" rtlCol="0" anchor="ctr">
            <a:normAutofit/>
          </a:bodyPr>
          <a:lstStyle/>
          <a:p>
            <a:pPr algn="l" indent="0" marL="0">
              <a:buNone/>
            </a:pPr>
            <a:r>
              <a:rPr lang="en-US" sz="2000" b="1" dirty="0">
                <a:solidFill>
                  <a:srgbClr val="2EA8FF"/>
                </a:solidFill>
                <a:latin typeface="Inter" pitchFamily="34" charset="0"/>
                <a:ea typeface="Inter" pitchFamily="34" charset="-122"/>
                <a:cs typeface="Inter" pitchFamily="34" charset="-120"/>
              </a:rPr>
              <a:t>7</a:t>
            </a:r>
            <a:endParaRPr lang="en-US" sz="2000" dirty="0"/>
          </a:p>
        </p:txBody>
      </p:sp>
      <p:sp>
        <p:nvSpPr>
          <p:cNvPr id="39" name="Text 37"/>
          <p:cNvSpPr txBox="1"/>
          <p:nvPr/>
        </p:nvSpPr>
        <p:spPr>
          <a:xfrm>
            <a:off x="5742432" y="5522976"/>
            <a:ext cx="1335024" cy="274320"/>
          </a:xfrm>
          <a:prstGeom prst="rect">
            <a:avLst/>
          </a:prstGeom>
          <a:noFill/>
          <a:ln/>
        </p:spPr>
        <p:txBody>
          <a:bodyPr wrap="square" lIns="0" tIns="0" rIns="0" bIns="0" rtlCol="0" anchor="ctr">
            <a:normAutofit/>
          </a:bodyPr>
          <a:lstStyle/>
          <a:p>
            <a:pPr algn="l" indent="0" marL="0">
              <a:buNone/>
            </a:pPr>
            <a:r>
              <a:rPr lang="en-US" sz="1150" dirty="0">
                <a:solidFill>
                  <a:srgbClr val="8FA3B8"/>
                </a:solidFill>
                <a:latin typeface="Inter" pitchFamily="34" charset="0"/>
                <a:ea typeface="Inter" pitchFamily="34" charset="-122"/>
                <a:cs typeface="Inter" pitchFamily="34" charset="-120"/>
              </a:rPr>
              <a:t>agentes instanciados</a:t>
            </a:r>
            <a:endParaRPr lang="en-US" sz="1150" dirty="0"/>
          </a:p>
        </p:txBody>
      </p:sp>
      <p:sp>
        <p:nvSpPr>
          <p:cNvPr id="40" name="Text 38"/>
          <p:cNvSpPr txBox="1"/>
          <p:nvPr/>
        </p:nvSpPr>
        <p:spPr>
          <a:xfrm>
            <a:off x="7260336" y="5486400"/>
            <a:ext cx="685800" cy="347472"/>
          </a:xfrm>
          <a:prstGeom prst="rect">
            <a:avLst/>
          </a:prstGeom>
          <a:noFill/>
          <a:ln/>
        </p:spPr>
        <p:txBody>
          <a:bodyPr wrap="square" lIns="0" tIns="0" rIns="0" bIns="0" rtlCol="0" anchor="ctr">
            <a:normAutofit/>
          </a:bodyPr>
          <a:lstStyle/>
          <a:p>
            <a:pPr algn="l" indent="0" marL="0">
              <a:buNone/>
            </a:pPr>
            <a:r>
              <a:rPr lang="en-US" sz="2000" b="1" dirty="0">
                <a:solidFill>
                  <a:srgbClr val="2EA8FF"/>
                </a:solidFill>
                <a:latin typeface="Inter" pitchFamily="34" charset="0"/>
                <a:ea typeface="Inter" pitchFamily="34" charset="-122"/>
                <a:cs typeface="Inter" pitchFamily="34" charset="-120"/>
              </a:rPr>
              <a:t>4</a:t>
            </a:r>
            <a:endParaRPr lang="en-US" sz="2000" dirty="0"/>
          </a:p>
        </p:txBody>
      </p:sp>
      <p:sp>
        <p:nvSpPr>
          <p:cNvPr id="41" name="Text 39"/>
          <p:cNvSpPr txBox="1"/>
          <p:nvPr/>
        </p:nvSpPr>
        <p:spPr>
          <a:xfrm>
            <a:off x="7918704" y="5522976"/>
            <a:ext cx="1335024" cy="274320"/>
          </a:xfrm>
          <a:prstGeom prst="rect">
            <a:avLst/>
          </a:prstGeom>
          <a:noFill/>
          <a:ln/>
        </p:spPr>
        <p:txBody>
          <a:bodyPr wrap="square" lIns="0" tIns="0" rIns="0" bIns="0" rtlCol="0" anchor="ctr">
            <a:normAutofit/>
          </a:bodyPr>
          <a:lstStyle/>
          <a:p>
            <a:pPr algn="l" indent="0" marL="0">
              <a:buNone/>
            </a:pPr>
            <a:r>
              <a:rPr lang="en-US" sz="1150" dirty="0">
                <a:solidFill>
                  <a:srgbClr val="8FA3B8"/>
                </a:solidFill>
                <a:latin typeface="Inter" pitchFamily="34" charset="0"/>
                <a:ea typeface="Inter" pitchFamily="34" charset="-122"/>
                <a:cs typeface="Inter" pitchFamily="34" charset="-120"/>
              </a:rPr>
              <a:t>providers implementados</a:t>
            </a:r>
            <a:endParaRPr lang="en-US" sz="1150" dirty="0"/>
          </a:p>
        </p:txBody>
      </p:sp>
      <p:sp>
        <p:nvSpPr>
          <p:cNvPr id="42" name="Text 40"/>
          <p:cNvSpPr txBox="1"/>
          <p:nvPr/>
        </p:nvSpPr>
        <p:spPr>
          <a:xfrm>
            <a:off x="9436608" y="5486400"/>
            <a:ext cx="685800" cy="347472"/>
          </a:xfrm>
          <a:prstGeom prst="rect">
            <a:avLst/>
          </a:prstGeom>
          <a:noFill/>
          <a:ln/>
        </p:spPr>
        <p:txBody>
          <a:bodyPr wrap="square" lIns="0" tIns="0" rIns="0" bIns="0" rtlCol="0" anchor="ctr">
            <a:normAutofit/>
          </a:bodyPr>
          <a:lstStyle/>
          <a:p>
            <a:pPr algn="l" indent="0" marL="0">
              <a:buNone/>
            </a:pPr>
            <a:r>
              <a:rPr lang="en-US" sz="2000" b="1" dirty="0">
                <a:solidFill>
                  <a:srgbClr val="38D996"/>
                </a:solidFill>
                <a:latin typeface="Inter" pitchFamily="34" charset="0"/>
                <a:ea typeface="Inter" pitchFamily="34" charset="-122"/>
                <a:cs typeface="Inter" pitchFamily="34" charset="-120"/>
              </a:rPr>
              <a:t>2</a:t>
            </a:r>
            <a:endParaRPr lang="en-US" sz="2000" dirty="0"/>
          </a:p>
        </p:txBody>
      </p:sp>
      <p:sp>
        <p:nvSpPr>
          <p:cNvPr id="43" name="Text 41"/>
          <p:cNvSpPr txBox="1"/>
          <p:nvPr/>
        </p:nvSpPr>
        <p:spPr>
          <a:xfrm>
            <a:off x="10094976" y="5522976"/>
            <a:ext cx="1335024" cy="274320"/>
          </a:xfrm>
          <a:prstGeom prst="rect">
            <a:avLst/>
          </a:prstGeom>
          <a:noFill/>
          <a:ln/>
        </p:spPr>
        <p:txBody>
          <a:bodyPr wrap="square" lIns="0" tIns="0" rIns="0" bIns="0" rtlCol="0" anchor="ctr">
            <a:normAutofit/>
          </a:bodyPr>
          <a:lstStyle/>
          <a:p>
            <a:pPr algn="l" indent="0" marL="0">
              <a:buNone/>
            </a:pPr>
            <a:r>
              <a:rPr lang="en-US" sz="1150" dirty="0">
                <a:solidFill>
                  <a:srgbClr val="8FA3B8"/>
                </a:solidFill>
                <a:latin typeface="Inter" pitchFamily="34" charset="0"/>
                <a:ea typeface="Inter" pitchFamily="34" charset="-122"/>
                <a:cs typeface="Inter" pitchFamily="34" charset="-120"/>
              </a:rPr>
              <a:t>backends de ejecución</a:t>
            </a:r>
            <a:endParaRPr lang="en-US" sz="1150" dirty="0"/>
          </a:p>
        </p:txBody>
      </p:sp>
      <p:sp>
        <p:nvSpPr>
          <p:cNvPr id="25" name="Slide Number Placeholder 0"/>
          <p:cNvSpPr>
            <a:spLocks noGrp="1"/>
          </p:cNvSpPr>
          <p:nvPr>
            <p:ph type="sldNum" sz="quarter" idx="4294967295"/>
          </p:nvPr>
        </p:nvSpPr>
        <p:spPr>
          <a:xfrm>
            <a:off x="11192256" y="6556248"/>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F879B"/>
                </a:solidFill>
                <a:latin typeface="Inter"/>
                <a:ea typeface="Inter"/>
                <a:cs typeface="Inter"/>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21792" y="384048"/>
            <a:ext cx="2926080" cy="256032"/>
          </a:xfrm>
          <a:prstGeom prst="rect">
            <a:avLst/>
          </a:prstGeom>
          <a:noFill/>
          <a:ln/>
        </p:spPr>
        <p:txBody>
          <a:bodyPr wrap="square" lIns="0" tIns="0" rIns="0" bIns="0" rtlCol="0" anchor="ctr">
            <a:normAutofit/>
          </a:bodyPr>
          <a:lstStyle/>
          <a:p>
            <a:pPr algn="l" indent="0" marL="0">
              <a:buNone/>
            </a:pPr>
            <a:r>
              <a:rPr lang="en-US" sz="1050" b="1" spc="160" kern="0" dirty="0">
                <a:solidFill>
                  <a:srgbClr val="2EA8FF"/>
                </a:solidFill>
                <a:latin typeface="Inter" pitchFamily="34" charset="0"/>
                <a:ea typeface="Inter" pitchFamily="34" charset="-122"/>
                <a:cs typeface="Inter" pitchFamily="34" charset="-120"/>
              </a:rPr>
              <a:t>03 · ARQUITECTURA</a:t>
            </a:r>
            <a:endParaRPr lang="en-US" sz="1050" dirty="0"/>
          </a:p>
        </p:txBody>
      </p:sp>
      <p:sp>
        <p:nvSpPr>
          <p:cNvPr id="3" name="Text 1"/>
          <p:cNvSpPr txBox="1"/>
          <p:nvPr/>
        </p:nvSpPr>
        <p:spPr>
          <a:xfrm>
            <a:off x="621792" y="713232"/>
            <a:ext cx="10927080" cy="530352"/>
          </a:xfrm>
          <a:prstGeom prst="rect">
            <a:avLst/>
          </a:prstGeom>
          <a:noFill/>
          <a:ln/>
        </p:spPr>
        <p:txBody>
          <a:bodyPr wrap="square" lIns="0" tIns="0" rIns="0" bIns="0" rtlCol="0" anchor="ctr">
            <a:normAutofit/>
          </a:bodyPr>
          <a:lstStyle/>
          <a:p>
            <a:pPr algn="l" indent="0" marL="0">
              <a:buNone/>
            </a:pPr>
            <a:r>
              <a:rPr lang="en-US" sz="3200" b="1" dirty="0">
                <a:solidFill>
                  <a:srgbClr val="F7FAFC"/>
                </a:solidFill>
                <a:latin typeface="Inter" pitchFamily="34" charset="0"/>
                <a:ea typeface="Inter" pitchFamily="34" charset="-122"/>
                <a:cs typeface="Inter" pitchFamily="34" charset="-120"/>
              </a:rPr>
              <a:t>Tres capas separan creatividad, ejecución y control</a:t>
            </a:r>
            <a:endParaRPr lang="en-US" sz="3200" dirty="0"/>
          </a:p>
        </p:txBody>
      </p:sp>
      <p:sp>
        <p:nvSpPr>
          <p:cNvPr id="4" name="Text 2"/>
          <p:cNvSpPr txBox="1"/>
          <p:nvPr/>
        </p:nvSpPr>
        <p:spPr>
          <a:xfrm>
            <a:off x="621792" y="1261872"/>
            <a:ext cx="10744200" cy="384048"/>
          </a:xfrm>
          <a:prstGeom prst="rect">
            <a:avLst/>
          </a:prstGeom>
          <a:noFill/>
          <a:ln/>
        </p:spPr>
        <p:txBody>
          <a:bodyPr wrap="square" lIns="0" tIns="0" rIns="0" bIns="0" rtlCol="0" anchor="ctr">
            <a:normAutofit/>
          </a:bodyPr>
          <a:lstStyle/>
          <a:p>
            <a:pPr algn="l" indent="0" marL="0">
              <a:buNone/>
            </a:pPr>
            <a:r>
              <a:rPr lang="en-US" sz="1550" dirty="0">
                <a:solidFill>
                  <a:srgbClr val="8FA3B8"/>
                </a:solidFill>
                <a:latin typeface="Inter" pitchFamily="34" charset="0"/>
                <a:ea typeface="Inter" pitchFamily="34" charset="-122"/>
                <a:cs typeface="Inter" pitchFamily="34" charset="-120"/>
              </a:rPr>
              <a:t>El diseño evita que el LLM tenga control directo e irrestricto sobre el pipeline.</a:t>
            </a:r>
            <a:endParaRPr lang="en-US" sz="1550" dirty="0"/>
          </a:p>
        </p:txBody>
      </p:sp>
      <p:sp>
        <p:nvSpPr>
          <p:cNvPr id="5" name="Text 3"/>
          <p:cNvSpPr txBox="1"/>
          <p:nvPr/>
        </p:nvSpPr>
        <p:spPr>
          <a:xfrm>
            <a:off x="667512" y="1874520"/>
            <a:ext cx="914400" cy="219456"/>
          </a:xfrm>
          <a:prstGeom prst="rect">
            <a:avLst/>
          </a:prstGeom>
          <a:noFill/>
          <a:ln/>
        </p:spPr>
        <p:txBody>
          <a:bodyPr wrap="square" lIns="0" tIns="0" rIns="0" bIns="0" rtlCol="0" anchor="ctr">
            <a:normAutofit/>
          </a:bodyPr>
          <a:lstStyle/>
          <a:p>
            <a:pPr algn="l" indent="0" marL="0">
              <a:buNone/>
            </a:pPr>
            <a:r>
              <a:rPr lang="en-US" sz="1050" b="1" spc="110" kern="0" dirty="0">
                <a:solidFill>
                  <a:srgbClr val="6F879B"/>
                </a:solidFill>
                <a:latin typeface="Inter" pitchFamily="34" charset="0"/>
                <a:ea typeface="Inter" pitchFamily="34" charset="-122"/>
                <a:cs typeface="Inter" pitchFamily="34" charset="-120"/>
              </a:rPr>
              <a:t>ENTRADA</a:t>
            </a:r>
            <a:endParaRPr lang="en-US" sz="1050" dirty="0"/>
          </a:p>
        </p:txBody>
      </p:sp>
      <p:sp>
        <p:nvSpPr>
          <p:cNvPr id="6" name="Shape 4"/>
          <p:cNvSpPr/>
          <p:nvPr/>
        </p:nvSpPr>
        <p:spPr>
          <a:xfrm>
            <a:off x="667512" y="2176272"/>
            <a:ext cx="1325880" cy="3355848"/>
          </a:xfrm>
          <a:prstGeom prst="roundRect">
            <a:avLst>
              <a:gd name="adj" fmla="val 8276"/>
            </a:avLst>
          </a:prstGeom>
          <a:solidFill>
            <a:srgbClr val="0A1B2A"/>
          </a:solidFill>
          <a:ln w="12700">
            <a:solidFill>
              <a:srgbClr val="274258"/>
            </a:solidFill>
            <a:prstDash val="solid"/>
          </a:ln>
        </p:spPr>
      </p:sp>
      <p:sp>
        <p:nvSpPr>
          <p:cNvPr id="7" name="Text 5"/>
          <p:cNvSpPr txBox="1"/>
          <p:nvPr/>
        </p:nvSpPr>
        <p:spPr>
          <a:xfrm>
            <a:off x="832104" y="2798064"/>
            <a:ext cx="1005840" cy="786384"/>
          </a:xfrm>
          <a:prstGeom prst="rect">
            <a:avLst/>
          </a:prstGeom>
          <a:noFill/>
          <a:ln/>
        </p:spPr>
        <p:txBody>
          <a:bodyPr wrap="square" lIns="0" tIns="0" rIns="0" bIns="0" rtlCol="0" anchor="ctr">
            <a:normAutofit/>
          </a:bodyPr>
          <a:lstStyle/>
          <a:p>
            <a:pPr algn="ctr" indent="0" marL="0">
              <a:buNone/>
            </a:pPr>
            <a:r>
              <a:rPr lang="en-US" sz="1800" b="1" dirty="0">
                <a:solidFill>
                  <a:srgbClr val="F7FAFC"/>
                </a:solidFill>
                <a:latin typeface="Inter" pitchFamily="34" charset="0"/>
                <a:ea typeface="Inter" pitchFamily="34" charset="-122"/>
                <a:cs typeface="Inter" pitchFamily="34" charset="-120"/>
              </a:rPr>
              <a:t>Requisito</a:t>
            </a:r>
            <a:endParaRPr lang="en-US" sz="1800" dirty="0"/>
          </a:p>
          <a:p>
            <a:pPr algn="ctr" indent="0" marL="0">
              <a:buNone/>
            </a:pPr>
            <a:r>
              <a:rPr lang="en-US" sz="1800" b="1" dirty="0">
                <a:solidFill>
                  <a:srgbClr val="F7FAFC"/>
                </a:solidFill>
                <a:latin typeface="Inter" pitchFamily="34" charset="0"/>
                <a:ea typeface="Inter" pitchFamily="34" charset="-122"/>
                <a:cs typeface="Inter" pitchFamily="34" charset="-120"/>
              </a:rPr>
              <a:t>+ contexto</a:t>
            </a:r>
            <a:endParaRPr lang="en-US" sz="1800" dirty="0"/>
          </a:p>
          <a:p>
            <a:pPr algn="ctr" indent="0" marL="0">
              <a:buNone/>
            </a:pPr>
            <a:r>
              <a:rPr lang="en-US" sz="1800" b="1" dirty="0">
                <a:solidFill>
                  <a:srgbClr val="F7FAFC"/>
                </a:solidFill>
                <a:latin typeface="Inter" pitchFamily="34" charset="0"/>
                <a:ea typeface="Inter" pitchFamily="34" charset="-122"/>
                <a:cs typeface="Inter" pitchFamily="34" charset="-120"/>
              </a:rPr>
              <a:t>del repo</a:t>
            </a:r>
            <a:endParaRPr lang="en-US" sz="1800" dirty="0"/>
          </a:p>
        </p:txBody>
      </p:sp>
      <p:sp>
        <p:nvSpPr>
          <p:cNvPr id="8" name="Text 6"/>
          <p:cNvSpPr txBox="1"/>
          <p:nvPr/>
        </p:nvSpPr>
        <p:spPr>
          <a:xfrm>
            <a:off x="813816" y="3877056"/>
            <a:ext cx="1051560" cy="274320"/>
          </a:xfrm>
          <a:prstGeom prst="rect">
            <a:avLst/>
          </a:prstGeom>
          <a:noFill/>
          <a:ln/>
        </p:spPr>
        <p:txBody>
          <a:bodyPr wrap="square" lIns="0" tIns="0" rIns="0" bIns="0" rtlCol="0" anchor="ctr">
            <a:normAutofit/>
          </a:bodyPr>
          <a:lstStyle/>
          <a:p>
            <a:pPr algn="ctr" indent="0" marL="0">
              <a:buNone/>
            </a:pPr>
            <a:r>
              <a:rPr lang="en-US" sz="1100" b="1" dirty="0">
                <a:solidFill>
                  <a:srgbClr val="FF5B6E"/>
                </a:solidFill>
                <a:latin typeface="Inter" pitchFamily="34" charset="0"/>
                <a:ea typeface="Inter" pitchFamily="34" charset="-122"/>
                <a:cs typeface="Inter" pitchFamily="34" charset="-120"/>
              </a:rPr>
              <a:t>no confiable</a:t>
            </a:r>
            <a:endParaRPr lang="en-US" sz="1100" dirty="0"/>
          </a:p>
        </p:txBody>
      </p:sp>
      <p:sp>
        <p:nvSpPr>
          <p:cNvPr id="9" name="Shape 7"/>
          <p:cNvSpPr/>
          <p:nvPr/>
        </p:nvSpPr>
        <p:spPr>
          <a:xfrm>
            <a:off x="2084832" y="3584448"/>
            <a:ext cx="475488" cy="384048"/>
          </a:xfrm>
          <a:prstGeom prst="rightArrow">
            <a:avLst/>
          </a:prstGeom>
          <a:solidFill>
            <a:srgbClr val="1B75FF"/>
          </a:solidFill>
          <a:ln w="12700">
            <a:solidFill>
              <a:srgbClr val="1B75FF"/>
            </a:solidFill>
            <a:prstDash val="solid"/>
          </a:ln>
        </p:spPr>
      </p:sp>
      <p:sp>
        <p:nvSpPr>
          <p:cNvPr id="10" name="Shape 8"/>
          <p:cNvSpPr/>
          <p:nvPr/>
        </p:nvSpPr>
        <p:spPr>
          <a:xfrm>
            <a:off x="2624328" y="1810512"/>
            <a:ext cx="6711696" cy="1133856"/>
          </a:xfrm>
          <a:prstGeom prst="roundRect">
            <a:avLst>
              <a:gd name="adj" fmla="val 9677"/>
            </a:avLst>
          </a:prstGeom>
          <a:solidFill>
            <a:srgbClr val="102842"/>
          </a:solidFill>
          <a:ln w="12700">
            <a:solidFill>
              <a:srgbClr val="2EA8FF"/>
            </a:solidFill>
            <a:prstDash val="solid"/>
          </a:ln>
        </p:spPr>
      </p:sp>
      <p:sp>
        <p:nvSpPr>
          <p:cNvPr id="11" name="Shape 9"/>
          <p:cNvSpPr/>
          <p:nvPr/>
        </p:nvSpPr>
        <p:spPr>
          <a:xfrm>
            <a:off x="2834640" y="2011680"/>
            <a:ext cx="438912" cy="329184"/>
          </a:xfrm>
          <a:prstGeom prst="roundRect">
            <a:avLst>
              <a:gd name="adj" fmla="val 44444"/>
            </a:avLst>
          </a:prstGeom>
          <a:solidFill>
            <a:srgbClr val="2EA8FF"/>
          </a:solidFill>
          <a:ln w="12700">
            <a:solidFill>
              <a:srgbClr val="2EA8FF"/>
            </a:solidFill>
            <a:prstDash val="solid"/>
          </a:ln>
        </p:spPr>
      </p:sp>
      <p:sp>
        <p:nvSpPr>
          <p:cNvPr id="12" name="Text 10"/>
          <p:cNvSpPr txBox="1"/>
          <p:nvPr/>
        </p:nvSpPr>
        <p:spPr>
          <a:xfrm>
            <a:off x="2907792" y="2029968"/>
            <a:ext cx="292608" cy="283464"/>
          </a:xfrm>
          <a:prstGeom prst="rect">
            <a:avLst/>
          </a:prstGeom>
          <a:noFill/>
          <a:ln/>
        </p:spPr>
        <p:txBody>
          <a:bodyPr wrap="square" lIns="0" tIns="0" rIns="0" bIns="0" rtlCol="0" anchor="ctr">
            <a:normAutofit/>
          </a:bodyPr>
          <a:lstStyle/>
          <a:p>
            <a:pPr algn="ctr" indent="0" marL="0">
              <a:buNone/>
            </a:pPr>
            <a:r>
              <a:rPr lang="en-US" sz="950" b="1" dirty="0">
                <a:solidFill>
                  <a:srgbClr val="F7FAFC"/>
                </a:solidFill>
                <a:latin typeface="Inter" pitchFamily="34" charset="0"/>
                <a:ea typeface="Inter" pitchFamily="34" charset="-122"/>
                <a:cs typeface="Inter" pitchFamily="34" charset="-120"/>
              </a:rPr>
              <a:t>01</a:t>
            </a:r>
            <a:endParaRPr lang="en-US" sz="950" dirty="0"/>
          </a:p>
        </p:txBody>
      </p:sp>
      <p:sp>
        <p:nvSpPr>
          <p:cNvPr id="13" name="Text 11"/>
          <p:cNvSpPr txBox="1"/>
          <p:nvPr/>
        </p:nvSpPr>
        <p:spPr>
          <a:xfrm>
            <a:off x="3493008" y="1975104"/>
            <a:ext cx="2971800" cy="329184"/>
          </a:xfrm>
          <a:prstGeom prst="rect">
            <a:avLst/>
          </a:prstGeom>
          <a:noFill/>
          <a:ln/>
        </p:spPr>
        <p:txBody>
          <a:bodyPr wrap="square" lIns="0" tIns="0" rIns="0" bIns="0" rtlCol="0" anchor="ctr">
            <a:normAutofit/>
          </a:bodyPr>
          <a:lstStyle/>
          <a:p>
            <a:pPr algn="l" indent="0" marL="0">
              <a:buNone/>
            </a:pPr>
            <a:r>
              <a:rPr lang="en-US" sz="1900" b="1" dirty="0">
                <a:solidFill>
                  <a:srgbClr val="F7FAFC"/>
                </a:solidFill>
                <a:latin typeface="Inter" pitchFamily="34" charset="0"/>
                <a:ea typeface="Inter" pitchFamily="34" charset="-122"/>
                <a:cs typeface="Inter" pitchFamily="34" charset="-120"/>
              </a:rPr>
              <a:t>Razonamiento probabilístico</a:t>
            </a:r>
            <a:endParaRPr lang="en-US" sz="1900" dirty="0"/>
          </a:p>
        </p:txBody>
      </p:sp>
      <p:sp>
        <p:nvSpPr>
          <p:cNvPr id="14" name="Text 12"/>
          <p:cNvSpPr txBox="1"/>
          <p:nvPr/>
        </p:nvSpPr>
        <p:spPr>
          <a:xfrm>
            <a:off x="3493008" y="2368296"/>
            <a:ext cx="5440680" cy="310896"/>
          </a:xfrm>
          <a:prstGeom prst="rect">
            <a:avLst/>
          </a:prstGeom>
          <a:noFill/>
          <a:ln/>
        </p:spPr>
        <p:txBody>
          <a:bodyPr wrap="square" lIns="0" tIns="0" rIns="0" bIns="0" rtlCol="0" anchor="ctr">
            <a:normAutofit/>
          </a:bodyPr>
          <a:lstStyle/>
          <a:p>
            <a:pPr algn="l" indent="0" marL="0">
              <a:buNone/>
            </a:pPr>
            <a:r>
              <a:rPr lang="en-US" sz="1250" dirty="0">
                <a:solidFill>
                  <a:srgbClr val="DCE6F2"/>
                </a:solidFill>
                <a:latin typeface="Inter" pitchFamily="34" charset="0"/>
                <a:ea typeface="Inter" pitchFamily="34" charset="-122"/>
                <a:cs typeface="Inter" pitchFamily="34" charset="-120"/>
              </a:rPr>
              <a:t>Product · Architect · Coding · QA · Debug · Security · Review</a:t>
            </a:r>
            <a:endParaRPr lang="en-US" sz="1250" dirty="0"/>
          </a:p>
        </p:txBody>
      </p:sp>
      <p:sp>
        <p:nvSpPr>
          <p:cNvPr id="15" name="Shape 13"/>
          <p:cNvSpPr/>
          <p:nvPr/>
        </p:nvSpPr>
        <p:spPr>
          <a:xfrm>
            <a:off x="2624328" y="3172968"/>
            <a:ext cx="6711696" cy="1133856"/>
          </a:xfrm>
          <a:prstGeom prst="roundRect">
            <a:avLst>
              <a:gd name="adj" fmla="val 9677"/>
            </a:avLst>
          </a:prstGeom>
          <a:solidFill>
            <a:srgbClr val="0D3041"/>
          </a:solidFill>
          <a:ln w="12700">
            <a:solidFill>
              <a:srgbClr val="45D0E6"/>
            </a:solidFill>
            <a:prstDash val="solid"/>
          </a:ln>
        </p:spPr>
      </p:sp>
      <p:sp>
        <p:nvSpPr>
          <p:cNvPr id="16" name="Shape 14"/>
          <p:cNvSpPr/>
          <p:nvPr/>
        </p:nvSpPr>
        <p:spPr>
          <a:xfrm>
            <a:off x="2834640" y="3374136"/>
            <a:ext cx="438912" cy="329184"/>
          </a:xfrm>
          <a:prstGeom prst="roundRect">
            <a:avLst>
              <a:gd name="adj" fmla="val 44444"/>
            </a:avLst>
          </a:prstGeom>
          <a:solidFill>
            <a:srgbClr val="45D0E6"/>
          </a:solidFill>
          <a:ln w="12700">
            <a:solidFill>
              <a:srgbClr val="45D0E6"/>
            </a:solidFill>
            <a:prstDash val="solid"/>
          </a:ln>
        </p:spPr>
      </p:sp>
      <p:sp>
        <p:nvSpPr>
          <p:cNvPr id="17" name="Text 15"/>
          <p:cNvSpPr txBox="1"/>
          <p:nvPr/>
        </p:nvSpPr>
        <p:spPr>
          <a:xfrm>
            <a:off x="2907792" y="3392424"/>
            <a:ext cx="292608" cy="283464"/>
          </a:xfrm>
          <a:prstGeom prst="rect">
            <a:avLst/>
          </a:prstGeom>
          <a:noFill/>
          <a:ln/>
        </p:spPr>
        <p:txBody>
          <a:bodyPr wrap="square" lIns="0" tIns="0" rIns="0" bIns="0" rtlCol="0" anchor="ctr">
            <a:normAutofit/>
          </a:bodyPr>
          <a:lstStyle/>
          <a:p>
            <a:pPr algn="ctr" indent="0" marL="0">
              <a:buNone/>
            </a:pPr>
            <a:r>
              <a:rPr lang="en-US" sz="950" b="1" dirty="0">
                <a:solidFill>
                  <a:srgbClr val="F7FAFC"/>
                </a:solidFill>
                <a:latin typeface="Inter" pitchFamily="34" charset="0"/>
                <a:ea typeface="Inter" pitchFamily="34" charset="-122"/>
                <a:cs typeface="Inter" pitchFamily="34" charset="-120"/>
              </a:rPr>
              <a:t>02</a:t>
            </a:r>
            <a:endParaRPr lang="en-US" sz="950" dirty="0"/>
          </a:p>
        </p:txBody>
      </p:sp>
      <p:sp>
        <p:nvSpPr>
          <p:cNvPr id="18" name="Text 16"/>
          <p:cNvSpPr txBox="1"/>
          <p:nvPr/>
        </p:nvSpPr>
        <p:spPr>
          <a:xfrm>
            <a:off x="3493008" y="3337560"/>
            <a:ext cx="2971800" cy="329184"/>
          </a:xfrm>
          <a:prstGeom prst="rect">
            <a:avLst/>
          </a:prstGeom>
          <a:noFill/>
          <a:ln/>
        </p:spPr>
        <p:txBody>
          <a:bodyPr wrap="square" lIns="0" tIns="0" rIns="0" bIns="0" rtlCol="0" anchor="ctr">
            <a:normAutofit/>
          </a:bodyPr>
          <a:lstStyle/>
          <a:p>
            <a:pPr algn="l" indent="0" marL="0">
              <a:buNone/>
            </a:pPr>
            <a:r>
              <a:rPr lang="en-US" sz="1900" b="1" dirty="0">
                <a:solidFill>
                  <a:srgbClr val="F7FAFC"/>
                </a:solidFill>
                <a:latin typeface="Inter" pitchFamily="34" charset="0"/>
                <a:ea typeface="Inter" pitchFamily="34" charset="-122"/>
                <a:cs typeface="Inter" pitchFamily="34" charset="-120"/>
              </a:rPr>
              <a:t>Herramientas deterministas</a:t>
            </a:r>
            <a:endParaRPr lang="en-US" sz="1900" dirty="0"/>
          </a:p>
        </p:txBody>
      </p:sp>
      <p:sp>
        <p:nvSpPr>
          <p:cNvPr id="19" name="Text 17"/>
          <p:cNvSpPr txBox="1"/>
          <p:nvPr/>
        </p:nvSpPr>
        <p:spPr>
          <a:xfrm>
            <a:off x="3493008" y="3730752"/>
            <a:ext cx="5440680" cy="310896"/>
          </a:xfrm>
          <a:prstGeom prst="rect">
            <a:avLst/>
          </a:prstGeom>
          <a:noFill/>
          <a:ln/>
        </p:spPr>
        <p:txBody>
          <a:bodyPr wrap="square" lIns="0" tIns="0" rIns="0" bIns="0" rtlCol="0" anchor="ctr">
            <a:normAutofit/>
          </a:bodyPr>
          <a:lstStyle/>
          <a:p>
            <a:pPr algn="l" indent="0" marL="0">
              <a:buNone/>
            </a:pPr>
            <a:r>
              <a:rPr lang="en-US" sz="1250" dirty="0">
                <a:solidFill>
                  <a:srgbClr val="DCE6F2"/>
                </a:solidFill>
                <a:latin typeface="Inter" pitchFamily="34" charset="0"/>
                <a:ea typeface="Inter" pitchFamily="34" charset="-122"/>
                <a:cs typeface="Inter" pitchFamily="34" charset="-120"/>
              </a:rPr>
              <a:t>Secure FS · repo scan · Git · build/test adapters · Surefire · SQLite</a:t>
            </a:r>
            <a:endParaRPr lang="en-US" sz="1250" dirty="0"/>
          </a:p>
        </p:txBody>
      </p:sp>
      <p:sp>
        <p:nvSpPr>
          <p:cNvPr id="20" name="Shape 18"/>
          <p:cNvSpPr/>
          <p:nvPr/>
        </p:nvSpPr>
        <p:spPr>
          <a:xfrm>
            <a:off x="2624328" y="4535424"/>
            <a:ext cx="6711696" cy="1133856"/>
          </a:xfrm>
          <a:prstGeom prst="roundRect">
            <a:avLst>
              <a:gd name="adj" fmla="val 9677"/>
            </a:avLst>
          </a:prstGeom>
          <a:solidFill>
            <a:srgbClr val="0F2E2B"/>
          </a:solidFill>
          <a:ln w="12700">
            <a:solidFill>
              <a:srgbClr val="38D996"/>
            </a:solidFill>
            <a:prstDash val="solid"/>
          </a:ln>
        </p:spPr>
      </p:sp>
      <p:sp>
        <p:nvSpPr>
          <p:cNvPr id="21" name="Shape 19"/>
          <p:cNvSpPr/>
          <p:nvPr/>
        </p:nvSpPr>
        <p:spPr>
          <a:xfrm>
            <a:off x="2834640" y="4736592"/>
            <a:ext cx="438912" cy="329184"/>
          </a:xfrm>
          <a:prstGeom prst="roundRect">
            <a:avLst>
              <a:gd name="adj" fmla="val 44444"/>
            </a:avLst>
          </a:prstGeom>
          <a:solidFill>
            <a:srgbClr val="38D996"/>
          </a:solidFill>
          <a:ln w="12700">
            <a:solidFill>
              <a:srgbClr val="38D996"/>
            </a:solidFill>
            <a:prstDash val="solid"/>
          </a:ln>
        </p:spPr>
      </p:sp>
      <p:sp>
        <p:nvSpPr>
          <p:cNvPr id="22" name="Text 20"/>
          <p:cNvSpPr txBox="1"/>
          <p:nvPr/>
        </p:nvSpPr>
        <p:spPr>
          <a:xfrm>
            <a:off x="2907792" y="4754880"/>
            <a:ext cx="292608" cy="283464"/>
          </a:xfrm>
          <a:prstGeom prst="rect">
            <a:avLst/>
          </a:prstGeom>
          <a:noFill/>
          <a:ln/>
        </p:spPr>
        <p:txBody>
          <a:bodyPr wrap="square" lIns="0" tIns="0" rIns="0" bIns="0" rtlCol="0" anchor="ctr">
            <a:normAutofit/>
          </a:bodyPr>
          <a:lstStyle/>
          <a:p>
            <a:pPr algn="ctr" indent="0" marL="0">
              <a:buNone/>
            </a:pPr>
            <a:r>
              <a:rPr lang="en-US" sz="950" b="1" dirty="0">
                <a:solidFill>
                  <a:srgbClr val="06111D"/>
                </a:solidFill>
                <a:latin typeface="Inter" pitchFamily="34" charset="0"/>
                <a:ea typeface="Inter" pitchFamily="34" charset="-122"/>
                <a:cs typeface="Inter" pitchFamily="34" charset="-120"/>
              </a:rPr>
              <a:t>03</a:t>
            </a:r>
            <a:endParaRPr lang="en-US" sz="950" dirty="0"/>
          </a:p>
        </p:txBody>
      </p:sp>
      <p:sp>
        <p:nvSpPr>
          <p:cNvPr id="23" name="Text 21"/>
          <p:cNvSpPr txBox="1"/>
          <p:nvPr/>
        </p:nvSpPr>
        <p:spPr>
          <a:xfrm>
            <a:off x="3493008" y="4700016"/>
            <a:ext cx="2971800" cy="329184"/>
          </a:xfrm>
          <a:prstGeom prst="rect">
            <a:avLst/>
          </a:prstGeom>
          <a:noFill/>
          <a:ln/>
        </p:spPr>
        <p:txBody>
          <a:bodyPr wrap="square" lIns="0" tIns="0" rIns="0" bIns="0" rtlCol="0" anchor="ctr">
            <a:normAutofit/>
          </a:bodyPr>
          <a:lstStyle/>
          <a:p>
            <a:pPr algn="l" indent="0" marL="0">
              <a:buNone/>
            </a:pPr>
            <a:r>
              <a:rPr lang="en-US" sz="1900" b="1" dirty="0">
                <a:solidFill>
                  <a:srgbClr val="F7FAFC"/>
                </a:solidFill>
                <a:latin typeface="Inter" pitchFamily="34" charset="0"/>
                <a:ea typeface="Inter" pitchFamily="34" charset="-122"/>
                <a:cs typeface="Inter" pitchFamily="34" charset="-120"/>
              </a:rPr>
              <a:t>Gobernanza</a:t>
            </a:r>
            <a:endParaRPr lang="en-US" sz="1900" dirty="0"/>
          </a:p>
        </p:txBody>
      </p:sp>
      <p:sp>
        <p:nvSpPr>
          <p:cNvPr id="24" name="Text 22"/>
          <p:cNvSpPr txBox="1"/>
          <p:nvPr/>
        </p:nvSpPr>
        <p:spPr>
          <a:xfrm>
            <a:off x="3493008" y="5093208"/>
            <a:ext cx="5440680" cy="310896"/>
          </a:xfrm>
          <a:prstGeom prst="rect">
            <a:avLst/>
          </a:prstGeom>
          <a:noFill/>
          <a:ln/>
        </p:spPr>
        <p:txBody>
          <a:bodyPr wrap="square" lIns="0" tIns="0" rIns="0" bIns="0" rtlCol="0" anchor="ctr">
            <a:normAutofit/>
          </a:bodyPr>
          <a:lstStyle/>
          <a:p>
            <a:pPr algn="l" indent="0" marL="0">
              <a:buNone/>
            </a:pPr>
            <a:r>
              <a:rPr lang="en-US" sz="1250" dirty="0">
                <a:solidFill>
                  <a:srgbClr val="DCE6F2"/>
                </a:solidFill>
                <a:latin typeface="Inter" pitchFamily="34" charset="0"/>
                <a:ea typeface="Inter" pitchFamily="34" charset="-122"/>
                <a:cs typeface="Inter" pitchFamily="34" charset="-120"/>
              </a:rPr>
              <a:t>Permisos · HITL · token/model budgets · reintentos · seguridad · trazabilidad</a:t>
            </a:r>
            <a:endParaRPr lang="en-US" sz="1250" dirty="0"/>
          </a:p>
        </p:txBody>
      </p:sp>
      <p:sp>
        <p:nvSpPr>
          <p:cNvPr id="25" name="Shape 23"/>
          <p:cNvSpPr/>
          <p:nvPr/>
        </p:nvSpPr>
        <p:spPr>
          <a:xfrm>
            <a:off x="9464040" y="3584448"/>
            <a:ext cx="438912" cy="384048"/>
          </a:xfrm>
          <a:prstGeom prst="rightArrow">
            <a:avLst/>
          </a:prstGeom>
          <a:solidFill>
            <a:srgbClr val="38D996"/>
          </a:solidFill>
          <a:ln w="12700">
            <a:solidFill>
              <a:srgbClr val="38D996"/>
            </a:solidFill>
            <a:prstDash val="solid"/>
          </a:ln>
        </p:spPr>
      </p:sp>
      <p:sp>
        <p:nvSpPr>
          <p:cNvPr id="26" name="Shape 24"/>
          <p:cNvSpPr/>
          <p:nvPr/>
        </p:nvSpPr>
        <p:spPr>
          <a:xfrm>
            <a:off x="9985248" y="2176272"/>
            <a:ext cx="1527048" cy="3355848"/>
          </a:xfrm>
          <a:prstGeom prst="roundRect">
            <a:avLst>
              <a:gd name="adj" fmla="val 7186"/>
            </a:avLst>
          </a:prstGeom>
          <a:solidFill>
            <a:srgbClr val="0A1B2A"/>
          </a:solidFill>
          <a:ln w="12700">
            <a:solidFill>
              <a:srgbClr val="274258"/>
            </a:solidFill>
            <a:prstDash val="solid"/>
          </a:ln>
        </p:spPr>
      </p:sp>
      <p:sp>
        <p:nvSpPr>
          <p:cNvPr id="27" name="Text 25"/>
          <p:cNvSpPr txBox="1"/>
          <p:nvPr/>
        </p:nvSpPr>
        <p:spPr>
          <a:xfrm>
            <a:off x="10158984" y="2542032"/>
            <a:ext cx="1170432" cy="594360"/>
          </a:xfrm>
          <a:prstGeom prst="rect">
            <a:avLst/>
          </a:prstGeom>
          <a:noFill/>
          <a:ln/>
        </p:spPr>
        <p:txBody>
          <a:bodyPr wrap="square" lIns="0" tIns="0" rIns="0" bIns="0" rtlCol="0" anchor="ctr">
            <a:normAutofit/>
          </a:bodyPr>
          <a:lstStyle/>
          <a:p>
            <a:pPr algn="ctr" indent="0" marL="0">
              <a:buNone/>
            </a:pPr>
            <a:r>
              <a:rPr lang="en-US" sz="1350" b="1" dirty="0">
                <a:solidFill>
                  <a:srgbClr val="38D996"/>
                </a:solidFill>
                <a:latin typeface="Inter" pitchFamily="34" charset="0"/>
                <a:ea typeface="Inter" pitchFamily="34" charset="-122"/>
                <a:cs typeface="Inter" pitchFamily="34" charset="-120"/>
              </a:rPr>
              <a:t>ARTEFACTOS</a:t>
            </a:r>
            <a:endParaRPr lang="en-US" sz="1350" dirty="0"/>
          </a:p>
          <a:p>
            <a:pPr algn="ctr" indent="0" marL="0">
              <a:buNone/>
            </a:pPr>
            <a:r>
              <a:rPr lang="en-US" sz="1350" b="1" dirty="0">
                <a:solidFill>
                  <a:srgbClr val="38D996"/>
                </a:solidFill>
                <a:latin typeface="Inter" pitchFamily="34" charset="0"/>
                <a:ea typeface="Inter" pitchFamily="34" charset="-122"/>
                <a:cs typeface="Inter" pitchFamily="34" charset="-120"/>
              </a:rPr>
              <a:t>TRAZABLES</a:t>
            </a:r>
            <a:endParaRPr lang="en-US" sz="1350" dirty="0"/>
          </a:p>
        </p:txBody>
      </p:sp>
      <p:sp>
        <p:nvSpPr>
          <p:cNvPr id="28" name="Text 26"/>
          <p:cNvSpPr txBox="1"/>
          <p:nvPr/>
        </p:nvSpPr>
        <p:spPr>
          <a:xfrm>
            <a:off x="10195560" y="3419856"/>
            <a:ext cx="1097280" cy="1280160"/>
          </a:xfrm>
          <a:prstGeom prst="rect">
            <a:avLst/>
          </a:prstGeom>
          <a:noFill/>
          <a:ln/>
        </p:spPr>
        <p:txBody>
          <a:bodyPr wrap="square" lIns="0" tIns="0" rIns="0" bIns="0" rtlCol="0" anchor="ctr">
            <a:normAutofit/>
          </a:bodyPr>
          <a:lstStyle/>
          <a:p>
            <a:pPr algn="ctr" indent="0" marL="0">
              <a:buNone/>
            </a:pPr>
            <a:r>
              <a:rPr lang="en-US" sz="1500" b="1" dirty="0">
                <a:solidFill>
                  <a:srgbClr val="F7FAFC"/>
                </a:solidFill>
                <a:latin typeface="Inter" pitchFamily="34" charset="0"/>
                <a:ea typeface="Inter" pitchFamily="34" charset="-122"/>
                <a:cs typeface="Inter" pitchFamily="34" charset="-120"/>
              </a:rPr>
              <a:t>specs</a:t>
            </a:r>
            <a:endParaRPr lang="en-US" sz="1500" dirty="0"/>
          </a:p>
          <a:p>
            <a:pPr algn="ctr" indent="0" marL="0">
              <a:buNone/>
            </a:pPr>
            <a:r>
              <a:rPr lang="en-US" sz="1500" b="1" dirty="0">
                <a:solidFill>
                  <a:srgbClr val="F7FAFC"/>
                </a:solidFill>
                <a:latin typeface="Inter" pitchFamily="34" charset="0"/>
                <a:ea typeface="Inter" pitchFamily="34" charset="-122"/>
                <a:cs typeface="Inter" pitchFamily="34" charset="-120"/>
              </a:rPr>
              <a:t>código</a:t>
            </a:r>
            <a:endParaRPr lang="en-US" sz="1500" dirty="0"/>
          </a:p>
          <a:p>
            <a:pPr algn="ctr" indent="0" marL="0">
              <a:buNone/>
            </a:pPr>
            <a:r>
              <a:rPr lang="en-US" sz="1500" b="1" dirty="0">
                <a:solidFill>
                  <a:srgbClr val="F7FAFC"/>
                </a:solidFill>
                <a:latin typeface="Inter" pitchFamily="34" charset="0"/>
                <a:ea typeface="Inter" pitchFamily="34" charset="-122"/>
                <a:cs typeface="Inter" pitchFamily="34" charset="-120"/>
              </a:rPr>
              <a:t>tests</a:t>
            </a:r>
            <a:endParaRPr lang="en-US" sz="1500" dirty="0"/>
          </a:p>
          <a:p>
            <a:pPr algn="ctr" indent="0" marL="0">
              <a:buNone/>
            </a:pPr>
            <a:r>
              <a:rPr lang="en-US" sz="1500" b="1" dirty="0">
                <a:solidFill>
                  <a:srgbClr val="F7FAFC"/>
                </a:solidFill>
                <a:latin typeface="Inter" pitchFamily="34" charset="0"/>
                <a:ea typeface="Inter" pitchFamily="34" charset="-122"/>
                <a:cs typeface="Inter" pitchFamily="34" charset="-120"/>
              </a:rPr>
              <a:t>diff</a:t>
            </a:r>
            <a:endParaRPr lang="en-US" sz="1500" dirty="0"/>
          </a:p>
          <a:p>
            <a:pPr algn="ctr" indent="0" marL="0">
              <a:buNone/>
            </a:pPr>
            <a:r>
              <a:rPr lang="en-US" sz="1500" b="1" dirty="0">
                <a:solidFill>
                  <a:srgbClr val="F7FAFC"/>
                </a:solidFill>
                <a:latin typeface="Inter" pitchFamily="34" charset="0"/>
                <a:ea typeface="Inter" pitchFamily="34" charset="-122"/>
                <a:cs typeface="Inter" pitchFamily="34" charset="-120"/>
              </a:rPr>
              <a:t>resultados</a:t>
            </a:r>
            <a:endParaRPr lang="en-US" sz="1500" dirty="0"/>
          </a:p>
        </p:txBody>
      </p:sp>
      <p:sp>
        <p:nvSpPr>
          <p:cNvPr id="29" name="Shape 27"/>
          <p:cNvSpPr/>
          <p:nvPr/>
        </p:nvSpPr>
        <p:spPr>
          <a:xfrm>
            <a:off x="2624328" y="5870448"/>
            <a:ext cx="8887968" cy="420624"/>
          </a:xfrm>
          <a:prstGeom prst="rect">
            <a:avLst/>
          </a:prstGeom>
          <a:solidFill>
            <a:srgbClr val="0A1C2C"/>
          </a:solidFill>
          <a:ln w="6350">
            <a:solidFill>
              <a:srgbClr val="0A1C2C"/>
            </a:solidFill>
            <a:prstDash val="solid"/>
          </a:ln>
        </p:spPr>
      </p:sp>
      <p:sp>
        <p:nvSpPr>
          <p:cNvPr id="30" name="Text 28"/>
          <p:cNvSpPr txBox="1"/>
          <p:nvPr/>
        </p:nvSpPr>
        <p:spPr>
          <a:xfrm>
            <a:off x="2816352" y="5971032"/>
            <a:ext cx="1755648" cy="201168"/>
          </a:xfrm>
          <a:prstGeom prst="rect">
            <a:avLst/>
          </a:prstGeom>
          <a:noFill/>
          <a:ln/>
        </p:spPr>
        <p:txBody>
          <a:bodyPr wrap="square" lIns="0" tIns="0" rIns="0" bIns="0" rtlCol="0" anchor="ctr">
            <a:normAutofit/>
          </a:bodyPr>
          <a:lstStyle/>
          <a:p>
            <a:pPr algn="l" indent="0" marL="0">
              <a:buNone/>
            </a:pPr>
            <a:r>
              <a:rPr lang="en-US" sz="950" b="1" spc="90" kern="0" dirty="0">
                <a:solidFill>
                  <a:srgbClr val="F2B138"/>
                </a:solidFill>
                <a:latin typeface="Inter" pitchFamily="34" charset="0"/>
                <a:ea typeface="Inter" pitchFamily="34" charset="-122"/>
                <a:cs typeface="Inter" pitchFamily="34" charset="-120"/>
              </a:rPr>
              <a:t>MATIZ DE IMPLEMENTACIÓN</a:t>
            </a:r>
            <a:endParaRPr lang="en-US" sz="950" dirty="0"/>
          </a:p>
        </p:txBody>
      </p:sp>
      <p:sp>
        <p:nvSpPr>
          <p:cNvPr id="31" name="Text 29"/>
          <p:cNvSpPr txBox="1"/>
          <p:nvPr/>
        </p:nvSpPr>
        <p:spPr>
          <a:xfrm>
            <a:off x="4617720" y="5907024"/>
            <a:ext cx="6611112" cy="292608"/>
          </a:xfrm>
          <a:prstGeom prst="rect">
            <a:avLst/>
          </a:prstGeom>
          <a:noFill/>
          <a:ln/>
        </p:spPr>
        <p:txBody>
          <a:bodyPr wrap="square" lIns="0" tIns="0" rIns="0" bIns="0" rtlCol="0" anchor="ctr">
            <a:normAutofit/>
          </a:bodyPr>
          <a:lstStyle/>
          <a:p>
            <a:pPr algn="l" indent="0" marL="0">
              <a:buNone/>
            </a:pPr>
            <a:r>
              <a:rPr lang="en-US" sz="1220" dirty="0">
                <a:solidFill>
                  <a:srgbClr val="DCE6F2"/>
                </a:solidFill>
                <a:latin typeface="Inter" pitchFamily="34" charset="0"/>
                <a:ea typeface="Inter" pitchFamily="34" charset="-122"/>
                <a:cs typeface="Inter" pitchFamily="34" charset="-120"/>
              </a:rPr>
              <a:t>README/state mencionan LangGraph, pero graph.py implementa un orquestador secuencial propio y LangGraph no figura como dependencia directa.</a:t>
            </a:r>
            <a:endParaRPr lang="en-US" sz="1220" dirty="0"/>
          </a:p>
        </p:txBody>
      </p:sp>
      <p:sp>
        <p:nvSpPr>
          <p:cNvPr id="25" name="Slide Number Placeholder 0"/>
          <p:cNvSpPr>
            <a:spLocks noGrp="1"/>
          </p:cNvSpPr>
          <p:nvPr>
            <p:ph type="sldNum" sz="quarter" idx="4294967295"/>
          </p:nvPr>
        </p:nvSpPr>
        <p:spPr>
          <a:xfrm>
            <a:off x="11192256" y="6556248"/>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F879B"/>
                </a:solidFill>
                <a:latin typeface="Inter"/>
                <a:ea typeface="Inter"/>
                <a:cs typeface="Inter"/>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21792" y="384048"/>
            <a:ext cx="2926080" cy="256032"/>
          </a:xfrm>
          <a:prstGeom prst="rect">
            <a:avLst/>
          </a:prstGeom>
          <a:noFill/>
          <a:ln/>
        </p:spPr>
        <p:txBody>
          <a:bodyPr wrap="square" lIns="0" tIns="0" rIns="0" bIns="0" rtlCol="0" anchor="ctr">
            <a:normAutofit/>
          </a:bodyPr>
          <a:lstStyle/>
          <a:p>
            <a:pPr algn="l" indent="0" marL="0">
              <a:buNone/>
            </a:pPr>
            <a:r>
              <a:rPr lang="en-US" sz="1050" b="1" spc="160" kern="0" dirty="0">
                <a:solidFill>
                  <a:srgbClr val="2EA8FF"/>
                </a:solidFill>
                <a:latin typeface="Inter" pitchFamily="34" charset="0"/>
                <a:ea typeface="Inter" pitchFamily="34" charset="-122"/>
                <a:cs typeface="Inter" pitchFamily="34" charset="-120"/>
              </a:rPr>
              <a:t>04 · AGENTES</a:t>
            </a:r>
            <a:endParaRPr lang="en-US" sz="1050" dirty="0"/>
          </a:p>
        </p:txBody>
      </p:sp>
      <p:sp>
        <p:nvSpPr>
          <p:cNvPr id="3" name="Text 1"/>
          <p:cNvSpPr txBox="1"/>
          <p:nvPr/>
        </p:nvSpPr>
        <p:spPr>
          <a:xfrm>
            <a:off x="621792" y="713232"/>
            <a:ext cx="10927080" cy="530352"/>
          </a:xfrm>
          <a:prstGeom prst="rect">
            <a:avLst/>
          </a:prstGeom>
          <a:noFill/>
          <a:ln/>
        </p:spPr>
        <p:txBody>
          <a:bodyPr wrap="square" lIns="0" tIns="0" rIns="0" bIns="0" rtlCol="0" anchor="ctr">
            <a:normAutofit/>
          </a:bodyPr>
          <a:lstStyle/>
          <a:p>
            <a:pPr algn="l" indent="0" marL="0">
              <a:buNone/>
            </a:pPr>
            <a:r>
              <a:rPr lang="en-US" sz="3200" b="1" dirty="0">
                <a:solidFill>
                  <a:srgbClr val="F7FAFC"/>
                </a:solidFill>
                <a:latin typeface="Inter" pitchFamily="34" charset="0"/>
                <a:ea typeface="Inter" pitchFamily="34" charset="-122"/>
                <a:cs typeface="Inter" pitchFamily="34" charset="-120"/>
              </a:rPr>
              <a:t>Siete especialistas, un único estado de ingeniería</a:t>
            </a:r>
            <a:endParaRPr lang="en-US" sz="3200" dirty="0"/>
          </a:p>
        </p:txBody>
      </p:sp>
      <p:sp>
        <p:nvSpPr>
          <p:cNvPr id="4" name="Text 2"/>
          <p:cNvSpPr txBox="1"/>
          <p:nvPr/>
        </p:nvSpPr>
        <p:spPr>
          <a:xfrm>
            <a:off x="621792" y="1261872"/>
            <a:ext cx="10744200" cy="384048"/>
          </a:xfrm>
          <a:prstGeom prst="rect">
            <a:avLst/>
          </a:prstGeom>
          <a:noFill/>
          <a:ln/>
        </p:spPr>
        <p:txBody>
          <a:bodyPr wrap="square" lIns="0" tIns="0" rIns="0" bIns="0" rtlCol="0" anchor="ctr">
            <a:normAutofit/>
          </a:bodyPr>
          <a:lstStyle/>
          <a:p>
            <a:pPr algn="l" indent="0" marL="0">
              <a:buNone/>
            </a:pPr>
            <a:r>
              <a:rPr lang="en-US" sz="1550" dirty="0">
                <a:solidFill>
                  <a:srgbClr val="8FA3B8"/>
                </a:solidFill>
                <a:latin typeface="Inter" pitchFamily="34" charset="0"/>
                <a:ea typeface="Inter" pitchFamily="34" charset="-122"/>
                <a:cs typeface="Inter" pitchFamily="34" charset="-120"/>
              </a:rPr>
              <a:t>Cada agente tiene una responsabilidad acotada; el orquestador conserva el control del orden.</a:t>
            </a:r>
            <a:endParaRPr lang="en-US" sz="1550" dirty="0"/>
          </a:p>
        </p:txBody>
      </p:sp>
      <p:sp>
        <p:nvSpPr>
          <p:cNvPr id="5" name="Shape 3"/>
          <p:cNvSpPr/>
          <p:nvPr/>
        </p:nvSpPr>
        <p:spPr>
          <a:xfrm>
            <a:off x="1060704" y="3392424"/>
            <a:ext cx="10094976" cy="0"/>
          </a:xfrm>
          <a:prstGeom prst="line">
            <a:avLst/>
          </a:prstGeom>
          <a:noFill/>
          <a:ln w="25400">
            <a:solidFill>
              <a:srgbClr val="274258"/>
            </a:solidFill>
            <a:prstDash val="solid"/>
          </a:ln>
        </p:spPr>
      </p:sp>
      <p:sp>
        <p:nvSpPr>
          <p:cNvPr id="6" name="Shape 4"/>
          <p:cNvSpPr/>
          <p:nvPr/>
        </p:nvSpPr>
        <p:spPr>
          <a:xfrm>
            <a:off x="4892040" y="3200400"/>
            <a:ext cx="2395728" cy="329184"/>
          </a:xfrm>
          <a:prstGeom prst="roundRect">
            <a:avLst>
              <a:gd name="adj" fmla="val 44444"/>
            </a:avLst>
          </a:prstGeom>
          <a:solidFill>
            <a:srgbClr val="102A40"/>
          </a:solidFill>
          <a:ln w="12700">
            <a:solidFill>
              <a:srgbClr val="102A40"/>
            </a:solidFill>
            <a:prstDash val="solid"/>
          </a:ln>
        </p:spPr>
      </p:sp>
      <p:sp>
        <p:nvSpPr>
          <p:cNvPr id="7" name="Text 5"/>
          <p:cNvSpPr txBox="1"/>
          <p:nvPr/>
        </p:nvSpPr>
        <p:spPr>
          <a:xfrm>
            <a:off x="4965192" y="3218688"/>
            <a:ext cx="2249424" cy="283464"/>
          </a:xfrm>
          <a:prstGeom prst="rect">
            <a:avLst/>
          </a:prstGeom>
          <a:noFill/>
          <a:ln/>
        </p:spPr>
        <p:txBody>
          <a:bodyPr wrap="square" lIns="0" tIns="0" rIns="0" bIns="0" rtlCol="0" anchor="ctr">
            <a:normAutofit/>
          </a:bodyPr>
          <a:lstStyle/>
          <a:p>
            <a:pPr algn="ctr" indent="0" marL="0">
              <a:buNone/>
            </a:pPr>
            <a:r>
              <a:rPr lang="en-US" sz="1120" b="1" dirty="0">
                <a:solidFill>
                  <a:srgbClr val="2EA8FF"/>
                </a:solidFill>
                <a:latin typeface="Inter" pitchFamily="34" charset="0"/>
                <a:ea typeface="Inter" pitchFamily="34" charset="-122"/>
                <a:cs typeface="Inter" pitchFamily="34" charset="-120"/>
              </a:rPr>
              <a:t>ENGINEERING STATE</a:t>
            </a:r>
            <a:endParaRPr lang="en-US" sz="1120" dirty="0"/>
          </a:p>
        </p:txBody>
      </p:sp>
      <p:sp>
        <p:nvSpPr>
          <p:cNvPr id="8" name="Shape 6"/>
          <p:cNvSpPr/>
          <p:nvPr/>
        </p:nvSpPr>
        <p:spPr>
          <a:xfrm>
            <a:off x="795528" y="1993392"/>
            <a:ext cx="493776" cy="493776"/>
          </a:xfrm>
          <a:prstGeom prst="ellipse">
            <a:avLst/>
          </a:prstGeom>
          <a:solidFill>
            <a:srgbClr val="1B75FF"/>
          </a:solidFill>
          <a:ln w="12700">
            <a:solidFill>
              <a:srgbClr val="1B75FF"/>
            </a:solidFill>
            <a:prstDash val="solid"/>
          </a:ln>
        </p:spPr>
      </p:sp>
      <p:sp>
        <p:nvSpPr>
          <p:cNvPr id="9" name="Text 7"/>
          <p:cNvSpPr txBox="1"/>
          <p:nvPr/>
        </p:nvSpPr>
        <p:spPr>
          <a:xfrm>
            <a:off x="795528" y="1993392"/>
            <a:ext cx="493776" cy="493776"/>
          </a:xfrm>
          <a:prstGeom prst="rect">
            <a:avLst/>
          </a:prstGeom>
          <a:noFill/>
          <a:ln/>
        </p:spPr>
        <p:txBody>
          <a:bodyPr wrap="square" lIns="0" tIns="0" rIns="0" bIns="0" rtlCol="0" anchor="ctr">
            <a:normAutofit/>
          </a:bodyPr>
          <a:lstStyle/>
          <a:p>
            <a:pPr algn="ctr" indent="0" marL="0">
              <a:buNone/>
            </a:pPr>
            <a:r>
              <a:rPr lang="en-US" sz="1250" b="1" dirty="0">
                <a:solidFill>
                  <a:srgbClr val="F7FAFC"/>
                </a:solidFill>
                <a:latin typeface="Inter" pitchFamily="34" charset="0"/>
                <a:ea typeface="Inter" pitchFamily="34" charset="-122"/>
                <a:cs typeface="Inter" pitchFamily="34" charset="-120"/>
              </a:rPr>
              <a:t>P</a:t>
            </a:r>
            <a:endParaRPr lang="en-US" sz="1250" dirty="0"/>
          </a:p>
        </p:txBody>
      </p:sp>
      <p:sp>
        <p:nvSpPr>
          <p:cNvPr id="10" name="Text 8"/>
          <p:cNvSpPr txBox="1"/>
          <p:nvPr/>
        </p:nvSpPr>
        <p:spPr>
          <a:xfrm>
            <a:off x="640080" y="2606040"/>
            <a:ext cx="1216152" cy="274320"/>
          </a:xfrm>
          <a:prstGeom prst="rect">
            <a:avLst/>
          </a:prstGeom>
          <a:noFill/>
          <a:ln/>
        </p:spPr>
        <p:txBody>
          <a:bodyPr wrap="square" lIns="0" tIns="0" rIns="0" bIns="0" rtlCol="0" anchor="ctr">
            <a:normAutofit/>
          </a:bodyPr>
          <a:lstStyle/>
          <a:p>
            <a:pPr algn="ctr" indent="0" marL="0">
              <a:buNone/>
            </a:pPr>
            <a:r>
              <a:rPr lang="en-US" sz="1450" b="1" dirty="0">
                <a:solidFill>
                  <a:srgbClr val="F7FAFC"/>
                </a:solidFill>
                <a:latin typeface="Inter" pitchFamily="34" charset="0"/>
                <a:ea typeface="Inter" pitchFamily="34" charset="-122"/>
                <a:cs typeface="Inter" pitchFamily="34" charset="-120"/>
              </a:rPr>
              <a:t>Product</a:t>
            </a:r>
            <a:endParaRPr lang="en-US" sz="1450" dirty="0"/>
          </a:p>
        </p:txBody>
      </p:sp>
      <p:sp>
        <p:nvSpPr>
          <p:cNvPr id="11" name="Text 9"/>
          <p:cNvSpPr txBox="1"/>
          <p:nvPr/>
        </p:nvSpPr>
        <p:spPr>
          <a:xfrm>
            <a:off x="475488" y="2935224"/>
            <a:ext cx="1581912" cy="475488"/>
          </a:xfrm>
          <a:prstGeom prst="rect">
            <a:avLst/>
          </a:prstGeom>
          <a:noFill/>
          <a:ln/>
        </p:spPr>
        <p:txBody>
          <a:bodyPr wrap="square" lIns="0" tIns="0" rIns="0" bIns="0" rtlCol="0" anchor="t">
            <a:normAutofit/>
          </a:bodyPr>
          <a:lstStyle/>
          <a:p>
            <a:pPr algn="ctr" indent="0" marL="0">
              <a:buNone/>
            </a:pPr>
            <a:r>
              <a:rPr lang="en-US" sz="1070" dirty="0">
                <a:solidFill>
                  <a:srgbClr val="8FA3B8"/>
                </a:solidFill>
                <a:latin typeface="Inter" pitchFamily="34" charset="0"/>
                <a:ea typeface="Inter" pitchFamily="34" charset="-122"/>
                <a:cs typeface="Inter" pitchFamily="34" charset="-120"/>
              </a:rPr>
              <a:t>Requisito → ProductSpec</a:t>
            </a:r>
            <a:endParaRPr lang="en-US" sz="1070" dirty="0"/>
          </a:p>
        </p:txBody>
      </p:sp>
      <p:sp>
        <p:nvSpPr>
          <p:cNvPr id="12" name="Shape 10"/>
          <p:cNvSpPr/>
          <p:nvPr/>
        </p:nvSpPr>
        <p:spPr>
          <a:xfrm>
            <a:off x="1042416" y="3447288"/>
            <a:ext cx="0" cy="384048"/>
          </a:xfrm>
          <a:prstGeom prst="line">
            <a:avLst/>
          </a:prstGeom>
          <a:noFill/>
          <a:ln w="13970">
            <a:solidFill>
              <a:srgbClr val="274258"/>
            </a:solidFill>
            <a:prstDash val="solid"/>
          </a:ln>
        </p:spPr>
      </p:sp>
      <p:sp>
        <p:nvSpPr>
          <p:cNvPr id="13" name="Shape 11"/>
          <p:cNvSpPr/>
          <p:nvPr/>
        </p:nvSpPr>
        <p:spPr>
          <a:xfrm>
            <a:off x="1001268" y="3351276"/>
            <a:ext cx="82296" cy="82296"/>
          </a:xfrm>
          <a:prstGeom prst="ellipse">
            <a:avLst/>
          </a:prstGeom>
          <a:solidFill>
            <a:srgbClr val="1B75FF"/>
          </a:solidFill>
          <a:ln w="12700">
            <a:solidFill>
              <a:srgbClr val="1B75FF"/>
            </a:solidFill>
            <a:prstDash val="solid"/>
          </a:ln>
        </p:spPr>
      </p:sp>
      <p:sp>
        <p:nvSpPr>
          <p:cNvPr id="14" name="Shape 12"/>
          <p:cNvSpPr/>
          <p:nvPr/>
        </p:nvSpPr>
        <p:spPr>
          <a:xfrm>
            <a:off x="2423160" y="1993392"/>
            <a:ext cx="493776" cy="493776"/>
          </a:xfrm>
          <a:prstGeom prst="ellipse">
            <a:avLst/>
          </a:prstGeom>
          <a:solidFill>
            <a:srgbClr val="2EA8FF"/>
          </a:solidFill>
          <a:ln w="12700">
            <a:solidFill>
              <a:srgbClr val="2EA8FF"/>
            </a:solidFill>
            <a:prstDash val="solid"/>
          </a:ln>
        </p:spPr>
      </p:sp>
      <p:sp>
        <p:nvSpPr>
          <p:cNvPr id="15" name="Text 13"/>
          <p:cNvSpPr txBox="1"/>
          <p:nvPr/>
        </p:nvSpPr>
        <p:spPr>
          <a:xfrm>
            <a:off x="2423160" y="1993392"/>
            <a:ext cx="493776" cy="493776"/>
          </a:xfrm>
          <a:prstGeom prst="rect">
            <a:avLst/>
          </a:prstGeom>
          <a:noFill/>
          <a:ln/>
        </p:spPr>
        <p:txBody>
          <a:bodyPr wrap="square" lIns="0" tIns="0" rIns="0" bIns="0" rtlCol="0" anchor="ctr">
            <a:normAutofit/>
          </a:bodyPr>
          <a:lstStyle/>
          <a:p>
            <a:pPr algn="ctr" indent="0" marL="0">
              <a:buNone/>
            </a:pPr>
            <a:r>
              <a:rPr lang="en-US" sz="1250" b="1" dirty="0">
                <a:solidFill>
                  <a:srgbClr val="F7FAFC"/>
                </a:solidFill>
                <a:latin typeface="Inter" pitchFamily="34" charset="0"/>
                <a:ea typeface="Inter" pitchFamily="34" charset="-122"/>
                <a:cs typeface="Inter" pitchFamily="34" charset="-120"/>
              </a:rPr>
              <a:t>A</a:t>
            </a:r>
            <a:endParaRPr lang="en-US" sz="1250" dirty="0"/>
          </a:p>
        </p:txBody>
      </p:sp>
      <p:sp>
        <p:nvSpPr>
          <p:cNvPr id="16" name="Text 14"/>
          <p:cNvSpPr txBox="1"/>
          <p:nvPr/>
        </p:nvSpPr>
        <p:spPr>
          <a:xfrm>
            <a:off x="2267712" y="2606040"/>
            <a:ext cx="1216152" cy="274320"/>
          </a:xfrm>
          <a:prstGeom prst="rect">
            <a:avLst/>
          </a:prstGeom>
          <a:noFill/>
          <a:ln/>
        </p:spPr>
        <p:txBody>
          <a:bodyPr wrap="square" lIns="0" tIns="0" rIns="0" bIns="0" rtlCol="0" anchor="ctr">
            <a:normAutofit/>
          </a:bodyPr>
          <a:lstStyle/>
          <a:p>
            <a:pPr algn="ctr" indent="0" marL="0">
              <a:buNone/>
            </a:pPr>
            <a:r>
              <a:rPr lang="en-US" sz="1450" b="1" dirty="0">
                <a:solidFill>
                  <a:srgbClr val="F7FAFC"/>
                </a:solidFill>
                <a:latin typeface="Inter" pitchFamily="34" charset="0"/>
                <a:ea typeface="Inter" pitchFamily="34" charset="-122"/>
                <a:cs typeface="Inter" pitchFamily="34" charset="-120"/>
              </a:rPr>
              <a:t>Architect</a:t>
            </a:r>
            <a:endParaRPr lang="en-US" sz="1450" dirty="0"/>
          </a:p>
        </p:txBody>
      </p:sp>
      <p:sp>
        <p:nvSpPr>
          <p:cNvPr id="17" name="Text 15"/>
          <p:cNvSpPr txBox="1"/>
          <p:nvPr/>
        </p:nvSpPr>
        <p:spPr>
          <a:xfrm>
            <a:off x="2103120" y="2935224"/>
            <a:ext cx="1581912" cy="475488"/>
          </a:xfrm>
          <a:prstGeom prst="rect">
            <a:avLst/>
          </a:prstGeom>
          <a:noFill/>
          <a:ln/>
        </p:spPr>
        <p:txBody>
          <a:bodyPr wrap="square" lIns="0" tIns="0" rIns="0" bIns="0" rtlCol="0" anchor="t">
            <a:normAutofit/>
          </a:bodyPr>
          <a:lstStyle/>
          <a:p>
            <a:pPr algn="ctr" indent="0" marL="0">
              <a:buNone/>
            </a:pPr>
            <a:r>
              <a:rPr lang="en-US" sz="1070" dirty="0">
                <a:solidFill>
                  <a:srgbClr val="8FA3B8"/>
                </a:solidFill>
                <a:latin typeface="Inter" pitchFamily="34" charset="0"/>
                <a:ea typeface="Inter" pitchFamily="34" charset="-122"/>
                <a:cs typeface="Inter" pitchFamily="34" charset="-120"/>
              </a:rPr>
              <a:t>Diseño técnico con contexto</a:t>
            </a:r>
            <a:endParaRPr lang="en-US" sz="1070" dirty="0"/>
          </a:p>
        </p:txBody>
      </p:sp>
      <p:sp>
        <p:nvSpPr>
          <p:cNvPr id="18" name="Shape 16"/>
          <p:cNvSpPr/>
          <p:nvPr/>
        </p:nvSpPr>
        <p:spPr>
          <a:xfrm>
            <a:off x="2670048" y="3447288"/>
            <a:ext cx="0" cy="384048"/>
          </a:xfrm>
          <a:prstGeom prst="line">
            <a:avLst/>
          </a:prstGeom>
          <a:noFill/>
          <a:ln w="13970">
            <a:solidFill>
              <a:srgbClr val="274258"/>
            </a:solidFill>
            <a:prstDash val="solid"/>
          </a:ln>
        </p:spPr>
      </p:sp>
      <p:sp>
        <p:nvSpPr>
          <p:cNvPr id="19" name="Shape 17"/>
          <p:cNvSpPr/>
          <p:nvPr/>
        </p:nvSpPr>
        <p:spPr>
          <a:xfrm>
            <a:off x="2628900" y="3351276"/>
            <a:ext cx="82296" cy="82296"/>
          </a:xfrm>
          <a:prstGeom prst="ellipse">
            <a:avLst/>
          </a:prstGeom>
          <a:solidFill>
            <a:srgbClr val="2EA8FF"/>
          </a:solidFill>
          <a:ln w="12700">
            <a:solidFill>
              <a:srgbClr val="2EA8FF"/>
            </a:solidFill>
            <a:prstDash val="solid"/>
          </a:ln>
        </p:spPr>
      </p:sp>
      <p:sp>
        <p:nvSpPr>
          <p:cNvPr id="20" name="Shape 18"/>
          <p:cNvSpPr/>
          <p:nvPr/>
        </p:nvSpPr>
        <p:spPr>
          <a:xfrm>
            <a:off x="4050792" y="1993392"/>
            <a:ext cx="493776" cy="493776"/>
          </a:xfrm>
          <a:prstGeom prst="ellipse">
            <a:avLst/>
          </a:prstGeom>
          <a:solidFill>
            <a:srgbClr val="45D0E6"/>
          </a:solidFill>
          <a:ln w="12700">
            <a:solidFill>
              <a:srgbClr val="45D0E6"/>
            </a:solidFill>
            <a:prstDash val="solid"/>
          </a:ln>
        </p:spPr>
      </p:sp>
      <p:sp>
        <p:nvSpPr>
          <p:cNvPr id="21" name="Text 19"/>
          <p:cNvSpPr txBox="1"/>
          <p:nvPr/>
        </p:nvSpPr>
        <p:spPr>
          <a:xfrm>
            <a:off x="4050792" y="1993392"/>
            <a:ext cx="493776" cy="493776"/>
          </a:xfrm>
          <a:prstGeom prst="rect">
            <a:avLst/>
          </a:prstGeom>
          <a:noFill/>
          <a:ln/>
        </p:spPr>
        <p:txBody>
          <a:bodyPr wrap="square" lIns="0" tIns="0" rIns="0" bIns="0" rtlCol="0" anchor="ctr">
            <a:normAutofit/>
          </a:bodyPr>
          <a:lstStyle/>
          <a:p>
            <a:pPr algn="ctr" indent="0" marL="0">
              <a:buNone/>
            </a:pPr>
            <a:r>
              <a:rPr lang="en-US" sz="1250" b="1" dirty="0">
                <a:solidFill>
                  <a:srgbClr val="F7FAFC"/>
                </a:solidFill>
                <a:latin typeface="Inter" pitchFamily="34" charset="0"/>
                <a:ea typeface="Inter" pitchFamily="34" charset="-122"/>
                <a:cs typeface="Inter" pitchFamily="34" charset="-120"/>
              </a:rPr>
              <a:t>C</a:t>
            </a:r>
            <a:endParaRPr lang="en-US" sz="1250" dirty="0"/>
          </a:p>
        </p:txBody>
      </p:sp>
      <p:sp>
        <p:nvSpPr>
          <p:cNvPr id="22" name="Text 20"/>
          <p:cNvSpPr txBox="1"/>
          <p:nvPr/>
        </p:nvSpPr>
        <p:spPr>
          <a:xfrm>
            <a:off x="3895344" y="2606040"/>
            <a:ext cx="1216152" cy="274320"/>
          </a:xfrm>
          <a:prstGeom prst="rect">
            <a:avLst/>
          </a:prstGeom>
          <a:noFill/>
          <a:ln/>
        </p:spPr>
        <p:txBody>
          <a:bodyPr wrap="square" lIns="0" tIns="0" rIns="0" bIns="0" rtlCol="0" anchor="ctr">
            <a:normAutofit/>
          </a:bodyPr>
          <a:lstStyle/>
          <a:p>
            <a:pPr algn="ctr" indent="0" marL="0">
              <a:buNone/>
            </a:pPr>
            <a:r>
              <a:rPr lang="en-US" sz="1450" b="1" dirty="0">
                <a:solidFill>
                  <a:srgbClr val="F7FAFC"/>
                </a:solidFill>
                <a:latin typeface="Inter" pitchFamily="34" charset="0"/>
                <a:ea typeface="Inter" pitchFamily="34" charset="-122"/>
                <a:cs typeface="Inter" pitchFamily="34" charset="-120"/>
              </a:rPr>
              <a:t>Coding</a:t>
            </a:r>
            <a:endParaRPr lang="en-US" sz="1450" dirty="0"/>
          </a:p>
        </p:txBody>
      </p:sp>
      <p:sp>
        <p:nvSpPr>
          <p:cNvPr id="23" name="Text 21"/>
          <p:cNvSpPr txBox="1"/>
          <p:nvPr/>
        </p:nvSpPr>
        <p:spPr>
          <a:xfrm>
            <a:off x="3730752" y="2935224"/>
            <a:ext cx="1581912" cy="475488"/>
          </a:xfrm>
          <a:prstGeom prst="rect">
            <a:avLst/>
          </a:prstGeom>
          <a:noFill/>
          <a:ln/>
        </p:spPr>
        <p:txBody>
          <a:bodyPr wrap="square" lIns="0" tIns="0" rIns="0" bIns="0" rtlCol="0" anchor="t">
            <a:normAutofit/>
          </a:bodyPr>
          <a:lstStyle/>
          <a:p>
            <a:pPr algn="ctr" indent="0" marL="0">
              <a:buNone/>
            </a:pPr>
            <a:r>
              <a:rPr lang="en-US" sz="1070" dirty="0">
                <a:solidFill>
                  <a:srgbClr val="8FA3B8"/>
                </a:solidFill>
                <a:latin typeface="Inter" pitchFamily="34" charset="0"/>
                <a:ea typeface="Inter" pitchFamily="34" charset="-122"/>
                <a:cs typeface="Inter" pitchFamily="34" charset="-120"/>
              </a:rPr>
              <a:t>Plan CREATE / MODIFY</a:t>
            </a:r>
            <a:endParaRPr lang="en-US" sz="1070" dirty="0"/>
          </a:p>
        </p:txBody>
      </p:sp>
      <p:sp>
        <p:nvSpPr>
          <p:cNvPr id="24" name="Shape 22"/>
          <p:cNvSpPr/>
          <p:nvPr/>
        </p:nvSpPr>
        <p:spPr>
          <a:xfrm>
            <a:off x="4297680" y="3447288"/>
            <a:ext cx="0" cy="384048"/>
          </a:xfrm>
          <a:prstGeom prst="line">
            <a:avLst/>
          </a:prstGeom>
          <a:noFill/>
          <a:ln w="13970">
            <a:solidFill>
              <a:srgbClr val="274258"/>
            </a:solidFill>
            <a:prstDash val="solid"/>
          </a:ln>
        </p:spPr>
      </p:sp>
      <p:sp>
        <p:nvSpPr>
          <p:cNvPr id="25" name="Shape 23"/>
          <p:cNvSpPr/>
          <p:nvPr/>
        </p:nvSpPr>
        <p:spPr>
          <a:xfrm>
            <a:off x="4256532" y="3351276"/>
            <a:ext cx="82296" cy="82296"/>
          </a:xfrm>
          <a:prstGeom prst="ellipse">
            <a:avLst/>
          </a:prstGeom>
          <a:solidFill>
            <a:srgbClr val="45D0E6"/>
          </a:solidFill>
          <a:ln w="12700">
            <a:solidFill>
              <a:srgbClr val="45D0E6"/>
            </a:solidFill>
            <a:prstDash val="solid"/>
          </a:ln>
        </p:spPr>
      </p:sp>
      <p:sp>
        <p:nvSpPr>
          <p:cNvPr id="26" name="Shape 24"/>
          <p:cNvSpPr/>
          <p:nvPr/>
        </p:nvSpPr>
        <p:spPr>
          <a:xfrm>
            <a:off x="5678424" y="1993392"/>
            <a:ext cx="493776" cy="493776"/>
          </a:xfrm>
          <a:prstGeom prst="ellipse">
            <a:avLst/>
          </a:prstGeom>
          <a:solidFill>
            <a:srgbClr val="38D996"/>
          </a:solidFill>
          <a:ln w="12700">
            <a:solidFill>
              <a:srgbClr val="38D996"/>
            </a:solidFill>
            <a:prstDash val="solid"/>
          </a:ln>
        </p:spPr>
      </p:sp>
      <p:sp>
        <p:nvSpPr>
          <p:cNvPr id="27" name="Text 25"/>
          <p:cNvSpPr txBox="1"/>
          <p:nvPr/>
        </p:nvSpPr>
        <p:spPr>
          <a:xfrm>
            <a:off x="5678424" y="1993392"/>
            <a:ext cx="493776" cy="493776"/>
          </a:xfrm>
          <a:prstGeom prst="rect">
            <a:avLst/>
          </a:prstGeom>
          <a:noFill/>
          <a:ln/>
        </p:spPr>
        <p:txBody>
          <a:bodyPr wrap="square" lIns="0" tIns="0" rIns="0" bIns="0" rtlCol="0" anchor="ctr">
            <a:normAutofit/>
          </a:bodyPr>
          <a:lstStyle/>
          <a:p>
            <a:pPr algn="ctr" indent="0" marL="0">
              <a:buNone/>
            </a:pPr>
            <a:r>
              <a:rPr lang="en-US" sz="1250" b="1" dirty="0">
                <a:solidFill>
                  <a:srgbClr val="F7FAFC"/>
                </a:solidFill>
                <a:latin typeface="Inter" pitchFamily="34" charset="0"/>
                <a:ea typeface="Inter" pitchFamily="34" charset="-122"/>
                <a:cs typeface="Inter" pitchFamily="34" charset="-120"/>
              </a:rPr>
              <a:t>Q</a:t>
            </a:r>
            <a:endParaRPr lang="en-US" sz="1250" dirty="0"/>
          </a:p>
        </p:txBody>
      </p:sp>
      <p:sp>
        <p:nvSpPr>
          <p:cNvPr id="28" name="Text 26"/>
          <p:cNvSpPr txBox="1"/>
          <p:nvPr/>
        </p:nvSpPr>
        <p:spPr>
          <a:xfrm>
            <a:off x="5522976" y="2606040"/>
            <a:ext cx="1216152" cy="274320"/>
          </a:xfrm>
          <a:prstGeom prst="rect">
            <a:avLst/>
          </a:prstGeom>
          <a:noFill/>
          <a:ln/>
        </p:spPr>
        <p:txBody>
          <a:bodyPr wrap="square" lIns="0" tIns="0" rIns="0" bIns="0" rtlCol="0" anchor="ctr">
            <a:normAutofit/>
          </a:bodyPr>
          <a:lstStyle/>
          <a:p>
            <a:pPr algn="ctr" indent="0" marL="0">
              <a:buNone/>
            </a:pPr>
            <a:r>
              <a:rPr lang="en-US" sz="1450" b="1" dirty="0">
                <a:solidFill>
                  <a:srgbClr val="F7FAFC"/>
                </a:solidFill>
                <a:latin typeface="Inter" pitchFamily="34" charset="0"/>
                <a:ea typeface="Inter" pitchFamily="34" charset="-122"/>
                <a:cs typeface="Inter" pitchFamily="34" charset="-120"/>
              </a:rPr>
              <a:t>QA</a:t>
            </a:r>
            <a:endParaRPr lang="en-US" sz="1450" dirty="0"/>
          </a:p>
        </p:txBody>
      </p:sp>
      <p:sp>
        <p:nvSpPr>
          <p:cNvPr id="29" name="Text 27"/>
          <p:cNvSpPr txBox="1"/>
          <p:nvPr/>
        </p:nvSpPr>
        <p:spPr>
          <a:xfrm>
            <a:off x="5358384" y="2935224"/>
            <a:ext cx="1581912" cy="475488"/>
          </a:xfrm>
          <a:prstGeom prst="rect">
            <a:avLst/>
          </a:prstGeom>
          <a:noFill/>
          <a:ln/>
        </p:spPr>
        <p:txBody>
          <a:bodyPr wrap="square" lIns="0" tIns="0" rIns="0" bIns="0" rtlCol="0" anchor="t">
            <a:normAutofit/>
          </a:bodyPr>
          <a:lstStyle/>
          <a:p>
            <a:pPr algn="ctr" indent="0" marL="0">
              <a:buNone/>
            </a:pPr>
            <a:r>
              <a:rPr lang="en-US" sz="1070" dirty="0">
                <a:solidFill>
                  <a:srgbClr val="8FA3B8"/>
                </a:solidFill>
                <a:latin typeface="Inter" pitchFamily="34" charset="0"/>
                <a:ea typeface="Inter" pitchFamily="34" charset="-122"/>
                <a:cs typeface="Inter" pitchFamily="34" charset="-120"/>
              </a:rPr>
              <a:t>Pruebas independientes</a:t>
            </a:r>
            <a:endParaRPr lang="en-US" sz="1070" dirty="0"/>
          </a:p>
        </p:txBody>
      </p:sp>
      <p:sp>
        <p:nvSpPr>
          <p:cNvPr id="30" name="Shape 28"/>
          <p:cNvSpPr/>
          <p:nvPr/>
        </p:nvSpPr>
        <p:spPr>
          <a:xfrm>
            <a:off x="5925312" y="3447288"/>
            <a:ext cx="0" cy="384048"/>
          </a:xfrm>
          <a:prstGeom prst="line">
            <a:avLst/>
          </a:prstGeom>
          <a:noFill/>
          <a:ln w="13970">
            <a:solidFill>
              <a:srgbClr val="274258"/>
            </a:solidFill>
            <a:prstDash val="solid"/>
          </a:ln>
        </p:spPr>
      </p:sp>
      <p:sp>
        <p:nvSpPr>
          <p:cNvPr id="31" name="Shape 29"/>
          <p:cNvSpPr/>
          <p:nvPr/>
        </p:nvSpPr>
        <p:spPr>
          <a:xfrm>
            <a:off x="5884164" y="3351276"/>
            <a:ext cx="82296" cy="82296"/>
          </a:xfrm>
          <a:prstGeom prst="ellipse">
            <a:avLst/>
          </a:prstGeom>
          <a:solidFill>
            <a:srgbClr val="38D996"/>
          </a:solidFill>
          <a:ln w="12700">
            <a:solidFill>
              <a:srgbClr val="38D996"/>
            </a:solidFill>
            <a:prstDash val="solid"/>
          </a:ln>
        </p:spPr>
      </p:sp>
      <p:sp>
        <p:nvSpPr>
          <p:cNvPr id="32" name="Shape 30"/>
          <p:cNvSpPr/>
          <p:nvPr/>
        </p:nvSpPr>
        <p:spPr>
          <a:xfrm>
            <a:off x="7306056" y="1993392"/>
            <a:ext cx="493776" cy="493776"/>
          </a:xfrm>
          <a:prstGeom prst="ellipse">
            <a:avLst/>
          </a:prstGeom>
          <a:solidFill>
            <a:srgbClr val="F2B138"/>
          </a:solidFill>
          <a:ln w="12700">
            <a:solidFill>
              <a:srgbClr val="F2B138"/>
            </a:solidFill>
            <a:prstDash val="solid"/>
          </a:ln>
        </p:spPr>
      </p:sp>
      <p:sp>
        <p:nvSpPr>
          <p:cNvPr id="33" name="Text 31"/>
          <p:cNvSpPr txBox="1"/>
          <p:nvPr/>
        </p:nvSpPr>
        <p:spPr>
          <a:xfrm>
            <a:off x="7306056" y="1993392"/>
            <a:ext cx="493776" cy="493776"/>
          </a:xfrm>
          <a:prstGeom prst="rect">
            <a:avLst/>
          </a:prstGeom>
          <a:noFill/>
          <a:ln/>
        </p:spPr>
        <p:txBody>
          <a:bodyPr wrap="square" lIns="0" tIns="0" rIns="0" bIns="0" rtlCol="0" anchor="ctr">
            <a:normAutofit/>
          </a:bodyPr>
          <a:lstStyle/>
          <a:p>
            <a:pPr algn="ctr" indent="0" marL="0">
              <a:buNone/>
            </a:pPr>
            <a:r>
              <a:rPr lang="en-US" sz="1250" b="1" dirty="0">
                <a:solidFill>
                  <a:srgbClr val="F7FAFC"/>
                </a:solidFill>
                <a:latin typeface="Inter" pitchFamily="34" charset="0"/>
                <a:ea typeface="Inter" pitchFamily="34" charset="-122"/>
                <a:cs typeface="Inter" pitchFamily="34" charset="-120"/>
              </a:rPr>
              <a:t>D</a:t>
            </a:r>
            <a:endParaRPr lang="en-US" sz="1250" dirty="0"/>
          </a:p>
        </p:txBody>
      </p:sp>
      <p:sp>
        <p:nvSpPr>
          <p:cNvPr id="34" name="Text 32"/>
          <p:cNvSpPr txBox="1"/>
          <p:nvPr/>
        </p:nvSpPr>
        <p:spPr>
          <a:xfrm>
            <a:off x="7150608" y="2606040"/>
            <a:ext cx="1216152" cy="274320"/>
          </a:xfrm>
          <a:prstGeom prst="rect">
            <a:avLst/>
          </a:prstGeom>
          <a:noFill/>
          <a:ln/>
        </p:spPr>
        <p:txBody>
          <a:bodyPr wrap="square" lIns="0" tIns="0" rIns="0" bIns="0" rtlCol="0" anchor="ctr">
            <a:normAutofit/>
          </a:bodyPr>
          <a:lstStyle/>
          <a:p>
            <a:pPr algn="ctr" indent="0" marL="0">
              <a:buNone/>
            </a:pPr>
            <a:r>
              <a:rPr lang="en-US" sz="1450" b="1" dirty="0">
                <a:solidFill>
                  <a:srgbClr val="F7FAFC"/>
                </a:solidFill>
                <a:latin typeface="Inter" pitchFamily="34" charset="0"/>
                <a:ea typeface="Inter" pitchFamily="34" charset="-122"/>
                <a:cs typeface="Inter" pitchFamily="34" charset="-120"/>
              </a:rPr>
              <a:t>Debug</a:t>
            </a:r>
            <a:endParaRPr lang="en-US" sz="1450" dirty="0"/>
          </a:p>
        </p:txBody>
      </p:sp>
      <p:sp>
        <p:nvSpPr>
          <p:cNvPr id="35" name="Text 33"/>
          <p:cNvSpPr txBox="1"/>
          <p:nvPr/>
        </p:nvSpPr>
        <p:spPr>
          <a:xfrm>
            <a:off x="6986016" y="2935224"/>
            <a:ext cx="1581912" cy="475488"/>
          </a:xfrm>
          <a:prstGeom prst="rect">
            <a:avLst/>
          </a:prstGeom>
          <a:noFill/>
          <a:ln/>
        </p:spPr>
        <p:txBody>
          <a:bodyPr wrap="square" lIns="0" tIns="0" rIns="0" bIns="0" rtlCol="0" anchor="t">
            <a:normAutofit/>
          </a:bodyPr>
          <a:lstStyle/>
          <a:p>
            <a:pPr algn="ctr" indent="0" marL="0">
              <a:buNone/>
            </a:pPr>
            <a:r>
              <a:rPr lang="en-US" sz="1070" dirty="0">
                <a:solidFill>
                  <a:srgbClr val="8FA3B8"/>
                </a:solidFill>
                <a:latin typeface="Inter" pitchFamily="34" charset="0"/>
                <a:ea typeface="Inter" pitchFamily="34" charset="-122"/>
                <a:cs typeface="Inter" pitchFamily="34" charset="-120"/>
              </a:rPr>
              <a:t>Corrige fallos de build</a:t>
            </a:r>
            <a:endParaRPr lang="en-US" sz="1070" dirty="0"/>
          </a:p>
        </p:txBody>
      </p:sp>
      <p:sp>
        <p:nvSpPr>
          <p:cNvPr id="36" name="Shape 34"/>
          <p:cNvSpPr/>
          <p:nvPr/>
        </p:nvSpPr>
        <p:spPr>
          <a:xfrm>
            <a:off x="7552944" y="3447288"/>
            <a:ext cx="0" cy="384048"/>
          </a:xfrm>
          <a:prstGeom prst="line">
            <a:avLst/>
          </a:prstGeom>
          <a:noFill/>
          <a:ln w="13970">
            <a:solidFill>
              <a:srgbClr val="274258"/>
            </a:solidFill>
            <a:prstDash val="solid"/>
          </a:ln>
        </p:spPr>
      </p:sp>
      <p:sp>
        <p:nvSpPr>
          <p:cNvPr id="37" name="Shape 35"/>
          <p:cNvSpPr/>
          <p:nvPr/>
        </p:nvSpPr>
        <p:spPr>
          <a:xfrm>
            <a:off x="7511796" y="3351276"/>
            <a:ext cx="82296" cy="82296"/>
          </a:xfrm>
          <a:prstGeom prst="ellipse">
            <a:avLst/>
          </a:prstGeom>
          <a:solidFill>
            <a:srgbClr val="F2B138"/>
          </a:solidFill>
          <a:ln w="12700">
            <a:solidFill>
              <a:srgbClr val="F2B138"/>
            </a:solidFill>
            <a:prstDash val="solid"/>
          </a:ln>
        </p:spPr>
      </p:sp>
      <p:sp>
        <p:nvSpPr>
          <p:cNvPr id="38" name="Shape 36"/>
          <p:cNvSpPr/>
          <p:nvPr/>
        </p:nvSpPr>
        <p:spPr>
          <a:xfrm>
            <a:off x="8933688" y="1993392"/>
            <a:ext cx="493776" cy="493776"/>
          </a:xfrm>
          <a:prstGeom prst="ellipse">
            <a:avLst/>
          </a:prstGeom>
          <a:solidFill>
            <a:srgbClr val="FF5B6E"/>
          </a:solidFill>
          <a:ln w="12700">
            <a:solidFill>
              <a:srgbClr val="FF5B6E"/>
            </a:solidFill>
            <a:prstDash val="solid"/>
          </a:ln>
        </p:spPr>
      </p:sp>
      <p:sp>
        <p:nvSpPr>
          <p:cNvPr id="39" name="Text 37"/>
          <p:cNvSpPr txBox="1"/>
          <p:nvPr/>
        </p:nvSpPr>
        <p:spPr>
          <a:xfrm>
            <a:off x="8933688" y="1993392"/>
            <a:ext cx="493776" cy="493776"/>
          </a:xfrm>
          <a:prstGeom prst="rect">
            <a:avLst/>
          </a:prstGeom>
          <a:noFill/>
          <a:ln/>
        </p:spPr>
        <p:txBody>
          <a:bodyPr wrap="square" lIns="0" tIns="0" rIns="0" bIns="0" rtlCol="0" anchor="ctr">
            <a:normAutofit/>
          </a:bodyPr>
          <a:lstStyle/>
          <a:p>
            <a:pPr algn="ctr" indent="0" marL="0">
              <a:buNone/>
            </a:pPr>
            <a:r>
              <a:rPr lang="en-US" sz="1250" b="1" dirty="0">
                <a:solidFill>
                  <a:srgbClr val="F7FAFC"/>
                </a:solidFill>
                <a:latin typeface="Inter" pitchFamily="34" charset="0"/>
                <a:ea typeface="Inter" pitchFamily="34" charset="-122"/>
                <a:cs typeface="Inter" pitchFamily="34" charset="-120"/>
              </a:rPr>
              <a:t>S</a:t>
            </a:r>
            <a:endParaRPr lang="en-US" sz="1250" dirty="0"/>
          </a:p>
        </p:txBody>
      </p:sp>
      <p:sp>
        <p:nvSpPr>
          <p:cNvPr id="40" name="Text 38"/>
          <p:cNvSpPr txBox="1"/>
          <p:nvPr/>
        </p:nvSpPr>
        <p:spPr>
          <a:xfrm>
            <a:off x="8778240" y="2606040"/>
            <a:ext cx="1216152" cy="274320"/>
          </a:xfrm>
          <a:prstGeom prst="rect">
            <a:avLst/>
          </a:prstGeom>
          <a:noFill/>
          <a:ln/>
        </p:spPr>
        <p:txBody>
          <a:bodyPr wrap="square" lIns="0" tIns="0" rIns="0" bIns="0" rtlCol="0" anchor="ctr">
            <a:normAutofit/>
          </a:bodyPr>
          <a:lstStyle/>
          <a:p>
            <a:pPr algn="ctr" indent="0" marL="0">
              <a:buNone/>
            </a:pPr>
            <a:r>
              <a:rPr lang="en-US" sz="1450" b="1" dirty="0">
                <a:solidFill>
                  <a:srgbClr val="F7FAFC"/>
                </a:solidFill>
                <a:latin typeface="Inter" pitchFamily="34" charset="0"/>
                <a:ea typeface="Inter" pitchFamily="34" charset="-122"/>
                <a:cs typeface="Inter" pitchFamily="34" charset="-120"/>
              </a:rPr>
              <a:t>Security</a:t>
            </a:r>
            <a:endParaRPr lang="en-US" sz="1450" dirty="0"/>
          </a:p>
        </p:txBody>
      </p:sp>
      <p:sp>
        <p:nvSpPr>
          <p:cNvPr id="41" name="Text 39"/>
          <p:cNvSpPr txBox="1"/>
          <p:nvPr/>
        </p:nvSpPr>
        <p:spPr>
          <a:xfrm>
            <a:off x="8613648" y="2935224"/>
            <a:ext cx="1581912" cy="475488"/>
          </a:xfrm>
          <a:prstGeom prst="rect">
            <a:avLst/>
          </a:prstGeom>
          <a:noFill/>
          <a:ln/>
        </p:spPr>
        <p:txBody>
          <a:bodyPr wrap="square" lIns="0" tIns="0" rIns="0" bIns="0" rtlCol="0" anchor="t">
            <a:normAutofit/>
          </a:bodyPr>
          <a:lstStyle/>
          <a:p>
            <a:pPr algn="ctr" indent="0" marL="0">
              <a:buNone/>
            </a:pPr>
            <a:r>
              <a:rPr lang="en-US" sz="1070" dirty="0">
                <a:solidFill>
                  <a:srgbClr val="8FA3B8"/>
                </a:solidFill>
                <a:latin typeface="Inter" pitchFamily="34" charset="0"/>
                <a:ea typeface="Inter" pitchFamily="34" charset="-122"/>
                <a:cs typeface="Inter" pitchFamily="34" charset="-120"/>
              </a:rPr>
              <a:t>Escanea y bloquea críticos</a:t>
            </a:r>
            <a:endParaRPr lang="en-US" sz="1070" dirty="0"/>
          </a:p>
        </p:txBody>
      </p:sp>
      <p:sp>
        <p:nvSpPr>
          <p:cNvPr id="42" name="Shape 40"/>
          <p:cNvSpPr/>
          <p:nvPr/>
        </p:nvSpPr>
        <p:spPr>
          <a:xfrm>
            <a:off x="9180576" y="3447288"/>
            <a:ext cx="0" cy="384048"/>
          </a:xfrm>
          <a:prstGeom prst="line">
            <a:avLst/>
          </a:prstGeom>
          <a:noFill/>
          <a:ln w="13970">
            <a:solidFill>
              <a:srgbClr val="274258"/>
            </a:solidFill>
            <a:prstDash val="solid"/>
          </a:ln>
        </p:spPr>
      </p:sp>
      <p:sp>
        <p:nvSpPr>
          <p:cNvPr id="43" name="Shape 41"/>
          <p:cNvSpPr/>
          <p:nvPr/>
        </p:nvSpPr>
        <p:spPr>
          <a:xfrm>
            <a:off x="9139428" y="3351276"/>
            <a:ext cx="82296" cy="82296"/>
          </a:xfrm>
          <a:prstGeom prst="ellipse">
            <a:avLst/>
          </a:prstGeom>
          <a:solidFill>
            <a:srgbClr val="FF5B6E"/>
          </a:solidFill>
          <a:ln w="12700">
            <a:solidFill>
              <a:srgbClr val="FF5B6E"/>
            </a:solidFill>
            <a:prstDash val="solid"/>
          </a:ln>
        </p:spPr>
      </p:sp>
      <p:sp>
        <p:nvSpPr>
          <p:cNvPr id="44" name="Shape 42"/>
          <p:cNvSpPr/>
          <p:nvPr/>
        </p:nvSpPr>
        <p:spPr>
          <a:xfrm>
            <a:off x="10561320" y="1993392"/>
            <a:ext cx="493776" cy="493776"/>
          </a:xfrm>
          <a:prstGeom prst="ellipse">
            <a:avLst/>
          </a:prstGeom>
          <a:solidFill>
            <a:srgbClr val="1B75FF"/>
          </a:solidFill>
          <a:ln w="12700">
            <a:solidFill>
              <a:srgbClr val="1B75FF"/>
            </a:solidFill>
            <a:prstDash val="solid"/>
          </a:ln>
        </p:spPr>
      </p:sp>
      <p:sp>
        <p:nvSpPr>
          <p:cNvPr id="45" name="Text 43"/>
          <p:cNvSpPr txBox="1"/>
          <p:nvPr/>
        </p:nvSpPr>
        <p:spPr>
          <a:xfrm>
            <a:off x="10561320" y="1993392"/>
            <a:ext cx="493776" cy="493776"/>
          </a:xfrm>
          <a:prstGeom prst="rect">
            <a:avLst/>
          </a:prstGeom>
          <a:noFill/>
          <a:ln/>
        </p:spPr>
        <p:txBody>
          <a:bodyPr wrap="square" lIns="0" tIns="0" rIns="0" bIns="0" rtlCol="0" anchor="ctr">
            <a:normAutofit/>
          </a:bodyPr>
          <a:lstStyle/>
          <a:p>
            <a:pPr algn="ctr" indent="0" marL="0">
              <a:buNone/>
            </a:pPr>
            <a:r>
              <a:rPr lang="en-US" sz="1250" b="1" dirty="0">
                <a:solidFill>
                  <a:srgbClr val="F7FAFC"/>
                </a:solidFill>
                <a:latin typeface="Inter" pitchFamily="34" charset="0"/>
                <a:ea typeface="Inter" pitchFamily="34" charset="-122"/>
                <a:cs typeface="Inter" pitchFamily="34" charset="-120"/>
              </a:rPr>
              <a:t>R</a:t>
            </a:r>
            <a:endParaRPr lang="en-US" sz="1250" dirty="0"/>
          </a:p>
        </p:txBody>
      </p:sp>
      <p:sp>
        <p:nvSpPr>
          <p:cNvPr id="46" name="Text 44"/>
          <p:cNvSpPr txBox="1"/>
          <p:nvPr/>
        </p:nvSpPr>
        <p:spPr>
          <a:xfrm>
            <a:off x="10405872" y="2606040"/>
            <a:ext cx="1216152" cy="274320"/>
          </a:xfrm>
          <a:prstGeom prst="rect">
            <a:avLst/>
          </a:prstGeom>
          <a:noFill/>
          <a:ln/>
        </p:spPr>
        <p:txBody>
          <a:bodyPr wrap="square" lIns="0" tIns="0" rIns="0" bIns="0" rtlCol="0" anchor="ctr">
            <a:normAutofit/>
          </a:bodyPr>
          <a:lstStyle/>
          <a:p>
            <a:pPr algn="ctr" indent="0" marL="0">
              <a:buNone/>
            </a:pPr>
            <a:r>
              <a:rPr lang="en-US" sz="1450" b="1" dirty="0">
                <a:solidFill>
                  <a:srgbClr val="F7FAFC"/>
                </a:solidFill>
                <a:latin typeface="Inter" pitchFamily="34" charset="0"/>
                <a:ea typeface="Inter" pitchFamily="34" charset="-122"/>
                <a:cs typeface="Inter" pitchFamily="34" charset="-120"/>
              </a:rPr>
              <a:t>Review</a:t>
            </a:r>
            <a:endParaRPr lang="en-US" sz="1450" dirty="0"/>
          </a:p>
        </p:txBody>
      </p:sp>
      <p:sp>
        <p:nvSpPr>
          <p:cNvPr id="47" name="Text 45"/>
          <p:cNvSpPr txBox="1"/>
          <p:nvPr/>
        </p:nvSpPr>
        <p:spPr>
          <a:xfrm>
            <a:off x="10241280" y="2935224"/>
            <a:ext cx="1581912" cy="475488"/>
          </a:xfrm>
          <a:prstGeom prst="rect">
            <a:avLst/>
          </a:prstGeom>
          <a:noFill/>
          <a:ln/>
        </p:spPr>
        <p:txBody>
          <a:bodyPr wrap="square" lIns="0" tIns="0" rIns="0" bIns="0" rtlCol="0" anchor="t">
            <a:normAutofit/>
          </a:bodyPr>
          <a:lstStyle/>
          <a:p>
            <a:pPr algn="ctr" indent="0" marL="0">
              <a:buNone/>
            </a:pPr>
            <a:r>
              <a:rPr lang="en-US" sz="1070" dirty="0">
                <a:solidFill>
                  <a:srgbClr val="8FA3B8"/>
                </a:solidFill>
                <a:latin typeface="Inter" pitchFamily="34" charset="0"/>
                <a:ea typeface="Inter" pitchFamily="34" charset="-122"/>
                <a:cs typeface="Inter" pitchFamily="34" charset="-120"/>
              </a:rPr>
              <a:t>Diff + tests + seguridad</a:t>
            </a:r>
            <a:endParaRPr lang="en-US" sz="1070" dirty="0"/>
          </a:p>
        </p:txBody>
      </p:sp>
      <p:sp>
        <p:nvSpPr>
          <p:cNvPr id="48" name="Shape 46"/>
          <p:cNvSpPr/>
          <p:nvPr/>
        </p:nvSpPr>
        <p:spPr>
          <a:xfrm>
            <a:off x="10808208" y="3447288"/>
            <a:ext cx="0" cy="384048"/>
          </a:xfrm>
          <a:prstGeom prst="line">
            <a:avLst/>
          </a:prstGeom>
          <a:noFill/>
          <a:ln w="13970">
            <a:solidFill>
              <a:srgbClr val="274258"/>
            </a:solidFill>
            <a:prstDash val="solid"/>
          </a:ln>
        </p:spPr>
      </p:sp>
      <p:sp>
        <p:nvSpPr>
          <p:cNvPr id="49" name="Shape 47"/>
          <p:cNvSpPr/>
          <p:nvPr/>
        </p:nvSpPr>
        <p:spPr>
          <a:xfrm>
            <a:off x="10767060" y="3351276"/>
            <a:ext cx="82296" cy="82296"/>
          </a:xfrm>
          <a:prstGeom prst="ellipse">
            <a:avLst/>
          </a:prstGeom>
          <a:solidFill>
            <a:srgbClr val="1B75FF"/>
          </a:solidFill>
          <a:ln w="12700">
            <a:solidFill>
              <a:srgbClr val="1B75FF"/>
            </a:solidFill>
            <a:prstDash val="solid"/>
          </a:ln>
        </p:spPr>
      </p:sp>
      <p:sp>
        <p:nvSpPr>
          <p:cNvPr id="50" name="Shape 48"/>
          <p:cNvSpPr/>
          <p:nvPr/>
        </p:nvSpPr>
        <p:spPr>
          <a:xfrm>
            <a:off x="713232" y="4023360"/>
            <a:ext cx="10762488" cy="1572768"/>
          </a:xfrm>
          <a:prstGeom prst="roundRect">
            <a:avLst>
              <a:gd name="adj" fmla="val 6977"/>
            </a:avLst>
          </a:prstGeom>
          <a:solidFill>
            <a:srgbClr val="0B1D2D"/>
          </a:solidFill>
          <a:ln w="12700">
            <a:solidFill>
              <a:srgbClr val="274258"/>
            </a:solidFill>
            <a:prstDash val="solid"/>
          </a:ln>
        </p:spPr>
      </p:sp>
      <p:sp>
        <p:nvSpPr>
          <p:cNvPr id="51" name="Text 49"/>
          <p:cNvSpPr txBox="1"/>
          <p:nvPr/>
        </p:nvSpPr>
        <p:spPr>
          <a:xfrm>
            <a:off x="932688" y="4242816"/>
            <a:ext cx="1463040" cy="228600"/>
          </a:xfrm>
          <a:prstGeom prst="rect">
            <a:avLst/>
          </a:prstGeom>
          <a:noFill/>
          <a:ln/>
        </p:spPr>
        <p:txBody>
          <a:bodyPr wrap="square" lIns="0" tIns="0" rIns="0" bIns="0" rtlCol="0" anchor="ctr">
            <a:normAutofit/>
          </a:bodyPr>
          <a:lstStyle/>
          <a:p>
            <a:pPr algn="l" indent="0" marL="0">
              <a:buNone/>
            </a:pPr>
            <a:r>
              <a:rPr lang="en-US" sz="1050" b="1" spc="100" kern="0" dirty="0">
                <a:solidFill>
                  <a:srgbClr val="2EA8FF"/>
                </a:solidFill>
                <a:latin typeface="Inter" pitchFamily="34" charset="0"/>
                <a:ea typeface="Inter" pitchFamily="34" charset="-122"/>
                <a:cs typeface="Inter" pitchFamily="34" charset="-120"/>
              </a:rPr>
              <a:t>DIFERENCIA CLAVE</a:t>
            </a:r>
            <a:endParaRPr lang="en-US" sz="1050" dirty="0"/>
          </a:p>
        </p:txBody>
      </p:sp>
      <p:sp>
        <p:nvSpPr>
          <p:cNvPr id="52" name="Text 50"/>
          <p:cNvSpPr txBox="1"/>
          <p:nvPr/>
        </p:nvSpPr>
        <p:spPr>
          <a:xfrm>
            <a:off x="932688" y="4553712"/>
            <a:ext cx="9948672" cy="530352"/>
          </a:xfrm>
          <a:prstGeom prst="rect">
            <a:avLst/>
          </a:prstGeom>
          <a:noFill/>
          <a:ln/>
        </p:spPr>
        <p:txBody>
          <a:bodyPr wrap="square" lIns="0" tIns="0" rIns="0" bIns="0" rtlCol="0" anchor="ctr">
            <a:normAutofit/>
          </a:bodyPr>
          <a:lstStyle/>
          <a:p>
            <a:pPr algn="l" indent="0" marL="0">
              <a:buNone/>
            </a:pPr>
            <a:r>
              <a:rPr lang="en-US" sz="1500" b="1" dirty="0">
                <a:solidFill>
                  <a:srgbClr val="DCE6F2"/>
                </a:solidFill>
                <a:latin typeface="Inter" pitchFamily="34" charset="0"/>
                <a:ea typeface="Inter" pitchFamily="34" charset="-122"/>
                <a:cs typeface="Inter" pitchFamily="34" charset="-120"/>
              </a:rPr>
              <a:t>QA no “aprueba” el código: genera pruebas de forma independiente. Security puede detener el pipeline. Review consolida evidencia antes de la compuerta humana.</a:t>
            </a:r>
            <a:endParaRPr lang="en-US" sz="1500" dirty="0"/>
          </a:p>
        </p:txBody>
      </p:sp>
      <p:sp>
        <p:nvSpPr>
          <p:cNvPr id="53" name="Text 51"/>
          <p:cNvSpPr txBox="1"/>
          <p:nvPr/>
        </p:nvSpPr>
        <p:spPr>
          <a:xfrm>
            <a:off x="932688" y="5166360"/>
            <a:ext cx="9820656" cy="256032"/>
          </a:xfrm>
          <a:prstGeom prst="rect">
            <a:avLst/>
          </a:prstGeom>
          <a:noFill/>
          <a:ln/>
        </p:spPr>
        <p:txBody>
          <a:bodyPr wrap="square" lIns="0" tIns="0" rIns="0" bIns="0" rtlCol="0" anchor="ctr">
            <a:normAutofit/>
          </a:bodyPr>
          <a:lstStyle/>
          <a:p>
            <a:pPr algn="l" indent="0" marL="0">
              <a:buNone/>
            </a:pPr>
            <a:r>
              <a:rPr lang="en-US" sz="1250" dirty="0">
                <a:solidFill>
                  <a:srgbClr val="8FA3B8"/>
                </a:solidFill>
                <a:latin typeface="Inter" pitchFamily="34" charset="0"/>
                <a:ea typeface="Inter" pitchFamily="34" charset="-122"/>
                <a:cs typeface="Inter" pitchFamily="34" charset="-120"/>
              </a:rPr>
              <a:t>El objetivo es reducir correlación de errores entre generación, prueba, seguridad y revisión.</a:t>
            </a:r>
            <a:endParaRPr lang="en-US" sz="1250" dirty="0"/>
          </a:p>
        </p:txBody>
      </p:sp>
      <p:sp>
        <p:nvSpPr>
          <p:cNvPr id="25" name="Slide Number Placeholder 0"/>
          <p:cNvSpPr>
            <a:spLocks noGrp="1"/>
          </p:cNvSpPr>
          <p:nvPr>
            <p:ph type="sldNum" sz="quarter" idx="4294967295"/>
          </p:nvPr>
        </p:nvSpPr>
        <p:spPr>
          <a:xfrm>
            <a:off x="11192256" y="6556248"/>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F879B"/>
                </a:solidFill>
                <a:latin typeface="Inter"/>
                <a:ea typeface="Inter"/>
                <a:cs typeface="Inter"/>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21792" y="384048"/>
            <a:ext cx="2926080" cy="256032"/>
          </a:xfrm>
          <a:prstGeom prst="rect">
            <a:avLst/>
          </a:prstGeom>
          <a:noFill/>
          <a:ln/>
        </p:spPr>
        <p:txBody>
          <a:bodyPr wrap="square" lIns="0" tIns="0" rIns="0" bIns="0" rtlCol="0" anchor="ctr">
            <a:normAutofit/>
          </a:bodyPr>
          <a:lstStyle/>
          <a:p>
            <a:pPr algn="l" indent="0" marL="0">
              <a:buNone/>
            </a:pPr>
            <a:r>
              <a:rPr lang="en-US" sz="1050" b="1" spc="160" kern="0" dirty="0">
                <a:solidFill>
                  <a:srgbClr val="2EA8FF"/>
                </a:solidFill>
                <a:latin typeface="Inter" pitchFamily="34" charset="0"/>
                <a:ea typeface="Inter" pitchFamily="34" charset="-122"/>
                <a:cs typeface="Inter" pitchFamily="34" charset="-120"/>
              </a:rPr>
              <a:t>05 · PIPELINE</a:t>
            </a:r>
            <a:endParaRPr lang="en-US" sz="1050" dirty="0"/>
          </a:p>
        </p:txBody>
      </p:sp>
      <p:sp>
        <p:nvSpPr>
          <p:cNvPr id="3" name="Text 1"/>
          <p:cNvSpPr txBox="1"/>
          <p:nvPr/>
        </p:nvSpPr>
        <p:spPr>
          <a:xfrm>
            <a:off x="621792" y="713232"/>
            <a:ext cx="10927080" cy="530352"/>
          </a:xfrm>
          <a:prstGeom prst="rect">
            <a:avLst/>
          </a:prstGeom>
          <a:noFill/>
          <a:ln/>
        </p:spPr>
        <p:txBody>
          <a:bodyPr wrap="square" lIns="0" tIns="0" rIns="0" bIns="0" rtlCol="0" anchor="ctr">
            <a:normAutofit/>
          </a:bodyPr>
          <a:lstStyle/>
          <a:p>
            <a:pPr algn="l" indent="0" marL="0">
              <a:buNone/>
            </a:pPr>
            <a:r>
              <a:rPr lang="en-US" sz="3200" b="1" dirty="0">
                <a:solidFill>
                  <a:srgbClr val="F7FAFC"/>
                </a:solidFill>
                <a:latin typeface="Inter" pitchFamily="34" charset="0"/>
                <a:ea typeface="Inter" pitchFamily="34" charset="-122"/>
                <a:cs typeface="Inter" pitchFamily="34" charset="-120"/>
              </a:rPr>
              <a:t>El flujo de ingeniería es explícito y recuperable</a:t>
            </a:r>
            <a:endParaRPr lang="en-US" sz="3200" dirty="0"/>
          </a:p>
        </p:txBody>
      </p:sp>
      <p:sp>
        <p:nvSpPr>
          <p:cNvPr id="4" name="Text 2"/>
          <p:cNvSpPr txBox="1"/>
          <p:nvPr/>
        </p:nvSpPr>
        <p:spPr>
          <a:xfrm>
            <a:off x="621792" y="1261872"/>
            <a:ext cx="10744200" cy="384048"/>
          </a:xfrm>
          <a:prstGeom prst="rect">
            <a:avLst/>
          </a:prstGeom>
          <a:noFill/>
          <a:ln/>
        </p:spPr>
        <p:txBody>
          <a:bodyPr wrap="square" lIns="0" tIns="0" rIns="0" bIns="0" rtlCol="0" anchor="ctr">
            <a:normAutofit/>
          </a:bodyPr>
          <a:lstStyle/>
          <a:p>
            <a:pPr algn="l" indent="0" marL="0">
              <a:buNone/>
            </a:pPr>
            <a:r>
              <a:rPr lang="en-US" sz="1550" dirty="0">
                <a:solidFill>
                  <a:srgbClr val="8FA3B8"/>
                </a:solidFill>
                <a:latin typeface="Inter" pitchFamily="34" charset="0"/>
                <a:ea typeface="Inter" pitchFamily="34" charset="-122"/>
                <a:cs typeface="Inter" pitchFamily="34" charset="-120"/>
              </a:rPr>
              <a:t>La autocorrección está acotada: el build puede activar Debug hasta el máximo configurado.</a:t>
            </a:r>
            <a:endParaRPr lang="en-US" sz="1550" dirty="0"/>
          </a:p>
        </p:txBody>
      </p:sp>
      <p:sp>
        <p:nvSpPr>
          <p:cNvPr id="5" name="Shape 3"/>
          <p:cNvSpPr/>
          <p:nvPr/>
        </p:nvSpPr>
        <p:spPr>
          <a:xfrm>
            <a:off x="566928" y="2057400"/>
            <a:ext cx="1344168" cy="749808"/>
          </a:xfrm>
          <a:prstGeom prst="roundRect">
            <a:avLst>
              <a:gd name="adj" fmla="val 14634"/>
            </a:avLst>
          </a:prstGeom>
          <a:solidFill>
            <a:srgbClr val="102A40"/>
          </a:solidFill>
          <a:ln w="12700">
            <a:solidFill>
              <a:srgbClr val="274258"/>
            </a:solidFill>
            <a:prstDash val="solid"/>
          </a:ln>
        </p:spPr>
      </p:sp>
      <p:sp>
        <p:nvSpPr>
          <p:cNvPr id="6" name="Shape 4"/>
          <p:cNvSpPr/>
          <p:nvPr/>
        </p:nvSpPr>
        <p:spPr>
          <a:xfrm>
            <a:off x="658368" y="2148840"/>
            <a:ext cx="384048" cy="329184"/>
          </a:xfrm>
          <a:prstGeom prst="roundRect">
            <a:avLst>
              <a:gd name="adj" fmla="val 44444"/>
            </a:avLst>
          </a:prstGeom>
          <a:solidFill>
            <a:srgbClr val="1B75FF"/>
          </a:solidFill>
          <a:ln w="12700">
            <a:solidFill>
              <a:srgbClr val="1B75FF"/>
            </a:solidFill>
            <a:prstDash val="solid"/>
          </a:ln>
        </p:spPr>
      </p:sp>
      <p:sp>
        <p:nvSpPr>
          <p:cNvPr id="7" name="Text 5"/>
          <p:cNvSpPr txBox="1"/>
          <p:nvPr/>
        </p:nvSpPr>
        <p:spPr>
          <a:xfrm>
            <a:off x="731520" y="2167128"/>
            <a:ext cx="237744" cy="283464"/>
          </a:xfrm>
          <a:prstGeom prst="rect">
            <a:avLst/>
          </a:prstGeom>
          <a:noFill/>
          <a:ln/>
        </p:spPr>
        <p:txBody>
          <a:bodyPr wrap="square" lIns="0" tIns="0" rIns="0" bIns="0" rtlCol="0" anchor="ctr">
            <a:normAutofit/>
          </a:bodyPr>
          <a:lstStyle/>
          <a:p>
            <a:pPr algn="ctr" indent="0" marL="0">
              <a:buNone/>
            </a:pPr>
            <a:r>
              <a:rPr lang="en-US" sz="950" b="1" dirty="0">
                <a:solidFill>
                  <a:srgbClr val="F7FAFC"/>
                </a:solidFill>
                <a:latin typeface="Inter" pitchFamily="34" charset="0"/>
                <a:ea typeface="Inter" pitchFamily="34" charset="-122"/>
                <a:cs typeface="Inter" pitchFamily="34" charset="-120"/>
              </a:rPr>
              <a:t>01</a:t>
            </a:r>
            <a:endParaRPr lang="en-US" sz="950" dirty="0"/>
          </a:p>
        </p:txBody>
      </p:sp>
      <p:sp>
        <p:nvSpPr>
          <p:cNvPr id="8" name="Text 6"/>
          <p:cNvSpPr txBox="1"/>
          <p:nvPr/>
        </p:nvSpPr>
        <p:spPr>
          <a:xfrm>
            <a:off x="658368" y="2377440"/>
            <a:ext cx="1161288" cy="384048"/>
          </a:xfrm>
          <a:prstGeom prst="rect">
            <a:avLst/>
          </a:prstGeom>
          <a:noFill/>
          <a:ln/>
        </p:spPr>
        <p:txBody>
          <a:bodyPr wrap="square" lIns="0" tIns="0" rIns="0" bIns="0" rtlCol="0" anchor="ctr">
            <a:normAutofit/>
          </a:bodyPr>
          <a:lstStyle/>
          <a:p>
            <a:pPr algn="ctr" indent="0" marL="0">
              <a:buNone/>
            </a:pPr>
            <a:r>
              <a:rPr lang="en-US" sz="1250" b="1" dirty="0">
                <a:solidFill>
                  <a:srgbClr val="F7FAFC"/>
                </a:solidFill>
                <a:latin typeface="Inter" pitchFamily="34" charset="0"/>
                <a:ea typeface="Inter" pitchFamily="34" charset="-122"/>
                <a:cs typeface="Inter" pitchFamily="34" charset="-120"/>
              </a:rPr>
              <a:t>Requisito</a:t>
            </a:r>
            <a:endParaRPr lang="en-US" sz="1250" dirty="0"/>
          </a:p>
        </p:txBody>
      </p:sp>
      <p:sp>
        <p:nvSpPr>
          <p:cNvPr id="9" name="Shape 7"/>
          <p:cNvSpPr/>
          <p:nvPr/>
        </p:nvSpPr>
        <p:spPr>
          <a:xfrm>
            <a:off x="1938528" y="2304288"/>
            <a:ext cx="228600" cy="256032"/>
          </a:xfrm>
          <a:prstGeom prst="chevron">
            <a:avLst/>
          </a:prstGeom>
          <a:solidFill>
            <a:srgbClr val="274258"/>
          </a:solidFill>
          <a:ln w="12700">
            <a:solidFill>
              <a:srgbClr val="274258"/>
            </a:solidFill>
            <a:prstDash val="solid"/>
          </a:ln>
        </p:spPr>
      </p:sp>
      <p:sp>
        <p:nvSpPr>
          <p:cNvPr id="10" name="Shape 8"/>
          <p:cNvSpPr/>
          <p:nvPr/>
        </p:nvSpPr>
        <p:spPr>
          <a:xfrm>
            <a:off x="2185416" y="2057400"/>
            <a:ext cx="1344168" cy="749808"/>
          </a:xfrm>
          <a:prstGeom prst="roundRect">
            <a:avLst>
              <a:gd name="adj" fmla="val 14634"/>
            </a:avLst>
          </a:prstGeom>
          <a:solidFill>
            <a:srgbClr val="102A40"/>
          </a:solidFill>
          <a:ln w="12700">
            <a:solidFill>
              <a:srgbClr val="274258"/>
            </a:solidFill>
            <a:prstDash val="solid"/>
          </a:ln>
        </p:spPr>
      </p:sp>
      <p:sp>
        <p:nvSpPr>
          <p:cNvPr id="11" name="Shape 9"/>
          <p:cNvSpPr/>
          <p:nvPr/>
        </p:nvSpPr>
        <p:spPr>
          <a:xfrm>
            <a:off x="2276856" y="2148840"/>
            <a:ext cx="384048" cy="329184"/>
          </a:xfrm>
          <a:prstGeom prst="roundRect">
            <a:avLst>
              <a:gd name="adj" fmla="val 44444"/>
            </a:avLst>
          </a:prstGeom>
          <a:solidFill>
            <a:srgbClr val="1B75FF"/>
          </a:solidFill>
          <a:ln w="12700">
            <a:solidFill>
              <a:srgbClr val="1B75FF"/>
            </a:solidFill>
            <a:prstDash val="solid"/>
          </a:ln>
        </p:spPr>
      </p:sp>
      <p:sp>
        <p:nvSpPr>
          <p:cNvPr id="12" name="Text 10"/>
          <p:cNvSpPr txBox="1"/>
          <p:nvPr/>
        </p:nvSpPr>
        <p:spPr>
          <a:xfrm>
            <a:off x="2350008" y="2167128"/>
            <a:ext cx="237744" cy="283464"/>
          </a:xfrm>
          <a:prstGeom prst="rect">
            <a:avLst/>
          </a:prstGeom>
          <a:noFill/>
          <a:ln/>
        </p:spPr>
        <p:txBody>
          <a:bodyPr wrap="square" lIns="0" tIns="0" rIns="0" bIns="0" rtlCol="0" anchor="ctr">
            <a:normAutofit/>
          </a:bodyPr>
          <a:lstStyle/>
          <a:p>
            <a:pPr algn="ctr" indent="0" marL="0">
              <a:buNone/>
            </a:pPr>
            <a:r>
              <a:rPr lang="en-US" sz="950" b="1" dirty="0">
                <a:solidFill>
                  <a:srgbClr val="F7FAFC"/>
                </a:solidFill>
                <a:latin typeface="Inter" pitchFamily="34" charset="0"/>
                <a:ea typeface="Inter" pitchFamily="34" charset="-122"/>
                <a:cs typeface="Inter" pitchFamily="34" charset="-120"/>
              </a:rPr>
              <a:t>02</a:t>
            </a:r>
            <a:endParaRPr lang="en-US" sz="950" dirty="0"/>
          </a:p>
        </p:txBody>
      </p:sp>
      <p:sp>
        <p:nvSpPr>
          <p:cNvPr id="13" name="Text 11"/>
          <p:cNvSpPr txBox="1"/>
          <p:nvPr/>
        </p:nvSpPr>
        <p:spPr>
          <a:xfrm>
            <a:off x="2276856" y="2377440"/>
            <a:ext cx="1161288" cy="384048"/>
          </a:xfrm>
          <a:prstGeom prst="rect">
            <a:avLst/>
          </a:prstGeom>
          <a:noFill/>
          <a:ln/>
        </p:spPr>
        <p:txBody>
          <a:bodyPr wrap="square" lIns="0" tIns="0" rIns="0" bIns="0" rtlCol="0" anchor="ctr">
            <a:normAutofit/>
          </a:bodyPr>
          <a:lstStyle/>
          <a:p>
            <a:pPr algn="ctr" indent="0" marL="0">
              <a:buNone/>
            </a:pPr>
            <a:r>
              <a:rPr lang="en-US" sz="1250" b="1" dirty="0">
                <a:solidFill>
                  <a:srgbClr val="F7FAFC"/>
                </a:solidFill>
                <a:latin typeface="Inter" pitchFamily="34" charset="0"/>
                <a:ea typeface="Inter" pitchFamily="34" charset="-122"/>
                <a:cs typeface="Inter" pitchFamily="34" charset="-120"/>
              </a:rPr>
              <a:t>ProductSpec</a:t>
            </a:r>
            <a:endParaRPr lang="en-US" sz="1250" dirty="0"/>
          </a:p>
        </p:txBody>
      </p:sp>
      <p:sp>
        <p:nvSpPr>
          <p:cNvPr id="14" name="Shape 12"/>
          <p:cNvSpPr/>
          <p:nvPr/>
        </p:nvSpPr>
        <p:spPr>
          <a:xfrm>
            <a:off x="3557016" y="2304288"/>
            <a:ext cx="228600" cy="256032"/>
          </a:xfrm>
          <a:prstGeom prst="chevron">
            <a:avLst/>
          </a:prstGeom>
          <a:solidFill>
            <a:srgbClr val="274258"/>
          </a:solidFill>
          <a:ln w="12700">
            <a:solidFill>
              <a:srgbClr val="274258"/>
            </a:solidFill>
            <a:prstDash val="solid"/>
          </a:ln>
        </p:spPr>
      </p:sp>
      <p:sp>
        <p:nvSpPr>
          <p:cNvPr id="15" name="Shape 13"/>
          <p:cNvSpPr/>
          <p:nvPr/>
        </p:nvSpPr>
        <p:spPr>
          <a:xfrm>
            <a:off x="3803904" y="2057400"/>
            <a:ext cx="1344168" cy="749808"/>
          </a:xfrm>
          <a:prstGeom prst="roundRect">
            <a:avLst>
              <a:gd name="adj" fmla="val 14634"/>
            </a:avLst>
          </a:prstGeom>
          <a:solidFill>
            <a:srgbClr val="102A40"/>
          </a:solidFill>
          <a:ln w="12700">
            <a:solidFill>
              <a:srgbClr val="274258"/>
            </a:solidFill>
            <a:prstDash val="solid"/>
          </a:ln>
        </p:spPr>
      </p:sp>
      <p:sp>
        <p:nvSpPr>
          <p:cNvPr id="16" name="Shape 14"/>
          <p:cNvSpPr/>
          <p:nvPr/>
        </p:nvSpPr>
        <p:spPr>
          <a:xfrm>
            <a:off x="3895344" y="2148840"/>
            <a:ext cx="384048" cy="329184"/>
          </a:xfrm>
          <a:prstGeom prst="roundRect">
            <a:avLst>
              <a:gd name="adj" fmla="val 44444"/>
            </a:avLst>
          </a:prstGeom>
          <a:solidFill>
            <a:srgbClr val="1B75FF"/>
          </a:solidFill>
          <a:ln w="12700">
            <a:solidFill>
              <a:srgbClr val="1B75FF"/>
            </a:solidFill>
            <a:prstDash val="solid"/>
          </a:ln>
        </p:spPr>
      </p:sp>
      <p:sp>
        <p:nvSpPr>
          <p:cNvPr id="17" name="Text 15"/>
          <p:cNvSpPr txBox="1"/>
          <p:nvPr/>
        </p:nvSpPr>
        <p:spPr>
          <a:xfrm>
            <a:off x="3968496" y="2167128"/>
            <a:ext cx="237744" cy="283464"/>
          </a:xfrm>
          <a:prstGeom prst="rect">
            <a:avLst/>
          </a:prstGeom>
          <a:noFill/>
          <a:ln/>
        </p:spPr>
        <p:txBody>
          <a:bodyPr wrap="square" lIns="0" tIns="0" rIns="0" bIns="0" rtlCol="0" anchor="ctr">
            <a:normAutofit/>
          </a:bodyPr>
          <a:lstStyle/>
          <a:p>
            <a:pPr algn="ctr" indent="0" marL="0">
              <a:buNone/>
            </a:pPr>
            <a:r>
              <a:rPr lang="en-US" sz="950" b="1" dirty="0">
                <a:solidFill>
                  <a:srgbClr val="F7FAFC"/>
                </a:solidFill>
                <a:latin typeface="Inter" pitchFamily="34" charset="0"/>
                <a:ea typeface="Inter" pitchFamily="34" charset="-122"/>
                <a:cs typeface="Inter" pitchFamily="34" charset="-120"/>
              </a:rPr>
              <a:t>03</a:t>
            </a:r>
            <a:endParaRPr lang="en-US" sz="950" dirty="0"/>
          </a:p>
        </p:txBody>
      </p:sp>
      <p:sp>
        <p:nvSpPr>
          <p:cNvPr id="18" name="Text 16"/>
          <p:cNvSpPr txBox="1"/>
          <p:nvPr/>
        </p:nvSpPr>
        <p:spPr>
          <a:xfrm>
            <a:off x="3895344" y="2377440"/>
            <a:ext cx="1161288" cy="384048"/>
          </a:xfrm>
          <a:prstGeom prst="rect">
            <a:avLst/>
          </a:prstGeom>
          <a:noFill/>
          <a:ln/>
        </p:spPr>
        <p:txBody>
          <a:bodyPr wrap="square" lIns="0" tIns="0" rIns="0" bIns="0" rtlCol="0" anchor="ctr">
            <a:normAutofit/>
          </a:bodyPr>
          <a:lstStyle/>
          <a:p>
            <a:pPr algn="ctr" indent="0" marL="0">
              <a:buNone/>
            </a:pPr>
            <a:r>
              <a:rPr lang="en-US" sz="1250" b="1" dirty="0">
                <a:solidFill>
                  <a:srgbClr val="F7FAFC"/>
                </a:solidFill>
                <a:latin typeface="Inter" pitchFamily="34" charset="0"/>
                <a:ea typeface="Inter" pitchFamily="34" charset="-122"/>
                <a:cs typeface="Inter" pitchFamily="34" charset="-120"/>
              </a:rPr>
              <a:t>Scan + estándares</a:t>
            </a:r>
            <a:endParaRPr lang="en-US" sz="1250" dirty="0"/>
          </a:p>
        </p:txBody>
      </p:sp>
      <p:sp>
        <p:nvSpPr>
          <p:cNvPr id="19" name="Shape 17"/>
          <p:cNvSpPr/>
          <p:nvPr/>
        </p:nvSpPr>
        <p:spPr>
          <a:xfrm>
            <a:off x="5175504" y="2304288"/>
            <a:ext cx="228600" cy="256032"/>
          </a:xfrm>
          <a:prstGeom prst="chevron">
            <a:avLst/>
          </a:prstGeom>
          <a:solidFill>
            <a:srgbClr val="274258"/>
          </a:solidFill>
          <a:ln w="12700">
            <a:solidFill>
              <a:srgbClr val="274258"/>
            </a:solidFill>
            <a:prstDash val="solid"/>
          </a:ln>
        </p:spPr>
      </p:sp>
      <p:sp>
        <p:nvSpPr>
          <p:cNvPr id="20" name="Shape 18"/>
          <p:cNvSpPr/>
          <p:nvPr/>
        </p:nvSpPr>
        <p:spPr>
          <a:xfrm>
            <a:off x="5422392" y="2057400"/>
            <a:ext cx="1344168" cy="749808"/>
          </a:xfrm>
          <a:prstGeom prst="roundRect">
            <a:avLst>
              <a:gd name="adj" fmla="val 14634"/>
            </a:avLst>
          </a:prstGeom>
          <a:solidFill>
            <a:srgbClr val="102A40"/>
          </a:solidFill>
          <a:ln w="12700">
            <a:solidFill>
              <a:srgbClr val="274258"/>
            </a:solidFill>
            <a:prstDash val="solid"/>
          </a:ln>
        </p:spPr>
      </p:sp>
      <p:sp>
        <p:nvSpPr>
          <p:cNvPr id="21" name="Shape 19"/>
          <p:cNvSpPr/>
          <p:nvPr/>
        </p:nvSpPr>
        <p:spPr>
          <a:xfrm>
            <a:off x="5513832" y="2148840"/>
            <a:ext cx="384048" cy="329184"/>
          </a:xfrm>
          <a:prstGeom prst="roundRect">
            <a:avLst>
              <a:gd name="adj" fmla="val 44444"/>
            </a:avLst>
          </a:prstGeom>
          <a:solidFill>
            <a:srgbClr val="1B75FF"/>
          </a:solidFill>
          <a:ln w="12700">
            <a:solidFill>
              <a:srgbClr val="1B75FF"/>
            </a:solidFill>
            <a:prstDash val="solid"/>
          </a:ln>
        </p:spPr>
      </p:sp>
      <p:sp>
        <p:nvSpPr>
          <p:cNvPr id="22" name="Text 20"/>
          <p:cNvSpPr txBox="1"/>
          <p:nvPr/>
        </p:nvSpPr>
        <p:spPr>
          <a:xfrm>
            <a:off x="5586984" y="2167128"/>
            <a:ext cx="237744" cy="283464"/>
          </a:xfrm>
          <a:prstGeom prst="rect">
            <a:avLst/>
          </a:prstGeom>
          <a:noFill/>
          <a:ln/>
        </p:spPr>
        <p:txBody>
          <a:bodyPr wrap="square" lIns="0" tIns="0" rIns="0" bIns="0" rtlCol="0" anchor="ctr">
            <a:normAutofit/>
          </a:bodyPr>
          <a:lstStyle/>
          <a:p>
            <a:pPr algn="ctr" indent="0" marL="0">
              <a:buNone/>
            </a:pPr>
            <a:r>
              <a:rPr lang="en-US" sz="950" b="1" dirty="0">
                <a:solidFill>
                  <a:srgbClr val="F7FAFC"/>
                </a:solidFill>
                <a:latin typeface="Inter" pitchFamily="34" charset="0"/>
                <a:ea typeface="Inter" pitchFamily="34" charset="-122"/>
                <a:cs typeface="Inter" pitchFamily="34" charset="-120"/>
              </a:rPr>
              <a:t>04</a:t>
            </a:r>
            <a:endParaRPr lang="en-US" sz="950" dirty="0"/>
          </a:p>
        </p:txBody>
      </p:sp>
      <p:sp>
        <p:nvSpPr>
          <p:cNvPr id="23" name="Text 21"/>
          <p:cNvSpPr txBox="1"/>
          <p:nvPr/>
        </p:nvSpPr>
        <p:spPr>
          <a:xfrm>
            <a:off x="5513832" y="2377440"/>
            <a:ext cx="1161288" cy="384048"/>
          </a:xfrm>
          <a:prstGeom prst="rect">
            <a:avLst/>
          </a:prstGeom>
          <a:noFill/>
          <a:ln/>
        </p:spPr>
        <p:txBody>
          <a:bodyPr wrap="square" lIns="0" tIns="0" rIns="0" bIns="0" rtlCol="0" anchor="ctr">
            <a:normAutofit/>
          </a:bodyPr>
          <a:lstStyle/>
          <a:p>
            <a:pPr algn="ctr" indent="0" marL="0">
              <a:buNone/>
            </a:pPr>
            <a:r>
              <a:rPr lang="en-US" sz="1250" b="1" dirty="0">
                <a:solidFill>
                  <a:srgbClr val="F7FAFC"/>
                </a:solidFill>
                <a:latin typeface="Inter" pitchFamily="34" charset="0"/>
                <a:ea typeface="Inter" pitchFamily="34" charset="-122"/>
                <a:cs typeface="Inter" pitchFamily="34" charset="-120"/>
              </a:rPr>
              <a:t>Arquitectura</a:t>
            </a:r>
            <a:endParaRPr lang="en-US" sz="1250" dirty="0"/>
          </a:p>
        </p:txBody>
      </p:sp>
      <p:sp>
        <p:nvSpPr>
          <p:cNvPr id="24" name="Shape 22"/>
          <p:cNvSpPr/>
          <p:nvPr/>
        </p:nvSpPr>
        <p:spPr>
          <a:xfrm>
            <a:off x="6793992" y="2304288"/>
            <a:ext cx="228600" cy="256032"/>
          </a:xfrm>
          <a:prstGeom prst="chevron">
            <a:avLst/>
          </a:prstGeom>
          <a:solidFill>
            <a:srgbClr val="274258"/>
          </a:solidFill>
          <a:ln w="12700">
            <a:solidFill>
              <a:srgbClr val="274258"/>
            </a:solidFill>
            <a:prstDash val="solid"/>
          </a:ln>
        </p:spPr>
      </p:sp>
      <p:sp>
        <p:nvSpPr>
          <p:cNvPr id="25" name="Shape 23"/>
          <p:cNvSpPr/>
          <p:nvPr/>
        </p:nvSpPr>
        <p:spPr>
          <a:xfrm>
            <a:off x="7040880" y="2057400"/>
            <a:ext cx="1344168" cy="749808"/>
          </a:xfrm>
          <a:prstGeom prst="roundRect">
            <a:avLst>
              <a:gd name="adj" fmla="val 14634"/>
            </a:avLst>
          </a:prstGeom>
          <a:solidFill>
            <a:srgbClr val="102A40"/>
          </a:solidFill>
          <a:ln w="12700">
            <a:solidFill>
              <a:srgbClr val="274258"/>
            </a:solidFill>
            <a:prstDash val="solid"/>
          </a:ln>
        </p:spPr>
      </p:sp>
      <p:sp>
        <p:nvSpPr>
          <p:cNvPr id="26" name="Shape 24"/>
          <p:cNvSpPr/>
          <p:nvPr/>
        </p:nvSpPr>
        <p:spPr>
          <a:xfrm>
            <a:off x="7132320" y="2148840"/>
            <a:ext cx="384048" cy="329184"/>
          </a:xfrm>
          <a:prstGeom prst="roundRect">
            <a:avLst>
              <a:gd name="adj" fmla="val 44444"/>
            </a:avLst>
          </a:prstGeom>
          <a:solidFill>
            <a:srgbClr val="1B75FF"/>
          </a:solidFill>
          <a:ln w="12700">
            <a:solidFill>
              <a:srgbClr val="1B75FF"/>
            </a:solidFill>
            <a:prstDash val="solid"/>
          </a:ln>
        </p:spPr>
      </p:sp>
      <p:sp>
        <p:nvSpPr>
          <p:cNvPr id="27" name="Text 25"/>
          <p:cNvSpPr txBox="1"/>
          <p:nvPr/>
        </p:nvSpPr>
        <p:spPr>
          <a:xfrm>
            <a:off x="7205472" y="2167128"/>
            <a:ext cx="237744" cy="283464"/>
          </a:xfrm>
          <a:prstGeom prst="rect">
            <a:avLst/>
          </a:prstGeom>
          <a:noFill/>
          <a:ln/>
        </p:spPr>
        <p:txBody>
          <a:bodyPr wrap="square" lIns="0" tIns="0" rIns="0" bIns="0" rtlCol="0" anchor="ctr">
            <a:normAutofit/>
          </a:bodyPr>
          <a:lstStyle/>
          <a:p>
            <a:pPr algn="ctr" indent="0" marL="0">
              <a:buNone/>
            </a:pPr>
            <a:r>
              <a:rPr lang="en-US" sz="950" b="1" dirty="0">
                <a:solidFill>
                  <a:srgbClr val="F7FAFC"/>
                </a:solidFill>
                <a:latin typeface="Inter" pitchFamily="34" charset="0"/>
                <a:ea typeface="Inter" pitchFamily="34" charset="-122"/>
                <a:cs typeface="Inter" pitchFamily="34" charset="-120"/>
              </a:rPr>
              <a:t>05</a:t>
            </a:r>
            <a:endParaRPr lang="en-US" sz="950" dirty="0"/>
          </a:p>
        </p:txBody>
      </p:sp>
      <p:sp>
        <p:nvSpPr>
          <p:cNvPr id="28" name="Text 26"/>
          <p:cNvSpPr txBox="1"/>
          <p:nvPr/>
        </p:nvSpPr>
        <p:spPr>
          <a:xfrm>
            <a:off x="7132320" y="2377440"/>
            <a:ext cx="1161288" cy="384048"/>
          </a:xfrm>
          <a:prstGeom prst="rect">
            <a:avLst/>
          </a:prstGeom>
          <a:noFill/>
          <a:ln/>
        </p:spPr>
        <p:txBody>
          <a:bodyPr wrap="square" lIns="0" tIns="0" rIns="0" bIns="0" rtlCol="0" anchor="ctr">
            <a:normAutofit/>
          </a:bodyPr>
          <a:lstStyle/>
          <a:p>
            <a:pPr algn="ctr" indent="0" marL="0">
              <a:buNone/>
            </a:pPr>
            <a:r>
              <a:rPr lang="en-US" sz="1250" b="1" dirty="0">
                <a:solidFill>
                  <a:srgbClr val="F7FAFC"/>
                </a:solidFill>
                <a:latin typeface="Inter" pitchFamily="34" charset="0"/>
                <a:ea typeface="Inter" pitchFamily="34" charset="-122"/>
                <a:cs typeface="Inter" pitchFamily="34" charset="-120"/>
              </a:rPr>
              <a:t>Código</a:t>
            </a:r>
            <a:endParaRPr lang="en-US" sz="1250" dirty="0"/>
          </a:p>
        </p:txBody>
      </p:sp>
      <p:sp>
        <p:nvSpPr>
          <p:cNvPr id="29" name="Shape 27"/>
          <p:cNvSpPr/>
          <p:nvPr/>
        </p:nvSpPr>
        <p:spPr>
          <a:xfrm>
            <a:off x="8412480" y="2304288"/>
            <a:ext cx="228600" cy="256032"/>
          </a:xfrm>
          <a:prstGeom prst="chevron">
            <a:avLst/>
          </a:prstGeom>
          <a:solidFill>
            <a:srgbClr val="274258"/>
          </a:solidFill>
          <a:ln w="12700">
            <a:solidFill>
              <a:srgbClr val="274258"/>
            </a:solidFill>
            <a:prstDash val="solid"/>
          </a:ln>
        </p:spPr>
      </p:sp>
      <p:sp>
        <p:nvSpPr>
          <p:cNvPr id="30" name="Shape 28"/>
          <p:cNvSpPr/>
          <p:nvPr/>
        </p:nvSpPr>
        <p:spPr>
          <a:xfrm>
            <a:off x="8659368" y="2057400"/>
            <a:ext cx="1344168" cy="749808"/>
          </a:xfrm>
          <a:prstGeom prst="roundRect">
            <a:avLst>
              <a:gd name="adj" fmla="val 14634"/>
            </a:avLst>
          </a:prstGeom>
          <a:solidFill>
            <a:srgbClr val="102A40"/>
          </a:solidFill>
          <a:ln w="12700">
            <a:solidFill>
              <a:srgbClr val="274258"/>
            </a:solidFill>
            <a:prstDash val="solid"/>
          </a:ln>
        </p:spPr>
      </p:sp>
      <p:sp>
        <p:nvSpPr>
          <p:cNvPr id="31" name="Shape 29"/>
          <p:cNvSpPr/>
          <p:nvPr/>
        </p:nvSpPr>
        <p:spPr>
          <a:xfrm>
            <a:off x="8750808" y="2148840"/>
            <a:ext cx="384048" cy="329184"/>
          </a:xfrm>
          <a:prstGeom prst="roundRect">
            <a:avLst>
              <a:gd name="adj" fmla="val 44444"/>
            </a:avLst>
          </a:prstGeom>
          <a:solidFill>
            <a:srgbClr val="1B75FF"/>
          </a:solidFill>
          <a:ln w="12700">
            <a:solidFill>
              <a:srgbClr val="1B75FF"/>
            </a:solidFill>
            <a:prstDash val="solid"/>
          </a:ln>
        </p:spPr>
      </p:sp>
      <p:sp>
        <p:nvSpPr>
          <p:cNvPr id="32" name="Text 30"/>
          <p:cNvSpPr txBox="1"/>
          <p:nvPr/>
        </p:nvSpPr>
        <p:spPr>
          <a:xfrm>
            <a:off x="8823960" y="2167128"/>
            <a:ext cx="237744" cy="283464"/>
          </a:xfrm>
          <a:prstGeom prst="rect">
            <a:avLst/>
          </a:prstGeom>
          <a:noFill/>
          <a:ln/>
        </p:spPr>
        <p:txBody>
          <a:bodyPr wrap="square" lIns="0" tIns="0" rIns="0" bIns="0" rtlCol="0" anchor="ctr">
            <a:normAutofit/>
          </a:bodyPr>
          <a:lstStyle/>
          <a:p>
            <a:pPr algn="ctr" indent="0" marL="0">
              <a:buNone/>
            </a:pPr>
            <a:r>
              <a:rPr lang="en-US" sz="950" b="1" dirty="0">
                <a:solidFill>
                  <a:srgbClr val="F7FAFC"/>
                </a:solidFill>
                <a:latin typeface="Inter" pitchFamily="34" charset="0"/>
                <a:ea typeface="Inter" pitchFamily="34" charset="-122"/>
                <a:cs typeface="Inter" pitchFamily="34" charset="-120"/>
              </a:rPr>
              <a:t>06</a:t>
            </a:r>
            <a:endParaRPr lang="en-US" sz="950" dirty="0"/>
          </a:p>
        </p:txBody>
      </p:sp>
      <p:sp>
        <p:nvSpPr>
          <p:cNvPr id="33" name="Text 31"/>
          <p:cNvSpPr txBox="1"/>
          <p:nvPr/>
        </p:nvSpPr>
        <p:spPr>
          <a:xfrm>
            <a:off x="8750808" y="2377440"/>
            <a:ext cx="1161288" cy="384048"/>
          </a:xfrm>
          <a:prstGeom prst="rect">
            <a:avLst/>
          </a:prstGeom>
          <a:noFill/>
          <a:ln/>
        </p:spPr>
        <p:txBody>
          <a:bodyPr wrap="square" lIns="0" tIns="0" rIns="0" bIns="0" rtlCol="0" anchor="ctr">
            <a:normAutofit/>
          </a:bodyPr>
          <a:lstStyle/>
          <a:p>
            <a:pPr algn="ctr" indent="0" marL="0">
              <a:buNone/>
            </a:pPr>
            <a:r>
              <a:rPr lang="en-US" sz="1250" b="1" dirty="0">
                <a:solidFill>
                  <a:srgbClr val="F7FAFC"/>
                </a:solidFill>
                <a:latin typeface="Inter" pitchFamily="34" charset="0"/>
                <a:ea typeface="Inter" pitchFamily="34" charset="-122"/>
                <a:cs typeface="Inter" pitchFamily="34" charset="-120"/>
              </a:rPr>
              <a:t>QA / tests</a:t>
            </a:r>
            <a:endParaRPr lang="en-US" sz="1250" dirty="0"/>
          </a:p>
        </p:txBody>
      </p:sp>
      <p:sp>
        <p:nvSpPr>
          <p:cNvPr id="34" name="Shape 32"/>
          <p:cNvSpPr/>
          <p:nvPr/>
        </p:nvSpPr>
        <p:spPr>
          <a:xfrm>
            <a:off x="10030968" y="2304288"/>
            <a:ext cx="228600" cy="256032"/>
          </a:xfrm>
          <a:prstGeom prst="chevron">
            <a:avLst/>
          </a:prstGeom>
          <a:solidFill>
            <a:srgbClr val="274258"/>
          </a:solidFill>
          <a:ln w="12700">
            <a:solidFill>
              <a:srgbClr val="274258"/>
            </a:solidFill>
            <a:prstDash val="solid"/>
          </a:ln>
        </p:spPr>
      </p:sp>
      <p:sp>
        <p:nvSpPr>
          <p:cNvPr id="35" name="Shape 33"/>
          <p:cNvSpPr/>
          <p:nvPr/>
        </p:nvSpPr>
        <p:spPr>
          <a:xfrm>
            <a:off x="10277856" y="2057400"/>
            <a:ext cx="1344168" cy="749808"/>
          </a:xfrm>
          <a:prstGeom prst="roundRect">
            <a:avLst>
              <a:gd name="adj" fmla="val 14634"/>
            </a:avLst>
          </a:prstGeom>
          <a:solidFill>
            <a:srgbClr val="103247"/>
          </a:solidFill>
          <a:ln w="12700">
            <a:solidFill>
              <a:srgbClr val="274258"/>
            </a:solidFill>
            <a:prstDash val="solid"/>
          </a:ln>
        </p:spPr>
      </p:sp>
      <p:sp>
        <p:nvSpPr>
          <p:cNvPr id="36" name="Shape 34"/>
          <p:cNvSpPr/>
          <p:nvPr/>
        </p:nvSpPr>
        <p:spPr>
          <a:xfrm>
            <a:off x="10369296" y="2148840"/>
            <a:ext cx="384048" cy="329184"/>
          </a:xfrm>
          <a:prstGeom prst="roundRect">
            <a:avLst>
              <a:gd name="adj" fmla="val 44444"/>
            </a:avLst>
          </a:prstGeom>
          <a:solidFill>
            <a:srgbClr val="F2B138"/>
          </a:solidFill>
          <a:ln w="12700">
            <a:solidFill>
              <a:srgbClr val="F2B138"/>
            </a:solidFill>
            <a:prstDash val="solid"/>
          </a:ln>
        </p:spPr>
      </p:sp>
      <p:sp>
        <p:nvSpPr>
          <p:cNvPr id="37" name="Text 35"/>
          <p:cNvSpPr txBox="1"/>
          <p:nvPr/>
        </p:nvSpPr>
        <p:spPr>
          <a:xfrm>
            <a:off x="10442448" y="2167128"/>
            <a:ext cx="237744" cy="283464"/>
          </a:xfrm>
          <a:prstGeom prst="rect">
            <a:avLst/>
          </a:prstGeom>
          <a:noFill/>
          <a:ln/>
        </p:spPr>
        <p:txBody>
          <a:bodyPr wrap="square" lIns="0" tIns="0" rIns="0" bIns="0" rtlCol="0" anchor="ctr">
            <a:normAutofit/>
          </a:bodyPr>
          <a:lstStyle/>
          <a:p>
            <a:pPr algn="ctr" indent="0" marL="0">
              <a:buNone/>
            </a:pPr>
            <a:r>
              <a:rPr lang="en-US" sz="950" b="1" dirty="0">
                <a:solidFill>
                  <a:srgbClr val="F7FAFC"/>
                </a:solidFill>
                <a:latin typeface="Inter" pitchFamily="34" charset="0"/>
                <a:ea typeface="Inter" pitchFamily="34" charset="-122"/>
                <a:cs typeface="Inter" pitchFamily="34" charset="-120"/>
              </a:rPr>
              <a:t>07</a:t>
            </a:r>
            <a:endParaRPr lang="en-US" sz="950" dirty="0"/>
          </a:p>
        </p:txBody>
      </p:sp>
      <p:sp>
        <p:nvSpPr>
          <p:cNvPr id="38" name="Text 36"/>
          <p:cNvSpPr txBox="1"/>
          <p:nvPr/>
        </p:nvSpPr>
        <p:spPr>
          <a:xfrm>
            <a:off x="10369296" y="2377440"/>
            <a:ext cx="1161288" cy="384048"/>
          </a:xfrm>
          <a:prstGeom prst="rect">
            <a:avLst/>
          </a:prstGeom>
          <a:noFill/>
          <a:ln/>
        </p:spPr>
        <p:txBody>
          <a:bodyPr wrap="square" lIns="0" tIns="0" rIns="0" bIns="0" rtlCol="0" anchor="ctr">
            <a:normAutofit/>
          </a:bodyPr>
          <a:lstStyle/>
          <a:p>
            <a:pPr algn="ctr" indent="0" marL="0">
              <a:buNone/>
            </a:pPr>
            <a:r>
              <a:rPr lang="en-US" sz="1250" b="1" dirty="0">
                <a:solidFill>
                  <a:srgbClr val="F7FAFC"/>
                </a:solidFill>
                <a:latin typeface="Inter" pitchFamily="34" charset="0"/>
                <a:ea typeface="Inter" pitchFamily="34" charset="-122"/>
                <a:cs typeface="Inter" pitchFamily="34" charset="-120"/>
              </a:rPr>
              <a:t>Build</a:t>
            </a:r>
            <a:endParaRPr lang="en-US" sz="1250" dirty="0"/>
          </a:p>
        </p:txBody>
      </p:sp>
      <p:sp>
        <p:nvSpPr>
          <p:cNvPr id="39" name="Shape 37"/>
          <p:cNvSpPr/>
          <p:nvPr/>
        </p:nvSpPr>
        <p:spPr>
          <a:xfrm>
            <a:off x="9994392" y="1298448"/>
            <a:ext cx="1600200" cy="493776"/>
          </a:xfrm>
          <a:prstGeom prst="roundRect">
            <a:avLst>
              <a:gd name="adj" fmla="val 22222"/>
            </a:avLst>
          </a:prstGeom>
          <a:solidFill>
            <a:srgbClr val="332A18"/>
          </a:solidFill>
          <a:ln w="12700">
            <a:solidFill>
              <a:srgbClr val="F2B138"/>
            </a:solidFill>
            <a:prstDash val="solid"/>
          </a:ln>
        </p:spPr>
      </p:sp>
      <p:sp>
        <p:nvSpPr>
          <p:cNvPr id="40" name="Text 38"/>
          <p:cNvSpPr txBox="1"/>
          <p:nvPr/>
        </p:nvSpPr>
        <p:spPr>
          <a:xfrm>
            <a:off x="10149840" y="1417320"/>
            <a:ext cx="1298448" cy="219456"/>
          </a:xfrm>
          <a:prstGeom prst="rect">
            <a:avLst/>
          </a:prstGeom>
          <a:noFill/>
          <a:ln/>
        </p:spPr>
        <p:txBody>
          <a:bodyPr wrap="square" lIns="0" tIns="0" rIns="0" bIns="0" rtlCol="0" anchor="ctr">
            <a:normAutofit/>
          </a:bodyPr>
          <a:lstStyle/>
          <a:p>
            <a:pPr algn="ctr" indent="0" marL="0">
              <a:buNone/>
            </a:pPr>
            <a:r>
              <a:rPr lang="en-US" sz="1180" b="1" dirty="0">
                <a:solidFill>
                  <a:srgbClr val="F2B138"/>
                </a:solidFill>
                <a:latin typeface="Inter" pitchFamily="34" charset="0"/>
                <a:ea typeface="Inter" pitchFamily="34" charset="-122"/>
                <a:cs typeface="Inter" pitchFamily="34" charset="-120"/>
              </a:rPr>
              <a:t>DEBUG · ≤ 3</a:t>
            </a:r>
            <a:endParaRPr lang="en-US" sz="1180" dirty="0"/>
          </a:p>
        </p:txBody>
      </p:sp>
      <p:sp>
        <p:nvSpPr>
          <p:cNvPr id="41" name="Shape 39"/>
          <p:cNvSpPr/>
          <p:nvPr/>
        </p:nvSpPr>
        <p:spPr>
          <a:xfrm>
            <a:off x="10789920" y="2057400"/>
            <a:ext cx="0" cy="-228600"/>
          </a:xfrm>
          <a:prstGeom prst="line">
            <a:avLst/>
          </a:prstGeom>
          <a:noFill/>
          <a:ln w="21590">
            <a:solidFill>
              <a:srgbClr val="F2B138"/>
            </a:solidFill>
            <a:prstDash val="solid"/>
            <a:tailEnd type="triangle"/>
          </a:ln>
        </p:spPr>
      </p:sp>
      <p:sp>
        <p:nvSpPr>
          <p:cNvPr id="42" name="Shape 40"/>
          <p:cNvSpPr/>
          <p:nvPr/>
        </p:nvSpPr>
        <p:spPr>
          <a:xfrm>
            <a:off x="10049256" y="1554480"/>
            <a:ext cx="-594360" cy="0"/>
          </a:xfrm>
          <a:prstGeom prst="line">
            <a:avLst/>
          </a:prstGeom>
          <a:noFill/>
          <a:ln w="13970">
            <a:solidFill>
              <a:srgbClr val="F2B138"/>
            </a:solidFill>
            <a:prstDash val="dash"/>
          </a:ln>
        </p:spPr>
      </p:sp>
      <p:sp>
        <p:nvSpPr>
          <p:cNvPr id="43" name="Text 41"/>
          <p:cNvSpPr txBox="1"/>
          <p:nvPr/>
        </p:nvSpPr>
        <p:spPr>
          <a:xfrm>
            <a:off x="9409176" y="1362456"/>
            <a:ext cx="457200" cy="182880"/>
          </a:xfrm>
          <a:prstGeom prst="rect">
            <a:avLst/>
          </a:prstGeom>
          <a:noFill/>
          <a:ln/>
        </p:spPr>
        <p:txBody>
          <a:bodyPr wrap="square" lIns="0" tIns="0" rIns="0" bIns="0" rtlCol="0" anchor="ctr">
            <a:normAutofit/>
          </a:bodyPr>
          <a:lstStyle/>
          <a:p>
            <a:pPr algn="r" indent="0" marL="0">
              <a:buNone/>
            </a:pPr>
            <a:r>
              <a:rPr lang="en-US" sz="980" b="1" dirty="0">
                <a:solidFill>
                  <a:srgbClr val="F2B138"/>
                </a:solidFill>
                <a:latin typeface="Inter" pitchFamily="34" charset="0"/>
                <a:ea typeface="Inter" pitchFamily="34" charset="-122"/>
                <a:cs typeface="Inter" pitchFamily="34" charset="-120"/>
              </a:rPr>
              <a:t>fail</a:t>
            </a:r>
            <a:endParaRPr lang="en-US" sz="980" dirty="0"/>
          </a:p>
        </p:txBody>
      </p:sp>
      <p:sp>
        <p:nvSpPr>
          <p:cNvPr id="44" name="Text 42"/>
          <p:cNvSpPr txBox="1"/>
          <p:nvPr/>
        </p:nvSpPr>
        <p:spPr>
          <a:xfrm>
            <a:off x="10881360" y="2971800"/>
            <a:ext cx="502920" cy="201168"/>
          </a:xfrm>
          <a:prstGeom prst="rect">
            <a:avLst/>
          </a:prstGeom>
          <a:noFill/>
          <a:ln/>
        </p:spPr>
        <p:txBody>
          <a:bodyPr wrap="square" lIns="0" tIns="0" rIns="0" bIns="0" rtlCol="0" anchor="ctr">
            <a:normAutofit/>
          </a:bodyPr>
          <a:lstStyle/>
          <a:p>
            <a:pPr algn="l" indent="0" marL="0">
              <a:buNone/>
            </a:pPr>
            <a:r>
              <a:rPr lang="en-US" sz="980" b="1" dirty="0">
                <a:solidFill>
                  <a:srgbClr val="38D996"/>
                </a:solidFill>
                <a:latin typeface="Inter" pitchFamily="34" charset="0"/>
                <a:ea typeface="Inter" pitchFamily="34" charset="-122"/>
                <a:cs typeface="Inter" pitchFamily="34" charset="-120"/>
              </a:rPr>
              <a:t>pass</a:t>
            </a:r>
            <a:endParaRPr lang="en-US" sz="980" dirty="0"/>
          </a:p>
        </p:txBody>
      </p:sp>
      <p:sp>
        <p:nvSpPr>
          <p:cNvPr id="45" name="Shape 43"/>
          <p:cNvSpPr/>
          <p:nvPr/>
        </p:nvSpPr>
        <p:spPr>
          <a:xfrm>
            <a:off x="10972800" y="2788920"/>
            <a:ext cx="283464" cy="384048"/>
          </a:xfrm>
          <a:prstGeom prst="downArrow">
            <a:avLst/>
          </a:prstGeom>
          <a:solidFill>
            <a:srgbClr val="38D996"/>
          </a:solidFill>
          <a:ln w="12700">
            <a:solidFill>
              <a:srgbClr val="38D996"/>
            </a:solidFill>
            <a:prstDash val="solid"/>
          </a:ln>
        </p:spPr>
      </p:sp>
      <p:sp>
        <p:nvSpPr>
          <p:cNvPr id="46" name="Shape 44"/>
          <p:cNvSpPr/>
          <p:nvPr/>
        </p:nvSpPr>
        <p:spPr>
          <a:xfrm>
            <a:off x="9820656" y="3493008"/>
            <a:ext cx="1444752" cy="749808"/>
          </a:xfrm>
          <a:prstGeom prst="roundRect">
            <a:avLst>
              <a:gd name="adj" fmla="val 14634"/>
            </a:avLst>
          </a:prstGeom>
          <a:solidFill>
            <a:srgbClr val="102A40"/>
          </a:solidFill>
          <a:ln w="12700">
            <a:solidFill>
              <a:srgbClr val="274258"/>
            </a:solidFill>
            <a:prstDash val="solid"/>
          </a:ln>
        </p:spPr>
      </p:sp>
      <p:sp>
        <p:nvSpPr>
          <p:cNvPr id="47" name="Shape 45"/>
          <p:cNvSpPr/>
          <p:nvPr/>
        </p:nvSpPr>
        <p:spPr>
          <a:xfrm>
            <a:off x="9912096" y="3584448"/>
            <a:ext cx="384048" cy="329184"/>
          </a:xfrm>
          <a:prstGeom prst="roundRect">
            <a:avLst>
              <a:gd name="adj" fmla="val 44444"/>
            </a:avLst>
          </a:prstGeom>
          <a:solidFill>
            <a:srgbClr val="1B75FF"/>
          </a:solidFill>
          <a:ln w="12700">
            <a:solidFill>
              <a:srgbClr val="1B75FF"/>
            </a:solidFill>
            <a:prstDash val="solid"/>
          </a:ln>
        </p:spPr>
      </p:sp>
      <p:sp>
        <p:nvSpPr>
          <p:cNvPr id="48" name="Text 46"/>
          <p:cNvSpPr txBox="1"/>
          <p:nvPr/>
        </p:nvSpPr>
        <p:spPr>
          <a:xfrm>
            <a:off x="9985248" y="3602736"/>
            <a:ext cx="237744" cy="283464"/>
          </a:xfrm>
          <a:prstGeom prst="rect">
            <a:avLst/>
          </a:prstGeom>
          <a:noFill/>
          <a:ln/>
        </p:spPr>
        <p:txBody>
          <a:bodyPr wrap="square" lIns="0" tIns="0" rIns="0" bIns="0" rtlCol="0" anchor="ctr">
            <a:normAutofit/>
          </a:bodyPr>
          <a:lstStyle/>
          <a:p>
            <a:pPr algn="ctr" indent="0" marL="0">
              <a:buNone/>
            </a:pPr>
            <a:r>
              <a:rPr lang="en-US" sz="950" b="1" dirty="0">
                <a:solidFill>
                  <a:srgbClr val="F7FAFC"/>
                </a:solidFill>
                <a:latin typeface="Inter" pitchFamily="34" charset="0"/>
                <a:ea typeface="Inter" pitchFamily="34" charset="-122"/>
                <a:cs typeface="Inter" pitchFamily="34" charset="-120"/>
              </a:rPr>
              <a:t>08</a:t>
            </a:r>
            <a:endParaRPr lang="en-US" sz="950" dirty="0"/>
          </a:p>
        </p:txBody>
      </p:sp>
      <p:sp>
        <p:nvSpPr>
          <p:cNvPr id="49" name="Text 47"/>
          <p:cNvSpPr txBox="1"/>
          <p:nvPr/>
        </p:nvSpPr>
        <p:spPr>
          <a:xfrm>
            <a:off x="9912096" y="3813048"/>
            <a:ext cx="1261872" cy="384048"/>
          </a:xfrm>
          <a:prstGeom prst="rect">
            <a:avLst/>
          </a:prstGeom>
          <a:noFill/>
          <a:ln/>
        </p:spPr>
        <p:txBody>
          <a:bodyPr wrap="square" lIns="0" tIns="0" rIns="0" bIns="0" rtlCol="0" anchor="ctr">
            <a:normAutofit/>
          </a:bodyPr>
          <a:lstStyle/>
          <a:p>
            <a:pPr algn="ctr" indent="0" marL="0">
              <a:buNone/>
            </a:pPr>
            <a:r>
              <a:rPr lang="en-US" sz="1250" b="1" dirty="0">
                <a:solidFill>
                  <a:srgbClr val="F7FAFC"/>
                </a:solidFill>
                <a:latin typeface="Inter" pitchFamily="34" charset="0"/>
                <a:ea typeface="Inter" pitchFamily="34" charset="-122"/>
                <a:cs typeface="Inter" pitchFamily="34" charset="-120"/>
              </a:rPr>
              <a:t>Tests</a:t>
            </a:r>
            <a:endParaRPr lang="en-US" sz="1250" dirty="0"/>
          </a:p>
        </p:txBody>
      </p:sp>
      <p:sp>
        <p:nvSpPr>
          <p:cNvPr id="50" name="Shape 48"/>
          <p:cNvSpPr/>
          <p:nvPr/>
        </p:nvSpPr>
        <p:spPr>
          <a:xfrm>
            <a:off x="9546336" y="3730752"/>
            <a:ext cx="246888" cy="274320"/>
          </a:xfrm>
          <a:prstGeom prst="leftArrow">
            <a:avLst/>
          </a:prstGeom>
          <a:solidFill>
            <a:srgbClr val="274258"/>
          </a:solidFill>
          <a:ln w="12700">
            <a:solidFill>
              <a:srgbClr val="274258"/>
            </a:solidFill>
            <a:prstDash val="solid"/>
          </a:ln>
        </p:spPr>
      </p:sp>
      <p:sp>
        <p:nvSpPr>
          <p:cNvPr id="51" name="Shape 49"/>
          <p:cNvSpPr/>
          <p:nvPr/>
        </p:nvSpPr>
        <p:spPr>
          <a:xfrm>
            <a:off x="8101584" y="3493008"/>
            <a:ext cx="1444752" cy="749808"/>
          </a:xfrm>
          <a:prstGeom prst="roundRect">
            <a:avLst>
              <a:gd name="adj" fmla="val 14634"/>
            </a:avLst>
          </a:prstGeom>
          <a:solidFill>
            <a:srgbClr val="102A40"/>
          </a:solidFill>
          <a:ln w="12700">
            <a:solidFill>
              <a:srgbClr val="274258"/>
            </a:solidFill>
            <a:prstDash val="solid"/>
          </a:ln>
        </p:spPr>
      </p:sp>
      <p:sp>
        <p:nvSpPr>
          <p:cNvPr id="52" name="Shape 50"/>
          <p:cNvSpPr/>
          <p:nvPr/>
        </p:nvSpPr>
        <p:spPr>
          <a:xfrm>
            <a:off x="8193024" y="3584448"/>
            <a:ext cx="384048" cy="329184"/>
          </a:xfrm>
          <a:prstGeom prst="roundRect">
            <a:avLst>
              <a:gd name="adj" fmla="val 44444"/>
            </a:avLst>
          </a:prstGeom>
          <a:solidFill>
            <a:srgbClr val="FF5B6E"/>
          </a:solidFill>
          <a:ln w="12700">
            <a:solidFill>
              <a:srgbClr val="FF5B6E"/>
            </a:solidFill>
            <a:prstDash val="solid"/>
          </a:ln>
        </p:spPr>
      </p:sp>
      <p:sp>
        <p:nvSpPr>
          <p:cNvPr id="53" name="Text 51"/>
          <p:cNvSpPr txBox="1"/>
          <p:nvPr/>
        </p:nvSpPr>
        <p:spPr>
          <a:xfrm>
            <a:off x="8266176" y="3602736"/>
            <a:ext cx="237744" cy="283464"/>
          </a:xfrm>
          <a:prstGeom prst="rect">
            <a:avLst/>
          </a:prstGeom>
          <a:noFill/>
          <a:ln/>
        </p:spPr>
        <p:txBody>
          <a:bodyPr wrap="square" lIns="0" tIns="0" rIns="0" bIns="0" rtlCol="0" anchor="ctr">
            <a:normAutofit/>
          </a:bodyPr>
          <a:lstStyle/>
          <a:p>
            <a:pPr algn="ctr" indent="0" marL="0">
              <a:buNone/>
            </a:pPr>
            <a:r>
              <a:rPr lang="en-US" sz="950" b="1" dirty="0">
                <a:solidFill>
                  <a:srgbClr val="F7FAFC"/>
                </a:solidFill>
                <a:latin typeface="Inter" pitchFamily="34" charset="0"/>
                <a:ea typeface="Inter" pitchFamily="34" charset="-122"/>
                <a:cs typeface="Inter" pitchFamily="34" charset="-120"/>
              </a:rPr>
              <a:t>09</a:t>
            </a:r>
            <a:endParaRPr lang="en-US" sz="950" dirty="0"/>
          </a:p>
        </p:txBody>
      </p:sp>
      <p:sp>
        <p:nvSpPr>
          <p:cNvPr id="54" name="Text 52"/>
          <p:cNvSpPr txBox="1"/>
          <p:nvPr/>
        </p:nvSpPr>
        <p:spPr>
          <a:xfrm>
            <a:off x="8193024" y="3813048"/>
            <a:ext cx="1261872" cy="384048"/>
          </a:xfrm>
          <a:prstGeom prst="rect">
            <a:avLst/>
          </a:prstGeom>
          <a:noFill/>
          <a:ln/>
        </p:spPr>
        <p:txBody>
          <a:bodyPr wrap="square" lIns="0" tIns="0" rIns="0" bIns="0" rtlCol="0" anchor="ctr">
            <a:normAutofit/>
          </a:bodyPr>
          <a:lstStyle/>
          <a:p>
            <a:pPr algn="ctr" indent="0" marL="0">
              <a:buNone/>
            </a:pPr>
            <a:r>
              <a:rPr lang="en-US" sz="1250" b="1" dirty="0">
                <a:solidFill>
                  <a:srgbClr val="F7FAFC"/>
                </a:solidFill>
                <a:latin typeface="Inter" pitchFamily="34" charset="0"/>
                <a:ea typeface="Inter" pitchFamily="34" charset="-122"/>
                <a:cs typeface="Inter" pitchFamily="34" charset="-120"/>
              </a:rPr>
              <a:t>Security</a:t>
            </a:r>
            <a:endParaRPr lang="en-US" sz="1250" dirty="0"/>
          </a:p>
        </p:txBody>
      </p:sp>
      <p:sp>
        <p:nvSpPr>
          <p:cNvPr id="55" name="Shape 53"/>
          <p:cNvSpPr/>
          <p:nvPr/>
        </p:nvSpPr>
        <p:spPr>
          <a:xfrm>
            <a:off x="7827264" y="3730752"/>
            <a:ext cx="246888" cy="274320"/>
          </a:xfrm>
          <a:prstGeom prst="leftArrow">
            <a:avLst/>
          </a:prstGeom>
          <a:solidFill>
            <a:srgbClr val="274258"/>
          </a:solidFill>
          <a:ln w="12700">
            <a:solidFill>
              <a:srgbClr val="274258"/>
            </a:solidFill>
            <a:prstDash val="solid"/>
          </a:ln>
        </p:spPr>
      </p:sp>
      <p:sp>
        <p:nvSpPr>
          <p:cNvPr id="56" name="Shape 54"/>
          <p:cNvSpPr/>
          <p:nvPr/>
        </p:nvSpPr>
        <p:spPr>
          <a:xfrm>
            <a:off x="6382512" y="3493008"/>
            <a:ext cx="1444752" cy="749808"/>
          </a:xfrm>
          <a:prstGeom prst="roundRect">
            <a:avLst>
              <a:gd name="adj" fmla="val 14634"/>
            </a:avLst>
          </a:prstGeom>
          <a:solidFill>
            <a:srgbClr val="102A40"/>
          </a:solidFill>
          <a:ln w="12700">
            <a:solidFill>
              <a:srgbClr val="274258"/>
            </a:solidFill>
            <a:prstDash val="solid"/>
          </a:ln>
        </p:spPr>
      </p:sp>
      <p:sp>
        <p:nvSpPr>
          <p:cNvPr id="57" name="Shape 55"/>
          <p:cNvSpPr/>
          <p:nvPr/>
        </p:nvSpPr>
        <p:spPr>
          <a:xfrm>
            <a:off x="6473952" y="3584448"/>
            <a:ext cx="384048" cy="329184"/>
          </a:xfrm>
          <a:prstGeom prst="roundRect">
            <a:avLst>
              <a:gd name="adj" fmla="val 44444"/>
            </a:avLst>
          </a:prstGeom>
          <a:solidFill>
            <a:srgbClr val="1B75FF"/>
          </a:solidFill>
          <a:ln w="12700">
            <a:solidFill>
              <a:srgbClr val="1B75FF"/>
            </a:solidFill>
            <a:prstDash val="solid"/>
          </a:ln>
        </p:spPr>
      </p:sp>
      <p:sp>
        <p:nvSpPr>
          <p:cNvPr id="58" name="Text 56"/>
          <p:cNvSpPr txBox="1"/>
          <p:nvPr/>
        </p:nvSpPr>
        <p:spPr>
          <a:xfrm>
            <a:off x="6547104" y="3602736"/>
            <a:ext cx="237744" cy="283464"/>
          </a:xfrm>
          <a:prstGeom prst="rect">
            <a:avLst/>
          </a:prstGeom>
          <a:noFill/>
          <a:ln/>
        </p:spPr>
        <p:txBody>
          <a:bodyPr wrap="square" lIns="0" tIns="0" rIns="0" bIns="0" rtlCol="0" anchor="ctr">
            <a:normAutofit/>
          </a:bodyPr>
          <a:lstStyle/>
          <a:p>
            <a:pPr algn="ctr" indent="0" marL="0">
              <a:buNone/>
            </a:pPr>
            <a:r>
              <a:rPr lang="en-US" sz="950" b="1" dirty="0">
                <a:solidFill>
                  <a:srgbClr val="F7FAFC"/>
                </a:solidFill>
                <a:latin typeface="Inter" pitchFamily="34" charset="0"/>
                <a:ea typeface="Inter" pitchFamily="34" charset="-122"/>
                <a:cs typeface="Inter" pitchFamily="34" charset="-120"/>
              </a:rPr>
              <a:t>10</a:t>
            </a:r>
            <a:endParaRPr lang="en-US" sz="950" dirty="0"/>
          </a:p>
        </p:txBody>
      </p:sp>
      <p:sp>
        <p:nvSpPr>
          <p:cNvPr id="59" name="Text 57"/>
          <p:cNvSpPr txBox="1"/>
          <p:nvPr/>
        </p:nvSpPr>
        <p:spPr>
          <a:xfrm>
            <a:off x="6473952" y="3813048"/>
            <a:ext cx="1261872" cy="384048"/>
          </a:xfrm>
          <a:prstGeom prst="rect">
            <a:avLst/>
          </a:prstGeom>
          <a:noFill/>
          <a:ln/>
        </p:spPr>
        <p:txBody>
          <a:bodyPr wrap="square" lIns="0" tIns="0" rIns="0" bIns="0" rtlCol="0" anchor="ctr">
            <a:normAutofit/>
          </a:bodyPr>
          <a:lstStyle/>
          <a:p>
            <a:pPr algn="ctr" indent="0" marL="0">
              <a:buNone/>
            </a:pPr>
            <a:r>
              <a:rPr lang="en-US" sz="1250" b="1" dirty="0">
                <a:solidFill>
                  <a:srgbClr val="F7FAFC"/>
                </a:solidFill>
                <a:latin typeface="Inter" pitchFamily="34" charset="0"/>
                <a:ea typeface="Inter" pitchFamily="34" charset="-122"/>
                <a:cs typeface="Inter" pitchFamily="34" charset="-120"/>
              </a:rPr>
              <a:t>Review</a:t>
            </a:r>
            <a:endParaRPr lang="en-US" sz="1250" dirty="0"/>
          </a:p>
        </p:txBody>
      </p:sp>
      <p:sp>
        <p:nvSpPr>
          <p:cNvPr id="60" name="Shape 58"/>
          <p:cNvSpPr/>
          <p:nvPr/>
        </p:nvSpPr>
        <p:spPr>
          <a:xfrm>
            <a:off x="6108192" y="3730752"/>
            <a:ext cx="246888" cy="274320"/>
          </a:xfrm>
          <a:prstGeom prst="leftArrow">
            <a:avLst/>
          </a:prstGeom>
          <a:solidFill>
            <a:srgbClr val="274258"/>
          </a:solidFill>
          <a:ln w="12700">
            <a:solidFill>
              <a:srgbClr val="274258"/>
            </a:solidFill>
            <a:prstDash val="solid"/>
          </a:ln>
        </p:spPr>
      </p:sp>
      <p:sp>
        <p:nvSpPr>
          <p:cNvPr id="61" name="Shape 59"/>
          <p:cNvSpPr/>
          <p:nvPr/>
        </p:nvSpPr>
        <p:spPr>
          <a:xfrm>
            <a:off x="4663440" y="3493008"/>
            <a:ext cx="1444752" cy="749808"/>
          </a:xfrm>
          <a:prstGeom prst="roundRect">
            <a:avLst>
              <a:gd name="adj" fmla="val 14634"/>
            </a:avLst>
          </a:prstGeom>
          <a:solidFill>
            <a:srgbClr val="102A40"/>
          </a:solidFill>
          <a:ln w="12700">
            <a:solidFill>
              <a:srgbClr val="274258"/>
            </a:solidFill>
            <a:prstDash val="solid"/>
          </a:ln>
        </p:spPr>
      </p:sp>
      <p:sp>
        <p:nvSpPr>
          <p:cNvPr id="62" name="Shape 60"/>
          <p:cNvSpPr/>
          <p:nvPr/>
        </p:nvSpPr>
        <p:spPr>
          <a:xfrm>
            <a:off x="4754880" y="3584448"/>
            <a:ext cx="384048" cy="329184"/>
          </a:xfrm>
          <a:prstGeom prst="roundRect">
            <a:avLst>
              <a:gd name="adj" fmla="val 44444"/>
            </a:avLst>
          </a:prstGeom>
          <a:solidFill>
            <a:srgbClr val="38D996"/>
          </a:solidFill>
          <a:ln w="12700">
            <a:solidFill>
              <a:srgbClr val="38D996"/>
            </a:solidFill>
            <a:prstDash val="solid"/>
          </a:ln>
        </p:spPr>
      </p:sp>
      <p:sp>
        <p:nvSpPr>
          <p:cNvPr id="63" name="Text 61"/>
          <p:cNvSpPr txBox="1"/>
          <p:nvPr/>
        </p:nvSpPr>
        <p:spPr>
          <a:xfrm>
            <a:off x="4828032" y="3602736"/>
            <a:ext cx="237744" cy="283464"/>
          </a:xfrm>
          <a:prstGeom prst="rect">
            <a:avLst/>
          </a:prstGeom>
          <a:noFill/>
          <a:ln/>
        </p:spPr>
        <p:txBody>
          <a:bodyPr wrap="square" lIns="0" tIns="0" rIns="0" bIns="0" rtlCol="0" anchor="ctr">
            <a:normAutofit/>
          </a:bodyPr>
          <a:lstStyle/>
          <a:p>
            <a:pPr algn="ctr" indent="0" marL="0">
              <a:buNone/>
            </a:pPr>
            <a:r>
              <a:rPr lang="en-US" sz="950" b="1" dirty="0">
                <a:solidFill>
                  <a:srgbClr val="F7FAFC"/>
                </a:solidFill>
                <a:latin typeface="Inter" pitchFamily="34" charset="0"/>
                <a:ea typeface="Inter" pitchFamily="34" charset="-122"/>
                <a:cs typeface="Inter" pitchFamily="34" charset="-120"/>
              </a:rPr>
              <a:t>11</a:t>
            </a:r>
            <a:endParaRPr lang="en-US" sz="950" dirty="0"/>
          </a:p>
        </p:txBody>
      </p:sp>
      <p:sp>
        <p:nvSpPr>
          <p:cNvPr id="64" name="Text 62"/>
          <p:cNvSpPr txBox="1"/>
          <p:nvPr/>
        </p:nvSpPr>
        <p:spPr>
          <a:xfrm>
            <a:off x="4754880" y="3813048"/>
            <a:ext cx="1261872" cy="384048"/>
          </a:xfrm>
          <a:prstGeom prst="rect">
            <a:avLst/>
          </a:prstGeom>
          <a:noFill/>
          <a:ln/>
        </p:spPr>
        <p:txBody>
          <a:bodyPr wrap="square" lIns="0" tIns="0" rIns="0" bIns="0" rtlCol="0" anchor="ctr">
            <a:normAutofit/>
          </a:bodyPr>
          <a:lstStyle/>
          <a:p>
            <a:pPr algn="ctr" indent="0" marL="0">
              <a:buNone/>
            </a:pPr>
            <a:r>
              <a:rPr lang="en-US" sz="1250" b="1" dirty="0">
                <a:solidFill>
                  <a:srgbClr val="F7FAFC"/>
                </a:solidFill>
                <a:latin typeface="Inter" pitchFamily="34" charset="0"/>
                <a:ea typeface="Inter" pitchFamily="34" charset="-122"/>
                <a:cs typeface="Inter" pitchFamily="34" charset="-120"/>
              </a:rPr>
              <a:t>HITL</a:t>
            </a:r>
            <a:endParaRPr lang="en-US" sz="1250" dirty="0"/>
          </a:p>
        </p:txBody>
      </p:sp>
      <p:sp>
        <p:nvSpPr>
          <p:cNvPr id="65" name="Shape 63"/>
          <p:cNvSpPr/>
          <p:nvPr/>
        </p:nvSpPr>
        <p:spPr>
          <a:xfrm>
            <a:off x="4389120" y="3730752"/>
            <a:ext cx="246888" cy="274320"/>
          </a:xfrm>
          <a:prstGeom prst="leftArrow">
            <a:avLst/>
          </a:prstGeom>
          <a:solidFill>
            <a:srgbClr val="274258"/>
          </a:solidFill>
          <a:ln w="12700">
            <a:solidFill>
              <a:srgbClr val="274258"/>
            </a:solidFill>
            <a:prstDash val="solid"/>
          </a:ln>
        </p:spPr>
      </p:sp>
      <p:sp>
        <p:nvSpPr>
          <p:cNvPr id="66" name="Shape 64"/>
          <p:cNvSpPr/>
          <p:nvPr/>
        </p:nvSpPr>
        <p:spPr>
          <a:xfrm>
            <a:off x="2944368" y="3493008"/>
            <a:ext cx="1444752" cy="749808"/>
          </a:xfrm>
          <a:prstGeom prst="roundRect">
            <a:avLst>
              <a:gd name="adj" fmla="val 14634"/>
            </a:avLst>
          </a:prstGeom>
          <a:solidFill>
            <a:srgbClr val="102A40"/>
          </a:solidFill>
          <a:ln w="12700">
            <a:solidFill>
              <a:srgbClr val="274258"/>
            </a:solidFill>
            <a:prstDash val="solid"/>
          </a:ln>
        </p:spPr>
      </p:sp>
      <p:sp>
        <p:nvSpPr>
          <p:cNvPr id="67" name="Shape 65"/>
          <p:cNvSpPr/>
          <p:nvPr/>
        </p:nvSpPr>
        <p:spPr>
          <a:xfrm>
            <a:off x="3035808" y="3584448"/>
            <a:ext cx="384048" cy="329184"/>
          </a:xfrm>
          <a:prstGeom prst="roundRect">
            <a:avLst>
              <a:gd name="adj" fmla="val 44444"/>
            </a:avLst>
          </a:prstGeom>
          <a:solidFill>
            <a:srgbClr val="1B75FF"/>
          </a:solidFill>
          <a:ln w="12700">
            <a:solidFill>
              <a:srgbClr val="1B75FF"/>
            </a:solidFill>
            <a:prstDash val="solid"/>
          </a:ln>
        </p:spPr>
      </p:sp>
      <p:sp>
        <p:nvSpPr>
          <p:cNvPr id="68" name="Text 66"/>
          <p:cNvSpPr txBox="1"/>
          <p:nvPr/>
        </p:nvSpPr>
        <p:spPr>
          <a:xfrm>
            <a:off x="3108960" y="3602736"/>
            <a:ext cx="237744" cy="283464"/>
          </a:xfrm>
          <a:prstGeom prst="rect">
            <a:avLst/>
          </a:prstGeom>
          <a:noFill/>
          <a:ln/>
        </p:spPr>
        <p:txBody>
          <a:bodyPr wrap="square" lIns="0" tIns="0" rIns="0" bIns="0" rtlCol="0" anchor="ctr">
            <a:normAutofit/>
          </a:bodyPr>
          <a:lstStyle/>
          <a:p>
            <a:pPr algn="ctr" indent="0" marL="0">
              <a:buNone/>
            </a:pPr>
            <a:r>
              <a:rPr lang="en-US" sz="950" b="1" dirty="0">
                <a:solidFill>
                  <a:srgbClr val="F7FAFC"/>
                </a:solidFill>
                <a:latin typeface="Inter" pitchFamily="34" charset="0"/>
                <a:ea typeface="Inter" pitchFamily="34" charset="-122"/>
                <a:cs typeface="Inter" pitchFamily="34" charset="-120"/>
              </a:rPr>
              <a:t>12</a:t>
            </a:r>
            <a:endParaRPr lang="en-US" sz="950" dirty="0"/>
          </a:p>
        </p:txBody>
      </p:sp>
      <p:sp>
        <p:nvSpPr>
          <p:cNvPr id="69" name="Text 67"/>
          <p:cNvSpPr txBox="1"/>
          <p:nvPr/>
        </p:nvSpPr>
        <p:spPr>
          <a:xfrm>
            <a:off x="3035808" y="3813048"/>
            <a:ext cx="1261872" cy="384048"/>
          </a:xfrm>
          <a:prstGeom prst="rect">
            <a:avLst/>
          </a:prstGeom>
          <a:noFill/>
          <a:ln/>
        </p:spPr>
        <p:txBody>
          <a:bodyPr wrap="square" lIns="0" tIns="0" rIns="0" bIns="0" rtlCol="0" anchor="ctr">
            <a:normAutofit/>
          </a:bodyPr>
          <a:lstStyle/>
          <a:p>
            <a:pPr algn="ctr" indent="0" marL="0">
              <a:buNone/>
            </a:pPr>
            <a:r>
              <a:rPr lang="en-US" sz="1250" b="1" dirty="0">
                <a:solidFill>
                  <a:srgbClr val="F7FAFC"/>
                </a:solidFill>
                <a:latin typeface="Inter" pitchFamily="34" charset="0"/>
                <a:ea typeface="Inter" pitchFamily="34" charset="-122"/>
                <a:cs typeface="Inter" pitchFamily="34" charset="-120"/>
              </a:rPr>
              <a:t>Rama + commit</a:t>
            </a:r>
            <a:endParaRPr lang="en-US" sz="1250" dirty="0"/>
          </a:p>
        </p:txBody>
      </p:sp>
      <p:sp>
        <p:nvSpPr>
          <p:cNvPr id="70" name="Shape 68"/>
          <p:cNvSpPr/>
          <p:nvPr/>
        </p:nvSpPr>
        <p:spPr>
          <a:xfrm>
            <a:off x="2670048" y="3730752"/>
            <a:ext cx="246888" cy="274320"/>
          </a:xfrm>
          <a:prstGeom prst="leftArrow">
            <a:avLst/>
          </a:prstGeom>
          <a:solidFill>
            <a:srgbClr val="274258"/>
          </a:solidFill>
          <a:ln w="12700">
            <a:solidFill>
              <a:srgbClr val="274258"/>
            </a:solidFill>
            <a:prstDash val="solid"/>
          </a:ln>
        </p:spPr>
      </p:sp>
      <p:sp>
        <p:nvSpPr>
          <p:cNvPr id="71" name="Shape 69"/>
          <p:cNvSpPr/>
          <p:nvPr/>
        </p:nvSpPr>
        <p:spPr>
          <a:xfrm>
            <a:off x="1225296" y="3493008"/>
            <a:ext cx="1444752" cy="749808"/>
          </a:xfrm>
          <a:prstGeom prst="roundRect">
            <a:avLst>
              <a:gd name="adj" fmla="val 14634"/>
            </a:avLst>
          </a:prstGeom>
          <a:solidFill>
            <a:srgbClr val="102A40"/>
          </a:solidFill>
          <a:ln w="12700">
            <a:solidFill>
              <a:srgbClr val="274258"/>
            </a:solidFill>
            <a:prstDash val="solid"/>
          </a:ln>
        </p:spPr>
      </p:sp>
      <p:sp>
        <p:nvSpPr>
          <p:cNvPr id="72" name="Shape 70"/>
          <p:cNvSpPr/>
          <p:nvPr/>
        </p:nvSpPr>
        <p:spPr>
          <a:xfrm>
            <a:off x="1316736" y="3584448"/>
            <a:ext cx="384048" cy="329184"/>
          </a:xfrm>
          <a:prstGeom prst="roundRect">
            <a:avLst>
              <a:gd name="adj" fmla="val 44444"/>
            </a:avLst>
          </a:prstGeom>
          <a:solidFill>
            <a:srgbClr val="1B75FF"/>
          </a:solidFill>
          <a:ln w="12700">
            <a:solidFill>
              <a:srgbClr val="1B75FF"/>
            </a:solidFill>
            <a:prstDash val="solid"/>
          </a:ln>
        </p:spPr>
      </p:sp>
      <p:sp>
        <p:nvSpPr>
          <p:cNvPr id="73" name="Text 71"/>
          <p:cNvSpPr txBox="1"/>
          <p:nvPr/>
        </p:nvSpPr>
        <p:spPr>
          <a:xfrm>
            <a:off x="1389888" y="3602736"/>
            <a:ext cx="237744" cy="283464"/>
          </a:xfrm>
          <a:prstGeom prst="rect">
            <a:avLst/>
          </a:prstGeom>
          <a:noFill/>
          <a:ln/>
        </p:spPr>
        <p:txBody>
          <a:bodyPr wrap="square" lIns="0" tIns="0" rIns="0" bIns="0" rtlCol="0" anchor="ctr">
            <a:normAutofit/>
          </a:bodyPr>
          <a:lstStyle/>
          <a:p>
            <a:pPr algn="ctr" indent="0" marL="0">
              <a:buNone/>
            </a:pPr>
            <a:r>
              <a:rPr lang="en-US" sz="950" b="1" dirty="0">
                <a:solidFill>
                  <a:srgbClr val="F7FAFC"/>
                </a:solidFill>
                <a:latin typeface="Inter" pitchFamily="34" charset="0"/>
                <a:ea typeface="Inter" pitchFamily="34" charset="-122"/>
                <a:cs typeface="Inter" pitchFamily="34" charset="-120"/>
              </a:rPr>
              <a:t>13</a:t>
            </a:r>
            <a:endParaRPr lang="en-US" sz="950" dirty="0"/>
          </a:p>
        </p:txBody>
      </p:sp>
      <p:sp>
        <p:nvSpPr>
          <p:cNvPr id="74" name="Text 72"/>
          <p:cNvSpPr txBox="1"/>
          <p:nvPr/>
        </p:nvSpPr>
        <p:spPr>
          <a:xfrm>
            <a:off x="1316736" y="3813048"/>
            <a:ext cx="1261872" cy="384048"/>
          </a:xfrm>
          <a:prstGeom prst="rect">
            <a:avLst/>
          </a:prstGeom>
          <a:noFill/>
          <a:ln/>
        </p:spPr>
        <p:txBody>
          <a:bodyPr wrap="square" lIns="0" tIns="0" rIns="0" bIns="0" rtlCol="0" anchor="ctr">
            <a:normAutofit/>
          </a:bodyPr>
          <a:lstStyle/>
          <a:p>
            <a:pPr algn="ctr" indent="0" marL="0">
              <a:buNone/>
            </a:pPr>
            <a:r>
              <a:rPr lang="en-US" sz="1250" b="1" dirty="0">
                <a:solidFill>
                  <a:srgbClr val="F7FAFC"/>
                </a:solidFill>
                <a:latin typeface="Inter" pitchFamily="34" charset="0"/>
                <a:ea typeface="Inter" pitchFamily="34" charset="-122"/>
                <a:cs typeface="Inter" pitchFamily="34" charset="-120"/>
              </a:rPr>
              <a:t>PR payload</a:t>
            </a:r>
            <a:endParaRPr lang="en-US" sz="1250" dirty="0"/>
          </a:p>
        </p:txBody>
      </p:sp>
      <p:sp>
        <p:nvSpPr>
          <p:cNvPr id="75" name="Shape 73"/>
          <p:cNvSpPr/>
          <p:nvPr/>
        </p:nvSpPr>
        <p:spPr>
          <a:xfrm>
            <a:off x="9098280" y="4270248"/>
            <a:ext cx="0" cy="512064"/>
          </a:xfrm>
          <a:prstGeom prst="line">
            <a:avLst/>
          </a:prstGeom>
          <a:noFill/>
          <a:ln w="17780">
            <a:solidFill>
              <a:srgbClr val="FF5B6E"/>
            </a:solidFill>
            <a:prstDash val="solid"/>
            <a:tailEnd type="triangle"/>
          </a:ln>
        </p:spPr>
      </p:sp>
      <p:sp>
        <p:nvSpPr>
          <p:cNvPr id="76" name="Shape 74"/>
          <p:cNvSpPr/>
          <p:nvPr/>
        </p:nvSpPr>
        <p:spPr>
          <a:xfrm>
            <a:off x="8001000" y="4855464"/>
            <a:ext cx="2194560" cy="329184"/>
          </a:xfrm>
          <a:prstGeom prst="roundRect">
            <a:avLst>
              <a:gd name="adj" fmla="val 44444"/>
            </a:avLst>
          </a:prstGeom>
          <a:solidFill>
            <a:srgbClr val="3B1D27"/>
          </a:solidFill>
          <a:ln w="12700">
            <a:solidFill>
              <a:srgbClr val="3B1D27"/>
            </a:solidFill>
            <a:prstDash val="solid"/>
          </a:ln>
        </p:spPr>
      </p:sp>
      <p:sp>
        <p:nvSpPr>
          <p:cNvPr id="77" name="Text 75"/>
          <p:cNvSpPr txBox="1"/>
          <p:nvPr/>
        </p:nvSpPr>
        <p:spPr>
          <a:xfrm>
            <a:off x="8074152" y="4873752"/>
            <a:ext cx="2048256" cy="283464"/>
          </a:xfrm>
          <a:prstGeom prst="rect">
            <a:avLst/>
          </a:prstGeom>
          <a:noFill/>
          <a:ln/>
        </p:spPr>
        <p:txBody>
          <a:bodyPr wrap="square" lIns="0" tIns="0" rIns="0" bIns="0" rtlCol="0" anchor="ctr">
            <a:normAutofit/>
          </a:bodyPr>
          <a:lstStyle/>
          <a:p>
            <a:pPr algn="ctr" indent="0" marL="0">
              <a:buNone/>
            </a:pPr>
            <a:r>
              <a:rPr lang="en-US" sz="950" b="1" dirty="0">
                <a:solidFill>
                  <a:srgbClr val="FF5B6E"/>
                </a:solidFill>
                <a:latin typeface="Inter" pitchFamily="34" charset="0"/>
                <a:ea typeface="Inter" pitchFamily="34" charset="-122"/>
                <a:cs typeface="Inter" pitchFamily="34" charset="-120"/>
              </a:rPr>
              <a:t>CRÍTICO → SECURITY_BLOCKED</a:t>
            </a:r>
            <a:endParaRPr lang="en-US" sz="950" dirty="0"/>
          </a:p>
        </p:txBody>
      </p:sp>
      <p:sp>
        <p:nvSpPr>
          <p:cNvPr id="78" name="Shape 76"/>
          <p:cNvSpPr/>
          <p:nvPr/>
        </p:nvSpPr>
        <p:spPr>
          <a:xfrm>
            <a:off x="713232" y="5559552"/>
            <a:ext cx="10744200" cy="502920"/>
          </a:xfrm>
          <a:prstGeom prst="rect">
            <a:avLst/>
          </a:prstGeom>
          <a:solidFill>
            <a:srgbClr val="0A1C2C"/>
          </a:solidFill>
          <a:ln w="6350">
            <a:solidFill>
              <a:srgbClr val="0A1C2C"/>
            </a:solidFill>
            <a:prstDash val="solid"/>
          </a:ln>
        </p:spPr>
      </p:sp>
      <p:sp>
        <p:nvSpPr>
          <p:cNvPr id="79" name="Text 77"/>
          <p:cNvSpPr txBox="1"/>
          <p:nvPr/>
        </p:nvSpPr>
        <p:spPr>
          <a:xfrm>
            <a:off x="896112" y="5669280"/>
            <a:ext cx="1755648" cy="228600"/>
          </a:xfrm>
          <a:prstGeom prst="rect">
            <a:avLst/>
          </a:prstGeom>
          <a:noFill/>
          <a:ln/>
        </p:spPr>
        <p:txBody>
          <a:bodyPr wrap="square" lIns="0" tIns="0" rIns="0" bIns="0" rtlCol="0" anchor="ctr">
            <a:normAutofit/>
          </a:bodyPr>
          <a:lstStyle/>
          <a:p>
            <a:pPr algn="l" indent="0" marL="0">
              <a:buNone/>
            </a:pPr>
            <a:r>
              <a:rPr lang="en-US" sz="980" b="1" spc="90" kern="0" dirty="0">
                <a:solidFill>
                  <a:srgbClr val="F2B138"/>
                </a:solidFill>
                <a:latin typeface="Inter" pitchFamily="34" charset="0"/>
                <a:ea typeface="Inter" pitchFamily="34" charset="-122"/>
                <a:cs typeface="Inter" pitchFamily="34" charset="-120"/>
              </a:rPr>
              <a:t>ENTREGA REAL OBSERVADA</a:t>
            </a:r>
            <a:endParaRPr lang="en-US" sz="980" dirty="0"/>
          </a:p>
        </p:txBody>
      </p:sp>
      <p:sp>
        <p:nvSpPr>
          <p:cNvPr id="80" name="Text 78"/>
          <p:cNvSpPr txBox="1"/>
          <p:nvPr/>
        </p:nvSpPr>
        <p:spPr>
          <a:xfrm>
            <a:off x="2743200" y="5614416"/>
            <a:ext cx="8412480" cy="320040"/>
          </a:xfrm>
          <a:prstGeom prst="rect">
            <a:avLst/>
          </a:prstGeom>
          <a:noFill/>
          <a:ln/>
        </p:spPr>
        <p:txBody>
          <a:bodyPr wrap="square" lIns="0" tIns="0" rIns="0" bIns="0" rtlCol="0" anchor="ctr">
            <a:normAutofit/>
          </a:bodyPr>
          <a:lstStyle/>
          <a:p>
            <a:pPr algn="l" indent="0" marL="0">
              <a:buNone/>
            </a:pPr>
            <a:r>
              <a:rPr lang="en-US" sz="1220" dirty="0">
                <a:solidFill>
                  <a:srgbClr val="DCE6F2"/>
                </a:solidFill>
                <a:latin typeface="Inter" pitchFamily="34" charset="0"/>
                <a:ea typeface="Inter" pitchFamily="34" charset="-122"/>
                <a:cs typeface="Inter" pitchFamily="34" charset="-120"/>
              </a:rPr>
              <a:t>El flujo crea rama y commit local y construye pr_payload; el código revisado no demuestra la publicación automática del PR en GitHub.</a:t>
            </a:r>
            <a:endParaRPr lang="en-US" sz="1220" dirty="0"/>
          </a:p>
        </p:txBody>
      </p:sp>
      <p:sp>
        <p:nvSpPr>
          <p:cNvPr id="25" name="Slide Number Placeholder 0"/>
          <p:cNvSpPr>
            <a:spLocks noGrp="1"/>
          </p:cNvSpPr>
          <p:nvPr>
            <p:ph type="sldNum" sz="quarter" idx="4294967295"/>
          </p:nvPr>
        </p:nvSpPr>
        <p:spPr>
          <a:xfrm>
            <a:off x="11192256" y="6556248"/>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F879B"/>
                </a:solidFill>
                <a:latin typeface="Inter"/>
                <a:ea typeface="Inter"/>
                <a:cs typeface="Inter"/>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21792" y="384048"/>
            <a:ext cx="2926080" cy="256032"/>
          </a:xfrm>
          <a:prstGeom prst="rect">
            <a:avLst/>
          </a:prstGeom>
          <a:noFill/>
          <a:ln/>
        </p:spPr>
        <p:txBody>
          <a:bodyPr wrap="square" lIns="0" tIns="0" rIns="0" bIns="0" rtlCol="0" anchor="ctr">
            <a:normAutofit/>
          </a:bodyPr>
          <a:lstStyle/>
          <a:p>
            <a:pPr algn="l" indent="0" marL="0">
              <a:buNone/>
            </a:pPr>
            <a:r>
              <a:rPr lang="en-US" sz="1050" b="1" spc="160" kern="0" dirty="0">
                <a:solidFill>
                  <a:srgbClr val="2EA8FF"/>
                </a:solidFill>
                <a:latin typeface="Inter" pitchFamily="34" charset="0"/>
                <a:ea typeface="Inter" pitchFamily="34" charset="-122"/>
                <a:cs typeface="Inter" pitchFamily="34" charset="-120"/>
              </a:rPr>
              <a:t>06 · SEGURIDAD</a:t>
            </a:r>
            <a:endParaRPr lang="en-US" sz="1050" dirty="0"/>
          </a:p>
        </p:txBody>
      </p:sp>
      <p:sp>
        <p:nvSpPr>
          <p:cNvPr id="3" name="Text 1"/>
          <p:cNvSpPr txBox="1"/>
          <p:nvPr/>
        </p:nvSpPr>
        <p:spPr>
          <a:xfrm>
            <a:off x="621792" y="713232"/>
            <a:ext cx="10927080" cy="530352"/>
          </a:xfrm>
          <a:prstGeom prst="rect">
            <a:avLst/>
          </a:prstGeom>
          <a:noFill/>
          <a:ln/>
        </p:spPr>
        <p:txBody>
          <a:bodyPr wrap="square" lIns="0" tIns="0" rIns="0" bIns="0" rtlCol="0" anchor="ctr">
            <a:normAutofit/>
          </a:bodyPr>
          <a:lstStyle/>
          <a:p>
            <a:pPr algn="l" indent="0" marL="0">
              <a:buNone/>
            </a:pPr>
            <a:r>
              <a:rPr lang="en-US" sz="3200" b="1" dirty="0">
                <a:solidFill>
                  <a:srgbClr val="F7FAFC"/>
                </a:solidFill>
                <a:latin typeface="Inter" pitchFamily="34" charset="0"/>
                <a:ea typeface="Inter" pitchFamily="34" charset="-122"/>
                <a:cs typeface="Inter" pitchFamily="34" charset="-120"/>
              </a:rPr>
              <a:t>Autonomía acotada por boundaries y compuertas</a:t>
            </a:r>
            <a:endParaRPr lang="en-US" sz="3200" dirty="0"/>
          </a:p>
        </p:txBody>
      </p:sp>
      <p:sp>
        <p:nvSpPr>
          <p:cNvPr id="4" name="Text 2"/>
          <p:cNvSpPr txBox="1"/>
          <p:nvPr/>
        </p:nvSpPr>
        <p:spPr>
          <a:xfrm>
            <a:off x="621792" y="1261872"/>
            <a:ext cx="10744200" cy="384048"/>
          </a:xfrm>
          <a:prstGeom prst="rect">
            <a:avLst/>
          </a:prstGeom>
          <a:noFill/>
          <a:ln/>
        </p:spPr>
        <p:txBody>
          <a:bodyPr wrap="square" lIns="0" tIns="0" rIns="0" bIns="0" rtlCol="0" anchor="ctr">
            <a:normAutofit/>
          </a:bodyPr>
          <a:lstStyle/>
          <a:p>
            <a:pPr algn="l" indent="0" marL="0">
              <a:buNone/>
            </a:pPr>
            <a:r>
              <a:rPr lang="en-US" sz="1550" dirty="0">
                <a:solidFill>
                  <a:srgbClr val="8FA3B8"/>
                </a:solidFill>
                <a:latin typeface="Inter" pitchFamily="34" charset="0"/>
                <a:ea typeface="Inter" pitchFamily="34" charset="-122"/>
                <a:cs typeface="Inter" pitchFamily="34" charset="-120"/>
              </a:rPr>
              <a:t>El repositorio trata requisitos y contenido externo como entrada no confiable.</a:t>
            </a:r>
            <a:endParaRPr lang="en-US" sz="1550" dirty="0"/>
          </a:p>
        </p:txBody>
      </p:sp>
      <p:sp>
        <p:nvSpPr>
          <p:cNvPr id="5" name="Shape 3"/>
          <p:cNvSpPr/>
          <p:nvPr/>
        </p:nvSpPr>
        <p:spPr>
          <a:xfrm>
            <a:off x="768096" y="1947672"/>
            <a:ext cx="429768" cy="329184"/>
          </a:xfrm>
          <a:prstGeom prst="roundRect">
            <a:avLst>
              <a:gd name="adj" fmla="val 44444"/>
            </a:avLst>
          </a:prstGeom>
          <a:solidFill>
            <a:srgbClr val="1B75FF"/>
          </a:solidFill>
          <a:ln w="12700">
            <a:solidFill>
              <a:srgbClr val="1B75FF"/>
            </a:solidFill>
            <a:prstDash val="solid"/>
          </a:ln>
        </p:spPr>
      </p:sp>
      <p:sp>
        <p:nvSpPr>
          <p:cNvPr id="6" name="Text 4"/>
          <p:cNvSpPr txBox="1"/>
          <p:nvPr/>
        </p:nvSpPr>
        <p:spPr>
          <a:xfrm>
            <a:off x="841248" y="1965960"/>
            <a:ext cx="283464" cy="283464"/>
          </a:xfrm>
          <a:prstGeom prst="rect">
            <a:avLst/>
          </a:prstGeom>
          <a:noFill/>
          <a:ln/>
        </p:spPr>
        <p:txBody>
          <a:bodyPr wrap="square" lIns="0" tIns="0" rIns="0" bIns="0" rtlCol="0" anchor="ctr">
            <a:normAutofit/>
          </a:bodyPr>
          <a:lstStyle/>
          <a:p>
            <a:pPr algn="ctr" indent="0" marL="0">
              <a:buNone/>
            </a:pPr>
            <a:r>
              <a:rPr lang="en-US" sz="950" b="1" dirty="0">
                <a:solidFill>
                  <a:srgbClr val="F7FAFC"/>
                </a:solidFill>
                <a:latin typeface="Inter" pitchFamily="34" charset="0"/>
                <a:ea typeface="Inter" pitchFamily="34" charset="-122"/>
                <a:cs typeface="Inter" pitchFamily="34" charset="-120"/>
              </a:rPr>
              <a:t>01</a:t>
            </a:r>
            <a:endParaRPr lang="en-US" sz="950" dirty="0"/>
          </a:p>
        </p:txBody>
      </p:sp>
      <p:sp>
        <p:nvSpPr>
          <p:cNvPr id="7" name="Shape 5"/>
          <p:cNvSpPr/>
          <p:nvPr/>
        </p:nvSpPr>
        <p:spPr>
          <a:xfrm>
            <a:off x="1389888" y="2112264"/>
            <a:ext cx="694944" cy="0"/>
          </a:xfrm>
          <a:prstGeom prst="line">
            <a:avLst/>
          </a:prstGeom>
          <a:noFill/>
          <a:ln w="13970">
            <a:solidFill>
              <a:srgbClr val="274258"/>
            </a:solidFill>
            <a:prstDash val="solid"/>
          </a:ln>
        </p:spPr>
      </p:sp>
      <p:sp>
        <p:nvSpPr>
          <p:cNvPr id="8" name="Shape 6"/>
          <p:cNvSpPr/>
          <p:nvPr/>
        </p:nvSpPr>
        <p:spPr>
          <a:xfrm>
            <a:off x="2052828" y="2061972"/>
            <a:ext cx="100584" cy="100584"/>
          </a:xfrm>
          <a:prstGeom prst="ellipse">
            <a:avLst/>
          </a:prstGeom>
          <a:solidFill>
            <a:srgbClr val="1B75FF"/>
          </a:solidFill>
          <a:ln w="12700">
            <a:solidFill>
              <a:srgbClr val="1B75FF"/>
            </a:solidFill>
            <a:prstDash val="solid"/>
          </a:ln>
        </p:spPr>
      </p:sp>
      <p:sp>
        <p:nvSpPr>
          <p:cNvPr id="9" name="Text 7"/>
          <p:cNvSpPr txBox="1"/>
          <p:nvPr/>
        </p:nvSpPr>
        <p:spPr>
          <a:xfrm>
            <a:off x="2322576" y="1837944"/>
            <a:ext cx="2103120" cy="310896"/>
          </a:xfrm>
          <a:prstGeom prst="rect">
            <a:avLst/>
          </a:prstGeom>
          <a:noFill/>
          <a:ln/>
        </p:spPr>
        <p:txBody>
          <a:bodyPr wrap="square" lIns="0" tIns="0" rIns="0" bIns="0" rtlCol="0" anchor="ctr">
            <a:normAutofit/>
          </a:bodyPr>
          <a:lstStyle/>
          <a:p>
            <a:pPr algn="l" indent="0" marL="0">
              <a:buNone/>
            </a:pPr>
            <a:r>
              <a:rPr lang="en-US" sz="1800" b="1" dirty="0">
                <a:solidFill>
                  <a:srgbClr val="F7FAFC"/>
                </a:solidFill>
                <a:latin typeface="Inter" pitchFamily="34" charset="0"/>
                <a:ea typeface="Inter" pitchFamily="34" charset="-122"/>
                <a:cs typeface="Inter" pitchFamily="34" charset="-120"/>
              </a:rPr>
              <a:t>Contener</a:t>
            </a:r>
            <a:endParaRPr lang="en-US" sz="1800" dirty="0"/>
          </a:p>
        </p:txBody>
      </p:sp>
      <p:sp>
        <p:nvSpPr>
          <p:cNvPr id="10" name="Text 8"/>
          <p:cNvSpPr txBox="1"/>
          <p:nvPr/>
        </p:nvSpPr>
        <p:spPr>
          <a:xfrm>
            <a:off x="4407408" y="1810512"/>
            <a:ext cx="5239512" cy="438912"/>
          </a:xfrm>
          <a:prstGeom prst="rect">
            <a:avLst/>
          </a:prstGeom>
          <a:noFill/>
          <a:ln/>
        </p:spPr>
        <p:txBody>
          <a:bodyPr wrap="square" lIns="0" tIns="0" rIns="0" bIns="0" rtlCol="0" anchor="ctr">
            <a:normAutofit/>
          </a:bodyPr>
          <a:lstStyle/>
          <a:p>
            <a:pPr algn="l" indent="0" marL="0">
              <a:buNone/>
            </a:pPr>
            <a:r>
              <a:rPr lang="en-US" sz="1300" dirty="0">
                <a:solidFill>
                  <a:srgbClr val="8FA3B8"/>
                </a:solidFill>
                <a:latin typeface="Inter" pitchFamily="34" charset="0"/>
                <a:ea typeface="Inter" pitchFamily="34" charset="-122"/>
                <a:cs typeface="Inter" pitchFamily="34" charset="-120"/>
              </a:rPr>
              <a:t>Rutas canónicas y workspace autorizado; path traversal produce violación.</a:t>
            </a:r>
            <a:endParaRPr lang="en-US" sz="1300" dirty="0"/>
          </a:p>
        </p:txBody>
      </p:sp>
      <p:sp>
        <p:nvSpPr>
          <p:cNvPr id="11" name="Shape 9"/>
          <p:cNvSpPr/>
          <p:nvPr/>
        </p:nvSpPr>
        <p:spPr>
          <a:xfrm>
            <a:off x="768096" y="2743200"/>
            <a:ext cx="429768" cy="329184"/>
          </a:xfrm>
          <a:prstGeom prst="roundRect">
            <a:avLst>
              <a:gd name="adj" fmla="val 44444"/>
            </a:avLst>
          </a:prstGeom>
          <a:solidFill>
            <a:srgbClr val="2EA8FF"/>
          </a:solidFill>
          <a:ln w="12700">
            <a:solidFill>
              <a:srgbClr val="2EA8FF"/>
            </a:solidFill>
            <a:prstDash val="solid"/>
          </a:ln>
        </p:spPr>
      </p:sp>
      <p:sp>
        <p:nvSpPr>
          <p:cNvPr id="12" name="Text 10"/>
          <p:cNvSpPr txBox="1"/>
          <p:nvPr/>
        </p:nvSpPr>
        <p:spPr>
          <a:xfrm>
            <a:off x="841248" y="2761488"/>
            <a:ext cx="283464" cy="283464"/>
          </a:xfrm>
          <a:prstGeom prst="rect">
            <a:avLst/>
          </a:prstGeom>
          <a:noFill/>
          <a:ln/>
        </p:spPr>
        <p:txBody>
          <a:bodyPr wrap="square" lIns="0" tIns="0" rIns="0" bIns="0" rtlCol="0" anchor="ctr">
            <a:normAutofit/>
          </a:bodyPr>
          <a:lstStyle/>
          <a:p>
            <a:pPr algn="ctr" indent="0" marL="0">
              <a:buNone/>
            </a:pPr>
            <a:r>
              <a:rPr lang="en-US" sz="950" b="1" dirty="0">
                <a:solidFill>
                  <a:srgbClr val="F7FAFC"/>
                </a:solidFill>
                <a:latin typeface="Inter" pitchFamily="34" charset="0"/>
                <a:ea typeface="Inter" pitchFamily="34" charset="-122"/>
                <a:cs typeface="Inter" pitchFamily="34" charset="-120"/>
              </a:rPr>
              <a:t>02</a:t>
            </a:r>
            <a:endParaRPr lang="en-US" sz="950" dirty="0"/>
          </a:p>
        </p:txBody>
      </p:sp>
      <p:sp>
        <p:nvSpPr>
          <p:cNvPr id="13" name="Shape 11"/>
          <p:cNvSpPr/>
          <p:nvPr/>
        </p:nvSpPr>
        <p:spPr>
          <a:xfrm>
            <a:off x="1389888" y="2907792"/>
            <a:ext cx="694944" cy="0"/>
          </a:xfrm>
          <a:prstGeom prst="line">
            <a:avLst/>
          </a:prstGeom>
          <a:noFill/>
          <a:ln w="13970">
            <a:solidFill>
              <a:srgbClr val="274258"/>
            </a:solidFill>
            <a:prstDash val="solid"/>
          </a:ln>
        </p:spPr>
      </p:sp>
      <p:sp>
        <p:nvSpPr>
          <p:cNvPr id="14" name="Shape 12"/>
          <p:cNvSpPr/>
          <p:nvPr/>
        </p:nvSpPr>
        <p:spPr>
          <a:xfrm>
            <a:off x="2052828" y="2857500"/>
            <a:ext cx="100584" cy="100584"/>
          </a:xfrm>
          <a:prstGeom prst="ellipse">
            <a:avLst/>
          </a:prstGeom>
          <a:solidFill>
            <a:srgbClr val="2EA8FF"/>
          </a:solidFill>
          <a:ln w="12700">
            <a:solidFill>
              <a:srgbClr val="2EA8FF"/>
            </a:solidFill>
            <a:prstDash val="solid"/>
          </a:ln>
        </p:spPr>
      </p:sp>
      <p:sp>
        <p:nvSpPr>
          <p:cNvPr id="15" name="Text 13"/>
          <p:cNvSpPr txBox="1"/>
          <p:nvPr/>
        </p:nvSpPr>
        <p:spPr>
          <a:xfrm>
            <a:off x="2322576" y="2633472"/>
            <a:ext cx="2103120" cy="310896"/>
          </a:xfrm>
          <a:prstGeom prst="rect">
            <a:avLst/>
          </a:prstGeom>
          <a:noFill/>
          <a:ln/>
        </p:spPr>
        <p:txBody>
          <a:bodyPr wrap="square" lIns="0" tIns="0" rIns="0" bIns="0" rtlCol="0" anchor="ctr">
            <a:normAutofit/>
          </a:bodyPr>
          <a:lstStyle/>
          <a:p>
            <a:pPr algn="l" indent="0" marL="0">
              <a:buNone/>
            </a:pPr>
            <a:r>
              <a:rPr lang="en-US" sz="1800" b="1" dirty="0">
                <a:solidFill>
                  <a:srgbClr val="F7FAFC"/>
                </a:solidFill>
                <a:latin typeface="Inter" pitchFamily="34" charset="0"/>
                <a:ea typeface="Inter" pitchFamily="34" charset="-122"/>
                <a:cs typeface="Inter" pitchFamily="34" charset="-120"/>
              </a:rPr>
              <a:t>Sanitizar</a:t>
            </a:r>
            <a:endParaRPr lang="en-US" sz="1800" dirty="0"/>
          </a:p>
        </p:txBody>
      </p:sp>
      <p:sp>
        <p:nvSpPr>
          <p:cNvPr id="16" name="Text 14"/>
          <p:cNvSpPr txBox="1"/>
          <p:nvPr/>
        </p:nvSpPr>
        <p:spPr>
          <a:xfrm>
            <a:off x="4407408" y="2606040"/>
            <a:ext cx="5239512" cy="438912"/>
          </a:xfrm>
          <a:prstGeom prst="rect">
            <a:avLst/>
          </a:prstGeom>
          <a:noFill/>
          <a:ln/>
        </p:spPr>
        <p:txBody>
          <a:bodyPr wrap="square" lIns="0" tIns="0" rIns="0" bIns="0" rtlCol="0" anchor="ctr">
            <a:normAutofit/>
          </a:bodyPr>
          <a:lstStyle/>
          <a:p>
            <a:pPr algn="l" indent="0" marL="0">
              <a:buNone/>
            </a:pPr>
            <a:r>
              <a:rPr lang="en-US" sz="1300" dirty="0">
                <a:solidFill>
                  <a:srgbClr val="8FA3B8"/>
                </a:solidFill>
                <a:latin typeface="Inter" pitchFamily="34" charset="0"/>
                <a:ea typeface="Inter" pitchFamily="34" charset="-122"/>
                <a:cs typeface="Inter" pitchFamily="34" charset="-120"/>
              </a:rPr>
              <a:t>SecretSanitizer enmascara API keys, tokens y credenciales.</a:t>
            </a:r>
            <a:endParaRPr lang="en-US" sz="1300" dirty="0"/>
          </a:p>
        </p:txBody>
      </p:sp>
      <p:sp>
        <p:nvSpPr>
          <p:cNvPr id="17" name="Shape 15"/>
          <p:cNvSpPr/>
          <p:nvPr/>
        </p:nvSpPr>
        <p:spPr>
          <a:xfrm>
            <a:off x="768096" y="3538728"/>
            <a:ext cx="429768" cy="329184"/>
          </a:xfrm>
          <a:prstGeom prst="roundRect">
            <a:avLst>
              <a:gd name="adj" fmla="val 44444"/>
            </a:avLst>
          </a:prstGeom>
          <a:solidFill>
            <a:srgbClr val="45D0E6"/>
          </a:solidFill>
          <a:ln w="12700">
            <a:solidFill>
              <a:srgbClr val="45D0E6"/>
            </a:solidFill>
            <a:prstDash val="solid"/>
          </a:ln>
        </p:spPr>
      </p:sp>
      <p:sp>
        <p:nvSpPr>
          <p:cNvPr id="18" name="Text 16"/>
          <p:cNvSpPr txBox="1"/>
          <p:nvPr/>
        </p:nvSpPr>
        <p:spPr>
          <a:xfrm>
            <a:off x="841248" y="3557016"/>
            <a:ext cx="283464" cy="283464"/>
          </a:xfrm>
          <a:prstGeom prst="rect">
            <a:avLst/>
          </a:prstGeom>
          <a:noFill/>
          <a:ln/>
        </p:spPr>
        <p:txBody>
          <a:bodyPr wrap="square" lIns="0" tIns="0" rIns="0" bIns="0" rtlCol="0" anchor="ctr">
            <a:normAutofit/>
          </a:bodyPr>
          <a:lstStyle/>
          <a:p>
            <a:pPr algn="ctr" indent="0" marL="0">
              <a:buNone/>
            </a:pPr>
            <a:r>
              <a:rPr lang="en-US" sz="950" b="1" dirty="0">
                <a:solidFill>
                  <a:srgbClr val="F7FAFC"/>
                </a:solidFill>
                <a:latin typeface="Inter" pitchFamily="34" charset="0"/>
                <a:ea typeface="Inter" pitchFamily="34" charset="-122"/>
                <a:cs typeface="Inter" pitchFamily="34" charset="-120"/>
              </a:rPr>
              <a:t>03</a:t>
            </a:r>
            <a:endParaRPr lang="en-US" sz="950" dirty="0"/>
          </a:p>
        </p:txBody>
      </p:sp>
      <p:sp>
        <p:nvSpPr>
          <p:cNvPr id="19" name="Shape 17"/>
          <p:cNvSpPr/>
          <p:nvPr/>
        </p:nvSpPr>
        <p:spPr>
          <a:xfrm>
            <a:off x="1389888" y="3703320"/>
            <a:ext cx="694944" cy="0"/>
          </a:xfrm>
          <a:prstGeom prst="line">
            <a:avLst/>
          </a:prstGeom>
          <a:noFill/>
          <a:ln w="13970">
            <a:solidFill>
              <a:srgbClr val="274258"/>
            </a:solidFill>
            <a:prstDash val="solid"/>
          </a:ln>
        </p:spPr>
      </p:sp>
      <p:sp>
        <p:nvSpPr>
          <p:cNvPr id="20" name="Shape 18"/>
          <p:cNvSpPr/>
          <p:nvPr/>
        </p:nvSpPr>
        <p:spPr>
          <a:xfrm>
            <a:off x="2052828" y="3653028"/>
            <a:ext cx="100584" cy="100584"/>
          </a:xfrm>
          <a:prstGeom prst="ellipse">
            <a:avLst/>
          </a:prstGeom>
          <a:solidFill>
            <a:srgbClr val="45D0E6"/>
          </a:solidFill>
          <a:ln w="12700">
            <a:solidFill>
              <a:srgbClr val="45D0E6"/>
            </a:solidFill>
            <a:prstDash val="solid"/>
          </a:ln>
        </p:spPr>
      </p:sp>
      <p:sp>
        <p:nvSpPr>
          <p:cNvPr id="21" name="Text 19"/>
          <p:cNvSpPr txBox="1"/>
          <p:nvPr/>
        </p:nvSpPr>
        <p:spPr>
          <a:xfrm>
            <a:off x="2322576" y="3429000"/>
            <a:ext cx="2103120" cy="310896"/>
          </a:xfrm>
          <a:prstGeom prst="rect">
            <a:avLst/>
          </a:prstGeom>
          <a:noFill/>
          <a:ln/>
        </p:spPr>
        <p:txBody>
          <a:bodyPr wrap="square" lIns="0" tIns="0" rIns="0" bIns="0" rtlCol="0" anchor="ctr">
            <a:normAutofit/>
          </a:bodyPr>
          <a:lstStyle/>
          <a:p>
            <a:pPr algn="l" indent="0" marL="0">
              <a:buNone/>
            </a:pPr>
            <a:r>
              <a:rPr lang="en-US" sz="1800" b="1" dirty="0">
                <a:solidFill>
                  <a:srgbClr val="F7FAFC"/>
                </a:solidFill>
                <a:latin typeface="Inter" pitchFamily="34" charset="0"/>
                <a:ea typeface="Inter" pitchFamily="34" charset="-122"/>
                <a:cs typeface="Inter" pitchFamily="34" charset="-120"/>
              </a:rPr>
              <a:t>Neutralizar</a:t>
            </a:r>
            <a:endParaRPr lang="en-US" sz="1800" dirty="0"/>
          </a:p>
        </p:txBody>
      </p:sp>
      <p:sp>
        <p:nvSpPr>
          <p:cNvPr id="22" name="Text 20"/>
          <p:cNvSpPr txBox="1"/>
          <p:nvPr/>
        </p:nvSpPr>
        <p:spPr>
          <a:xfrm>
            <a:off x="4407408" y="3401568"/>
            <a:ext cx="5239512" cy="438912"/>
          </a:xfrm>
          <a:prstGeom prst="rect">
            <a:avLst/>
          </a:prstGeom>
          <a:noFill/>
          <a:ln/>
        </p:spPr>
        <p:txBody>
          <a:bodyPr wrap="square" lIns="0" tIns="0" rIns="0" bIns="0" rtlCol="0" anchor="ctr">
            <a:normAutofit/>
          </a:bodyPr>
          <a:lstStyle/>
          <a:p>
            <a:pPr algn="l" indent="0" marL="0">
              <a:buNone/>
            </a:pPr>
            <a:r>
              <a:rPr lang="en-US" sz="1300" dirty="0">
                <a:solidFill>
                  <a:srgbClr val="8FA3B8"/>
                </a:solidFill>
                <a:latin typeface="Inter" pitchFamily="34" charset="0"/>
                <a:ea typeface="Inter" pitchFamily="34" charset="-122"/>
                <a:cs typeface="Inter" pitchFamily="34" charset="-120"/>
              </a:rPr>
              <a:t>Contenido del repo se encapsula como DATA frente a prompt injection.</a:t>
            </a:r>
            <a:endParaRPr lang="en-US" sz="1300" dirty="0"/>
          </a:p>
        </p:txBody>
      </p:sp>
      <p:sp>
        <p:nvSpPr>
          <p:cNvPr id="23" name="Shape 21"/>
          <p:cNvSpPr/>
          <p:nvPr/>
        </p:nvSpPr>
        <p:spPr>
          <a:xfrm>
            <a:off x="768096" y="4334256"/>
            <a:ext cx="429768" cy="329184"/>
          </a:xfrm>
          <a:prstGeom prst="roundRect">
            <a:avLst>
              <a:gd name="adj" fmla="val 44444"/>
            </a:avLst>
          </a:prstGeom>
          <a:solidFill>
            <a:srgbClr val="FF5B6E"/>
          </a:solidFill>
          <a:ln w="12700">
            <a:solidFill>
              <a:srgbClr val="FF5B6E"/>
            </a:solidFill>
            <a:prstDash val="solid"/>
          </a:ln>
        </p:spPr>
      </p:sp>
      <p:sp>
        <p:nvSpPr>
          <p:cNvPr id="24" name="Text 22"/>
          <p:cNvSpPr txBox="1"/>
          <p:nvPr/>
        </p:nvSpPr>
        <p:spPr>
          <a:xfrm>
            <a:off x="841248" y="4352544"/>
            <a:ext cx="283464" cy="283464"/>
          </a:xfrm>
          <a:prstGeom prst="rect">
            <a:avLst/>
          </a:prstGeom>
          <a:noFill/>
          <a:ln/>
        </p:spPr>
        <p:txBody>
          <a:bodyPr wrap="square" lIns="0" tIns="0" rIns="0" bIns="0" rtlCol="0" anchor="ctr">
            <a:normAutofit/>
          </a:bodyPr>
          <a:lstStyle/>
          <a:p>
            <a:pPr algn="ctr" indent="0" marL="0">
              <a:buNone/>
            </a:pPr>
            <a:r>
              <a:rPr lang="en-US" sz="950" b="1" dirty="0">
                <a:solidFill>
                  <a:srgbClr val="F7FAFC"/>
                </a:solidFill>
                <a:latin typeface="Inter" pitchFamily="34" charset="0"/>
                <a:ea typeface="Inter" pitchFamily="34" charset="-122"/>
                <a:cs typeface="Inter" pitchFamily="34" charset="-120"/>
              </a:rPr>
              <a:t>04</a:t>
            </a:r>
            <a:endParaRPr lang="en-US" sz="950" dirty="0"/>
          </a:p>
        </p:txBody>
      </p:sp>
      <p:sp>
        <p:nvSpPr>
          <p:cNvPr id="25" name="Shape 23"/>
          <p:cNvSpPr/>
          <p:nvPr/>
        </p:nvSpPr>
        <p:spPr>
          <a:xfrm>
            <a:off x="1389888" y="4498848"/>
            <a:ext cx="694944" cy="0"/>
          </a:xfrm>
          <a:prstGeom prst="line">
            <a:avLst/>
          </a:prstGeom>
          <a:noFill/>
          <a:ln w="13970">
            <a:solidFill>
              <a:srgbClr val="274258"/>
            </a:solidFill>
            <a:prstDash val="solid"/>
          </a:ln>
        </p:spPr>
      </p:sp>
      <p:sp>
        <p:nvSpPr>
          <p:cNvPr id="26" name="Shape 24"/>
          <p:cNvSpPr/>
          <p:nvPr/>
        </p:nvSpPr>
        <p:spPr>
          <a:xfrm>
            <a:off x="2052828" y="4448556"/>
            <a:ext cx="100584" cy="100584"/>
          </a:xfrm>
          <a:prstGeom prst="ellipse">
            <a:avLst/>
          </a:prstGeom>
          <a:solidFill>
            <a:srgbClr val="FF5B6E"/>
          </a:solidFill>
          <a:ln w="12700">
            <a:solidFill>
              <a:srgbClr val="FF5B6E"/>
            </a:solidFill>
            <a:prstDash val="solid"/>
          </a:ln>
        </p:spPr>
      </p:sp>
      <p:sp>
        <p:nvSpPr>
          <p:cNvPr id="27" name="Text 25"/>
          <p:cNvSpPr txBox="1"/>
          <p:nvPr/>
        </p:nvSpPr>
        <p:spPr>
          <a:xfrm>
            <a:off x="2322576" y="4224528"/>
            <a:ext cx="2103120" cy="310896"/>
          </a:xfrm>
          <a:prstGeom prst="rect">
            <a:avLst/>
          </a:prstGeom>
          <a:noFill/>
          <a:ln/>
        </p:spPr>
        <p:txBody>
          <a:bodyPr wrap="square" lIns="0" tIns="0" rIns="0" bIns="0" rtlCol="0" anchor="ctr">
            <a:normAutofit/>
          </a:bodyPr>
          <a:lstStyle/>
          <a:p>
            <a:pPr algn="l" indent="0" marL="0">
              <a:buNone/>
            </a:pPr>
            <a:r>
              <a:rPr lang="en-US" sz="1800" b="1" dirty="0">
                <a:solidFill>
                  <a:srgbClr val="F7FAFC"/>
                </a:solidFill>
                <a:latin typeface="Inter" pitchFamily="34" charset="0"/>
                <a:ea typeface="Inter" pitchFamily="34" charset="-122"/>
                <a:cs typeface="Inter" pitchFamily="34" charset="-120"/>
              </a:rPr>
              <a:t>Bloquear</a:t>
            </a:r>
            <a:endParaRPr lang="en-US" sz="1800" dirty="0"/>
          </a:p>
        </p:txBody>
      </p:sp>
      <p:sp>
        <p:nvSpPr>
          <p:cNvPr id="28" name="Text 26"/>
          <p:cNvSpPr txBox="1"/>
          <p:nvPr/>
        </p:nvSpPr>
        <p:spPr>
          <a:xfrm>
            <a:off x="4407408" y="4197096"/>
            <a:ext cx="5239512" cy="438912"/>
          </a:xfrm>
          <a:prstGeom prst="rect">
            <a:avLst/>
          </a:prstGeom>
          <a:noFill/>
          <a:ln/>
        </p:spPr>
        <p:txBody>
          <a:bodyPr wrap="square" lIns="0" tIns="0" rIns="0" bIns="0" rtlCol="0" anchor="ctr">
            <a:normAutofit/>
          </a:bodyPr>
          <a:lstStyle/>
          <a:p>
            <a:pPr algn="l" indent="0" marL="0">
              <a:buNone/>
            </a:pPr>
            <a:r>
              <a:rPr lang="en-US" sz="1300" dirty="0">
                <a:solidFill>
                  <a:srgbClr val="8FA3B8"/>
                </a:solidFill>
                <a:latin typeface="Inter" pitchFamily="34" charset="0"/>
                <a:ea typeface="Inter" pitchFamily="34" charset="-122"/>
                <a:cs typeface="Inter" pitchFamily="34" charset="-120"/>
              </a:rPr>
              <a:t>Hallazgo crítico de Security detiene el pipeline.</a:t>
            </a:r>
            <a:endParaRPr lang="en-US" sz="1300" dirty="0"/>
          </a:p>
        </p:txBody>
      </p:sp>
      <p:sp>
        <p:nvSpPr>
          <p:cNvPr id="29" name="Shape 27"/>
          <p:cNvSpPr/>
          <p:nvPr/>
        </p:nvSpPr>
        <p:spPr>
          <a:xfrm>
            <a:off x="768096" y="5129784"/>
            <a:ext cx="429768" cy="329184"/>
          </a:xfrm>
          <a:prstGeom prst="roundRect">
            <a:avLst>
              <a:gd name="adj" fmla="val 44444"/>
            </a:avLst>
          </a:prstGeom>
          <a:solidFill>
            <a:srgbClr val="38D996"/>
          </a:solidFill>
          <a:ln w="12700">
            <a:solidFill>
              <a:srgbClr val="38D996"/>
            </a:solidFill>
            <a:prstDash val="solid"/>
          </a:ln>
        </p:spPr>
      </p:sp>
      <p:sp>
        <p:nvSpPr>
          <p:cNvPr id="30" name="Text 28"/>
          <p:cNvSpPr txBox="1"/>
          <p:nvPr/>
        </p:nvSpPr>
        <p:spPr>
          <a:xfrm>
            <a:off x="841248" y="5148072"/>
            <a:ext cx="283464" cy="283464"/>
          </a:xfrm>
          <a:prstGeom prst="rect">
            <a:avLst/>
          </a:prstGeom>
          <a:noFill/>
          <a:ln/>
        </p:spPr>
        <p:txBody>
          <a:bodyPr wrap="square" lIns="0" tIns="0" rIns="0" bIns="0" rtlCol="0" anchor="ctr">
            <a:normAutofit/>
          </a:bodyPr>
          <a:lstStyle/>
          <a:p>
            <a:pPr algn="ctr" indent="0" marL="0">
              <a:buNone/>
            </a:pPr>
            <a:r>
              <a:rPr lang="en-US" sz="950" b="1" dirty="0">
                <a:solidFill>
                  <a:srgbClr val="06111D"/>
                </a:solidFill>
                <a:latin typeface="Inter" pitchFamily="34" charset="0"/>
                <a:ea typeface="Inter" pitchFamily="34" charset="-122"/>
                <a:cs typeface="Inter" pitchFamily="34" charset="-120"/>
              </a:rPr>
              <a:t>05</a:t>
            </a:r>
            <a:endParaRPr lang="en-US" sz="950" dirty="0"/>
          </a:p>
        </p:txBody>
      </p:sp>
      <p:sp>
        <p:nvSpPr>
          <p:cNvPr id="31" name="Shape 29"/>
          <p:cNvSpPr/>
          <p:nvPr/>
        </p:nvSpPr>
        <p:spPr>
          <a:xfrm>
            <a:off x="1389888" y="5294376"/>
            <a:ext cx="694944" cy="0"/>
          </a:xfrm>
          <a:prstGeom prst="line">
            <a:avLst/>
          </a:prstGeom>
          <a:noFill/>
          <a:ln w="13970">
            <a:solidFill>
              <a:srgbClr val="274258"/>
            </a:solidFill>
            <a:prstDash val="solid"/>
          </a:ln>
        </p:spPr>
      </p:sp>
      <p:sp>
        <p:nvSpPr>
          <p:cNvPr id="32" name="Shape 30"/>
          <p:cNvSpPr/>
          <p:nvPr/>
        </p:nvSpPr>
        <p:spPr>
          <a:xfrm>
            <a:off x="2052828" y="5244084"/>
            <a:ext cx="100584" cy="100584"/>
          </a:xfrm>
          <a:prstGeom prst="ellipse">
            <a:avLst/>
          </a:prstGeom>
          <a:solidFill>
            <a:srgbClr val="38D996"/>
          </a:solidFill>
          <a:ln w="12700">
            <a:solidFill>
              <a:srgbClr val="38D996"/>
            </a:solidFill>
            <a:prstDash val="solid"/>
          </a:ln>
        </p:spPr>
      </p:sp>
      <p:sp>
        <p:nvSpPr>
          <p:cNvPr id="33" name="Text 31"/>
          <p:cNvSpPr txBox="1"/>
          <p:nvPr/>
        </p:nvSpPr>
        <p:spPr>
          <a:xfrm>
            <a:off x="2322576" y="5020056"/>
            <a:ext cx="2103120" cy="310896"/>
          </a:xfrm>
          <a:prstGeom prst="rect">
            <a:avLst/>
          </a:prstGeom>
          <a:noFill/>
          <a:ln/>
        </p:spPr>
        <p:txBody>
          <a:bodyPr wrap="square" lIns="0" tIns="0" rIns="0" bIns="0" rtlCol="0" anchor="ctr">
            <a:normAutofit/>
          </a:bodyPr>
          <a:lstStyle/>
          <a:p>
            <a:pPr algn="l" indent="0" marL="0">
              <a:buNone/>
            </a:pPr>
            <a:r>
              <a:rPr lang="en-US" sz="1800" b="1" dirty="0">
                <a:solidFill>
                  <a:srgbClr val="F7FAFC"/>
                </a:solidFill>
                <a:latin typeface="Inter" pitchFamily="34" charset="0"/>
                <a:ea typeface="Inter" pitchFamily="34" charset="-122"/>
                <a:cs typeface="Inter" pitchFamily="34" charset="-120"/>
              </a:rPr>
              <a:t>Aprobar + auditar</a:t>
            </a:r>
            <a:endParaRPr lang="en-US" sz="1800" dirty="0"/>
          </a:p>
        </p:txBody>
      </p:sp>
      <p:sp>
        <p:nvSpPr>
          <p:cNvPr id="34" name="Text 32"/>
          <p:cNvSpPr txBox="1"/>
          <p:nvPr/>
        </p:nvSpPr>
        <p:spPr>
          <a:xfrm>
            <a:off x="4407408" y="4992624"/>
            <a:ext cx="5239512" cy="438912"/>
          </a:xfrm>
          <a:prstGeom prst="rect">
            <a:avLst/>
          </a:prstGeom>
          <a:noFill/>
          <a:ln/>
        </p:spPr>
        <p:txBody>
          <a:bodyPr wrap="square" lIns="0" tIns="0" rIns="0" bIns="0" rtlCol="0" anchor="ctr">
            <a:normAutofit/>
          </a:bodyPr>
          <a:lstStyle/>
          <a:p>
            <a:pPr algn="l" indent="0" marL="0">
              <a:buNone/>
            </a:pPr>
            <a:r>
              <a:rPr lang="en-US" sz="1300" dirty="0">
                <a:solidFill>
                  <a:srgbClr val="8FA3B8"/>
                </a:solidFill>
                <a:latin typeface="Inter" pitchFamily="34" charset="0"/>
                <a:ea typeface="Inter" pitchFamily="34" charset="-122"/>
                <a:cs typeface="Inter" pitchFamily="34" charset="-120"/>
              </a:rPr>
              <a:t>Operaciones sensibles usan HITL; budgets, checkpoints y trazas limitan ejecución.</a:t>
            </a:r>
            <a:endParaRPr lang="en-US" sz="1300" dirty="0"/>
          </a:p>
        </p:txBody>
      </p:sp>
      <p:sp>
        <p:nvSpPr>
          <p:cNvPr id="35" name="Shape 33"/>
          <p:cNvSpPr/>
          <p:nvPr/>
        </p:nvSpPr>
        <p:spPr>
          <a:xfrm>
            <a:off x="9829800" y="1847088"/>
            <a:ext cx="1600200" cy="3931920"/>
          </a:xfrm>
          <a:prstGeom prst="roundRect">
            <a:avLst>
              <a:gd name="adj" fmla="val 6857"/>
            </a:avLst>
          </a:prstGeom>
          <a:solidFill>
            <a:srgbClr val="0B1D2D"/>
          </a:solidFill>
          <a:ln w="12700">
            <a:solidFill>
              <a:srgbClr val="274258"/>
            </a:solidFill>
            <a:prstDash val="solid"/>
          </a:ln>
        </p:spPr>
      </p:sp>
      <p:sp>
        <p:nvSpPr>
          <p:cNvPr id="36" name="Text 34"/>
          <p:cNvSpPr txBox="1"/>
          <p:nvPr/>
        </p:nvSpPr>
        <p:spPr>
          <a:xfrm>
            <a:off x="10021824" y="2121408"/>
            <a:ext cx="1207008" cy="512064"/>
          </a:xfrm>
          <a:prstGeom prst="rect">
            <a:avLst/>
          </a:prstGeom>
          <a:noFill/>
          <a:ln/>
        </p:spPr>
        <p:txBody>
          <a:bodyPr wrap="square" lIns="0" tIns="0" rIns="0" bIns="0" rtlCol="0" anchor="ctr">
            <a:normAutofit/>
          </a:bodyPr>
          <a:lstStyle/>
          <a:p>
            <a:pPr algn="ctr" indent="0" marL="0">
              <a:buNone/>
            </a:pPr>
            <a:r>
              <a:rPr lang="en-US" sz="1400" b="1" dirty="0">
                <a:solidFill>
                  <a:srgbClr val="F7FAFC"/>
                </a:solidFill>
                <a:latin typeface="Inter" pitchFamily="34" charset="0"/>
                <a:ea typeface="Inter" pitchFamily="34" charset="-122"/>
                <a:cs typeface="Inter" pitchFamily="34" charset="-120"/>
              </a:rPr>
              <a:t>POLÍTICA</a:t>
            </a:r>
            <a:endParaRPr lang="en-US" sz="1400" dirty="0"/>
          </a:p>
          <a:p>
            <a:pPr algn="ctr" indent="0" marL="0">
              <a:buNone/>
            </a:pPr>
            <a:r>
              <a:rPr lang="en-US" sz="1400" b="1" dirty="0">
                <a:solidFill>
                  <a:srgbClr val="F7FAFC"/>
                </a:solidFill>
                <a:latin typeface="Inter" pitchFamily="34" charset="0"/>
                <a:ea typeface="Inter" pitchFamily="34" charset="-122"/>
                <a:cs typeface="Inter" pitchFamily="34" charset="-120"/>
              </a:rPr>
              <a:t>DE RIESGO</a:t>
            </a:r>
            <a:endParaRPr lang="en-US" sz="1400" dirty="0"/>
          </a:p>
        </p:txBody>
      </p:sp>
      <p:sp>
        <p:nvSpPr>
          <p:cNvPr id="37" name="Text 35"/>
          <p:cNvSpPr txBox="1"/>
          <p:nvPr/>
        </p:nvSpPr>
        <p:spPr>
          <a:xfrm>
            <a:off x="9985248" y="2953512"/>
            <a:ext cx="1280160" cy="182880"/>
          </a:xfrm>
          <a:prstGeom prst="rect">
            <a:avLst/>
          </a:prstGeom>
          <a:noFill/>
          <a:ln/>
        </p:spPr>
        <p:txBody>
          <a:bodyPr wrap="square" lIns="0" tIns="0" rIns="0" bIns="0" rtlCol="0" anchor="ctr">
            <a:normAutofit/>
          </a:bodyPr>
          <a:lstStyle/>
          <a:p>
            <a:pPr algn="ctr" indent="0" marL="0">
              <a:buNone/>
            </a:pPr>
            <a:r>
              <a:rPr lang="en-US" sz="950" b="1" dirty="0">
                <a:solidFill>
                  <a:srgbClr val="6F879B"/>
                </a:solidFill>
                <a:latin typeface="Inter" pitchFamily="34" charset="0"/>
                <a:ea typeface="Inter" pitchFamily="34" charset="-122"/>
                <a:cs typeface="Inter" pitchFamily="34" charset="-120"/>
              </a:rPr>
              <a:t>READ</a:t>
            </a:r>
            <a:endParaRPr lang="en-US" sz="950" dirty="0"/>
          </a:p>
        </p:txBody>
      </p:sp>
      <p:sp>
        <p:nvSpPr>
          <p:cNvPr id="38" name="Shape 36"/>
          <p:cNvSpPr/>
          <p:nvPr/>
        </p:nvSpPr>
        <p:spPr>
          <a:xfrm>
            <a:off x="10085832" y="3182112"/>
            <a:ext cx="1069848" cy="329184"/>
          </a:xfrm>
          <a:prstGeom prst="roundRect">
            <a:avLst>
              <a:gd name="adj" fmla="val 44444"/>
            </a:avLst>
          </a:prstGeom>
          <a:solidFill>
            <a:srgbClr val="1B75FF"/>
          </a:solidFill>
          <a:ln w="12700">
            <a:solidFill>
              <a:srgbClr val="1B75FF"/>
            </a:solidFill>
            <a:prstDash val="solid"/>
          </a:ln>
        </p:spPr>
      </p:sp>
      <p:sp>
        <p:nvSpPr>
          <p:cNvPr id="39" name="Text 37"/>
          <p:cNvSpPr txBox="1"/>
          <p:nvPr/>
        </p:nvSpPr>
        <p:spPr>
          <a:xfrm>
            <a:off x="10158984" y="3200400"/>
            <a:ext cx="923544" cy="283464"/>
          </a:xfrm>
          <a:prstGeom prst="rect">
            <a:avLst/>
          </a:prstGeom>
          <a:noFill/>
          <a:ln/>
        </p:spPr>
        <p:txBody>
          <a:bodyPr wrap="square" lIns="0" tIns="0" rIns="0" bIns="0" rtlCol="0" anchor="ctr">
            <a:normAutofit/>
          </a:bodyPr>
          <a:lstStyle/>
          <a:p>
            <a:pPr algn="ctr" indent="0" marL="0">
              <a:buNone/>
            </a:pPr>
            <a:r>
              <a:rPr lang="en-US" sz="850" b="1" dirty="0">
                <a:solidFill>
                  <a:srgbClr val="F7FAFC"/>
                </a:solidFill>
                <a:latin typeface="Inter" pitchFamily="34" charset="0"/>
                <a:ea typeface="Inter" pitchFamily="34" charset="-122"/>
                <a:cs typeface="Inter" pitchFamily="34" charset="-120"/>
              </a:rPr>
              <a:t>LOW</a:t>
            </a:r>
            <a:endParaRPr lang="en-US" sz="850" dirty="0"/>
          </a:p>
        </p:txBody>
      </p:sp>
      <p:sp>
        <p:nvSpPr>
          <p:cNvPr id="40" name="Text 38"/>
          <p:cNvSpPr txBox="1"/>
          <p:nvPr/>
        </p:nvSpPr>
        <p:spPr>
          <a:xfrm>
            <a:off x="9985248" y="3593592"/>
            <a:ext cx="1280160" cy="182880"/>
          </a:xfrm>
          <a:prstGeom prst="rect">
            <a:avLst/>
          </a:prstGeom>
          <a:noFill/>
          <a:ln/>
        </p:spPr>
        <p:txBody>
          <a:bodyPr wrap="square" lIns="0" tIns="0" rIns="0" bIns="0" rtlCol="0" anchor="ctr">
            <a:normAutofit/>
          </a:bodyPr>
          <a:lstStyle/>
          <a:p>
            <a:pPr algn="ctr" indent="0" marL="0">
              <a:buNone/>
            </a:pPr>
            <a:r>
              <a:rPr lang="en-US" sz="950" b="1" dirty="0">
                <a:solidFill>
                  <a:srgbClr val="6F879B"/>
                </a:solidFill>
                <a:latin typeface="Inter" pitchFamily="34" charset="0"/>
                <a:ea typeface="Inter" pitchFamily="34" charset="-122"/>
                <a:cs typeface="Inter" pitchFamily="34" charset="-120"/>
              </a:rPr>
              <a:t>PATCH</a:t>
            </a:r>
            <a:endParaRPr lang="en-US" sz="950" dirty="0"/>
          </a:p>
        </p:txBody>
      </p:sp>
      <p:sp>
        <p:nvSpPr>
          <p:cNvPr id="41" name="Shape 39"/>
          <p:cNvSpPr/>
          <p:nvPr/>
        </p:nvSpPr>
        <p:spPr>
          <a:xfrm>
            <a:off x="10085832" y="3822192"/>
            <a:ext cx="1069848" cy="329184"/>
          </a:xfrm>
          <a:prstGeom prst="roundRect">
            <a:avLst>
              <a:gd name="adj" fmla="val 44444"/>
            </a:avLst>
          </a:prstGeom>
          <a:solidFill>
            <a:srgbClr val="F2B138"/>
          </a:solidFill>
          <a:ln w="12700">
            <a:solidFill>
              <a:srgbClr val="F2B138"/>
            </a:solidFill>
            <a:prstDash val="solid"/>
          </a:ln>
        </p:spPr>
      </p:sp>
      <p:sp>
        <p:nvSpPr>
          <p:cNvPr id="42" name="Text 40"/>
          <p:cNvSpPr txBox="1"/>
          <p:nvPr/>
        </p:nvSpPr>
        <p:spPr>
          <a:xfrm>
            <a:off x="10158984" y="3840480"/>
            <a:ext cx="923544" cy="283464"/>
          </a:xfrm>
          <a:prstGeom prst="rect">
            <a:avLst/>
          </a:prstGeom>
          <a:noFill/>
          <a:ln/>
        </p:spPr>
        <p:txBody>
          <a:bodyPr wrap="square" lIns="0" tIns="0" rIns="0" bIns="0" rtlCol="0" anchor="ctr">
            <a:normAutofit/>
          </a:bodyPr>
          <a:lstStyle/>
          <a:p>
            <a:pPr algn="ctr" indent="0" marL="0">
              <a:buNone/>
            </a:pPr>
            <a:r>
              <a:rPr lang="en-US" sz="850" b="1" dirty="0">
                <a:solidFill>
                  <a:srgbClr val="06111D"/>
                </a:solidFill>
                <a:latin typeface="Inter" pitchFamily="34" charset="0"/>
                <a:ea typeface="Inter" pitchFamily="34" charset="-122"/>
                <a:cs typeface="Inter" pitchFamily="34" charset="-120"/>
              </a:rPr>
              <a:t>MEDIUM</a:t>
            </a:r>
            <a:endParaRPr lang="en-US" sz="850" dirty="0"/>
          </a:p>
        </p:txBody>
      </p:sp>
      <p:sp>
        <p:nvSpPr>
          <p:cNvPr id="43" name="Text 41"/>
          <p:cNvSpPr txBox="1"/>
          <p:nvPr/>
        </p:nvSpPr>
        <p:spPr>
          <a:xfrm>
            <a:off x="9985248" y="4233672"/>
            <a:ext cx="1280160" cy="182880"/>
          </a:xfrm>
          <a:prstGeom prst="rect">
            <a:avLst/>
          </a:prstGeom>
          <a:noFill/>
          <a:ln/>
        </p:spPr>
        <p:txBody>
          <a:bodyPr wrap="square" lIns="0" tIns="0" rIns="0" bIns="0" rtlCol="0" anchor="ctr">
            <a:normAutofit/>
          </a:bodyPr>
          <a:lstStyle/>
          <a:p>
            <a:pPr algn="ctr" indent="0" marL="0">
              <a:buNone/>
            </a:pPr>
            <a:r>
              <a:rPr lang="en-US" sz="950" b="1" dirty="0">
                <a:solidFill>
                  <a:srgbClr val="6F879B"/>
                </a:solidFill>
                <a:latin typeface="Inter" pitchFamily="34" charset="0"/>
                <a:ea typeface="Inter" pitchFamily="34" charset="-122"/>
                <a:cs typeface="Inter" pitchFamily="34" charset="-120"/>
              </a:rPr>
              <a:t>PUSH / PR</a:t>
            </a:r>
            <a:endParaRPr lang="en-US" sz="950" dirty="0"/>
          </a:p>
        </p:txBody>
      </p:sp>
      <p:sp>
        <p:nvSpPr>
          <p:cNvPr id="44" name="Shape 42"/>
          <p:cNvSpPr/>
          <p:nvPr/>
        </p:nvSpPr>
        <p:spPr>
          <a:xfrm>
            <a:off x="10085832" y="4462272"/>
            <a:ext cx="1069848" cy="329184"/>
          </a:xfrm>
          <a:prstGeom prst="roundRect">
            <a:avLst>
              <a:gd name="adj" fmla="val 44444"/>
            </a:avLst>
          </a:prstGeom>
          <a:solidFill>
            <a:srgbClr val="FF5B6E"/>
          </a:solidFill>
          <a:ln w="12700">
            <a:solidFill>
              <a:srgbClr val="FF5B6E"/>
            </a:solidFill>
            <a:prstDash val="solid"/>
          </a:ln>
        </p:spPr>
      </p:sp>
      <p:sp>
        <p:nvSpPr>
          <p:cNvPr id="45" name="Text 43"/>
          <p:cNvSpPr txBox="1"/>
          <p:nvPr/>
        </p:nvSpPr>
        <p:spPr>
          <a:xfrm>
            <a:off x="10158984" y="4480560"/>
            <a:ext cx="923544" cy="283464"/>
          </a:xfrm>
          <a:prstGeom prst="rect">
            <a:avLst/>
          </a:prstGeom>
          <a:noFill/>
          <a:ln/>
        </p:spPr>
        <p:txBody>
          <a:bodyPr wrap="square" lIns="0" tIns="0" rIns="0" bIns="0" rtlCol="0" anchor="ctr">
            <a:normAutofit/>
          </a:bodyPr>
          <a:lstStyle/>
          <a:p>
            <a:pPr algn="ctr" indent="0" marL="0">
              <a:buNone/>
            </a:pPr>
            <a:r>
              <a:rPr lang="en-US" sz="850" b="1" dirty="0">
                <a:solidFill>
                  <a:srgbClr val="F7FAFC"/>
                </a:solidFill>
                <a:latin typeface="Inter" pitchFamily="34" charset="0"/>
                <a:ea typeface="Inter" pitchFamily="34" charset="-122"/>
                <a:cs typeface="Inter" pitchFamily="34" charset="-120"/>
              </a:rPr>
              <a:t>HIGH</a:t>
            </a:r>
            <a:endParaRPr lang="en-US" sz="850" dirty="0"/>
          </a:p>
        </p:txBody>
      </p:sp>
      <p:sp>
        <p:nvSpPr>
          <p:cNvPr id="46" name="Text 44"/>
          <p:cNvSpPr txBox="1"/>
          <p:nvPr/>
        </p:nvSpPr>
        <p:spPr>
          <a:xfrm>
            <a:off x="9985248" y="4873752"/>
            <a:ext cx="1280160" cy="182880"/>
          </a:xfrm>
          <a:prstGeom prst="rect">
            <a:avLst/>
          </a:prstGeom>
          <a:noFill/>
          <a:ln/>
        </p:spPr>
        <p:txBody>
          <a:bodyPr wrap="square" lIns="0" tIns="0" rIns="0" bIns="0" rtlCol="0" anchor="ctr">
            <a:normAutofit/>
          </a:bodyPr>
          <a:lstStyle/>
          <a:p>
            <a:pPr algn="ctr" indent="0" marL="0">
              <a:buNone/>
            </a:pPr>
            <a:r>
              <a:rPr lang="en-US" sz="950" b="1" dirty="0">
                <a:solidFill>
                  <a:srgbClr val="6F879B"/>
                </a:solidFill>
                <a:latin typeface="Inter" pitchFamily="34" charset="0"/>
                <a:ea typeface="Inter" pitchFamily="34" charset="-122"/>
                <a:cs typeface="Inter" pitchFamily="34" charset="-120"/>
              </a:rPr>
              <a:t>PROD</a:t>
            </a:r>
            <a:endParaRPr lang="en-US" sz="950" dirty="0"/>
          </a:p>
        </p:txBody>
      </p:sp>
      <p:sp>
        <p:nvSpPr>
          <p:cNvPr id="47" name="Shape 45"/>
          <p:cNvSpPr/>
          <p:nvPr/>
        </p:nvSpPr>
        <p:spPr>
          <a:xfrm>
            <a:off x="10085832" y="5102352"/>
            <a:ext cx="1069848" cy="329184"/>
          </a:xfrm>
          <a:prstGeom prst="roundRect">
            <a:avLst>
              <a:gd name="adj" fmla="val 44444"/>
            </a:avLst>
          </a:prstGeom>
          <a:solidFill>
            <a:srgbClr val="FF5B6E"/>
          </a:solidFill>
          <a:ln w="12700">
            <a:solidFill>
              <a:srgbClr val="FF5B6E"/>
            </a:solidFill>
            <a:prstDash val="solid"/>
          </a:ln>
        </p:spPr>
      </p:sp>
      <p:sp>
        <p:nvSpPr>
          <p:cNvPr id="48" name="Text 46"/>
          <p:cNvSpPr txBox="1"/>
          <p:nvPr/>
        </p:nvSpPr>
        <p:spPr>
          <a:xfrm>
            <a:off x="10158984" y="5120640"/>
            <a:ext cx="923544" cy="283464"/>
          </a:xfrm>
          <a:prstGeom prst="rect">
            <a:avLst/>
          </a:prstGeom>
          <a:noFill/>
          <a:ln/>
        </p:spPr>
        <p:txBody>
          <a:bodyPr wrap="square" lIns="0" tIns="0" rIns="0" bIns="0" rtlCol="0" anchor="ctr">
            <a:normAutofit/>
          </a:bodyPr>
          <a:lstStyle/>
          <a:p>
            <a:pPr algn="ctr" indent="0" marL="0">
              <a:buNone/>
            </a:pPr>
            <a:r>
              <a:rPr lang="en-US" sz="850" b="1" dirty="0">
                <a:solidFill>
                  <a:srgbClr val="F7FAFC"/>
                </a:solidFill>
                <a:latin typeface="Inter" pitchFamily="34" charset="0"/>
                <a:ea typeface="Inter" pitchFamily="34" charset="-122"/>
                <a:cs typeface="Inter" pitchFamily="34" charset="-120"/>
              </a:rPr>
              <a:t>FORBIDDEN</a:t>
            </a:r>
            <a:endParaRPr lang="en-US" sz="850" dirty="0"/>
          </a:p>
        </p:txBody>
      </p:sp>
      <p:sp>
        <p:nvSpPr>
          <p:cNvPr id="49" name="Shape 47"/>
          <p:cNvSpPr/>
          <p:nvPr/>
        </p:nvSpPr>
        <p:spPr>
          <a:xfrm>
            <a:off x="749808" y="5916168"/>
            <a:ext cx="8869680" cy="384048"/>
          </a:xfrm>
          <a:prstGeom prst="rect">
            <a:avLst/>
          </a:prstGeom>
          <a:solidFill>
            <a:srgbClr val="0B1D2D"/>
          </a:solidFill>
          <a:ln w="6350">
            <a:solidFill>
              <a:srgbClr val="0B1D2D"/>
            </a:solidFill>
            <a:prstDash val="solid"/>
          </a:ln>
        </p:spPr>
      </p:sp>
      <p:sp>
        <p:nvSpPr>
          <p:cNvPr id="50" name="Text 48"/>
          <p:cNvSpPr txBox="1"/>
          <p:nvPr/>
        </p:nvSpPr>
        <p:spPr>
          <a:xfrm>
            <a:off x="932688" y="5961888"/>
            <a:ext cx="8522208" cy="228600"/>
          </a:xfrm>
          <a:prstGeom prst="rect">
            <a:avLst/>
          </a:prstGeom>
          <a:noFill/>
          <a:ln/>
        </p:spPr>
        <p:txBody>
          <a:bodyPr wrap="square" lIns="0" tIns="0" rIns="0" bIns="0" rtlCol="0" anchor="ctr">
            <a:normAutofit/>
          </a:bodyPr>
          <a:lstStyle/>
          <a:p>
            <a:pPr algn="l" indent="0" marL="0">
              <a:buNone/>
            </a:pPr>
            <a:r>
              <a:rPr lang="en-US" sz="1240" b="1" dirty="0">
                <a:solidFill>
                  <a:srgbClr val="DCE6F2"/>
                </a:solidFill>
                <a:latin typeface="Inter" pitchFamily="34" charset="0"/>
                <a:ea typeface="Inter" pitchFamily="34" charset="-122"/>
                <a:cs typeface="Inter" pitchFamily="34" charset="-120"/>
              </a:rPr>
              <a:t>La política documentada prohíbe el despliegue a producción desde esta plataforma.</a:t>
            </a:r>
            <a:endParaRPr lang="en-US" sz="1240" dirty="0"/>
          </a:p>
        </p:txBody>
      </p:sp>
      <p:sp>
        <p:nvSpPr>
          <p:cNvPr id="25" name="Slide Number Placeholder 0"/>
          <p:cNvSpPr>
            <a:spLocks noGrp="1"/>
          </p:cNvSpPr>
          <p:nvPr>
            <p:ph type="sldNum" sz="quarter" idx="4294967295"/>
          </p:nvPr>
        </p:nvSpPr>
        <p:spPr>
          <a:xfrm>
            <a:off x="11192256" y="6556248"/>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F879B"/>
                </a:solidFill>
                <a:latin typeface="Inter"/>
                <a:ea typeface="Inter"/>
                <a:cs typeface="Inter"/>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21792" y="384048"/>
            <a:ext cx="2926080" cy="256032"/>
          </a:xfrm>
          <a:prstGeom prst="rect">
            <a:avLst/>
          </a:prstGeom>
          <a:noFill/>
          <a:ln/>
        </p:spPr>
        <p:txBody>
          <a:bodyPr wrap="square" lIns="0" tIns="0" rIns="0" bIns="0" rtlCol="0" anchor="ctr">
            <a:normAutofit/>
          </a:bodyPr>
          <a:lstStyle/>
          <a:p>
            <a:pPr algn="l" indent="0" marL="0">
              <a:buNone/>
            </a:pPr>
            <a:r>
              <a:rPr lang="en-US" sz="1050" b="1" spc="160" kern="0" dirty="0">
                <a:solidFill>
                  <a:srgbClr val="2EA8FF"/>
                </a:solidFill>
                <a:latin typeface="Inter" pitchFamily="34" charset="0"/>
                <a:ea typeface="Inter" pitchFamily="34" charset="-122"/>
                <a:cs typeface="Inter" pitchFamily="34" charset="-120"/>
              </a:rPr>
              <a:t>07 · INTEGRACIONES</a:t>
            </a:r>
            <a:endParaRPr lang="en-US" sz="1050" dirty="0"/>
          </a:p>
        </p:txBody>
      </p:sp>
      <p:sp>
        <p:nvSpPr>
          <p:cNvPr id="3" name="Text 1"/>
          <p:cNvSpPr txBox="1"/>
          <p:nvPr/>
        </p:nvSpPr>
        <p:spPr>
          <a:xfrm>
            <a:off x="621792" y="713232"/>
            <a:ext cx="10927080" cy="530352"/>
          </a:xfrm>
          <a:prstGeom prst="rect">
            <a:avLst/>
          </a:prstGeom>
          <a:noFill/>
          <a:ln/>
        </p:spPr>
        <p:txBody>
          <a:bodyPr wrap="square" lIns="0" tIns="0" rIns="0" bIns="0" rtlCol="0" anchor="ctr">
            <a:normAutofit/>
          </a:bodyPr>
          <a:lstStyle/>
          <a:p>
            <a:pPr algn="l" indent="0" marL="0">
              <a:buNone/>
            </a:pPr>
            <a:r>
              <a:rPr lang="en-US" sz="3200" b="1" dirty="0">
                <a:solidFill>
                  <a:srgbClr val="F7FAFC"/>
                </a:solidFill>
                <a:latin typeface="Inter" pitchFamily="34" charset="0"/>
                <a:ea typeface="Inter" pitchFamily="34" charset="-122"/>
                <a:cs typeface="Inter" pitchFamily="34" charset="-120"/>
              </a:rPr>
              <a:t>Una API Python coordina UX, modelos, ejecución y estado</a:t>
            </a:r>
            <a:endParaRPr lang="en-US" sz="3200" dirty="0"/>
          </a:p>
        </p:txBody>
      </p:sp>
      <p:sp>
        <p:nvSpPr>
          <p:cNvPr id="4" name="Text 2"/>
          <p:cNvSpPr txBox="1"/>
          <p:nvPr/>
        </p:nvSpPr>
        <p:spPr>
          <a:xfrm>
            <a:off x="621792" y="1261872"/>
            <a:ext cx="10744200" cy="384048"/>
          </a:xfrm>
          <a:prstGeom prst="rect">
            <a:avLst/>
          </a:prstGeom>
          <a:noFill/>
          <a:ln/>
        </p:spPr>
        <p:txBody>
          <a:bodyPr wrap="square" lIns="0" tIns="0" rIns="0" bIns="0" rtlCol="0" anchor="ctr">
            <a:normAutofit/>
          </a:bodyPr>
          <a:lstStyle/>
          <a:p>
            <a:pPr algn="l" indent="0" marL="0">
              <a:buNone/>
            </a:pPr>
            <a:r>
              <a:rPr lang="en-US" sz="1550" dirty="0">
                <a:solidFill>
                  <a:srgbClr val="8FA3B8"/>
                </a:solidFill>
                <a:latin typeface="Inter" pitchFamily="34" charset="0"/>
                <a:ea typeface="Inter" pitchFamily="34" charset="-122"/>
                <a:cs typeface="Inter" pitchFamily="34" charset="-120"/>
              </a:rPr>
              <a:t>La experiencia combina dashboard web, conectores empresariales y backends intercambiables.</a:t>
            </a:r>
            <a:endParaRPr lang="en-US" sz="1550" dirty="0"/>
          </a:p>
        </p:txBody>
      </p:sp>
      <p:sp>
        <p:nvSpPr>
          <p:cNvPr id="5" name="Shape 3"/>
          <p:cNvSpPr/>
          <p:nvPr/>
        </p:nvSpPr>
        <p:spPr>
          <a:xfrm>
            <a:off x="4233672" y="2267712"/>
            <a:ext cx="3730752" cy="2139696"/>
          </a:xfrm>
          <a:prstGeom prst="roundRect">
            <a:avLst>
              <a:gd name="adj" fmla="val 5128"/>
            </a:avLst>
          </a:prstGeom>
          <a:solidFill>
            <a:srgbClr val="0B2136"/>
          </a:solidFill>
          <a:ln w="12700">
            <a:solidFill>
              <a:srgbClr val="1B75FF"/>
            </a:solidFill>
            <a:prstDash val="solid"/>
          </a:ln>
        </p:spPr>
      </p:sp>
      <p:sp>
        <p:nvSpPr>
          <p:cNvPr id="6" name="Shape 4"/>
          <p:cNvSpPr/>
          <p:nvPr/>
        </p:nvSpPr>
        <p:spPr>
          <a:xfrm>
            <a:off x="5166360" y="2505456"/>
            <a:ext cx="1874520" cy="329184"/>
          </a:xfrm>
          <a:prstGeom prst="roundRect">
            <a:avLst>
              <a:gd name="adj" fmla="val 44444"/>
            </a:avLst>
          </a:prstGeom>
          <a:solidFill>
            <a:srgbClr val="1B75FF"/>
          </a:solidFill>
          <a:ln w="12700">
            <a:solidFill>
              <a:srgbClr val="1B75FF"/>
            </a:solidFill>
            <a:prstDash val="solid"/>
          </a:ln>
        </p:spPr>
      </p:sp>
      <p:sp>
        <p:nvSpPr>
          <p:cNvPr id="7" name="Text 5"/>
          <p:cNvSpPr txBox="1"/>
          <p:nvPr/>
        </p:nvSpPr>
        <p:spPr>
          <a:xfrm>
            <a:off x="5239512" y="2523744"/>
            <a:ext cx="1728216" cy="283464"/>
          </a:xfrm>
          <a:prstGeom prst="rect">
            <a:avLst/>
          </a:prstGeom>
          <a:noFill/>
          <a:ln/>
        </p:spPr>
        <p:txBody>
          <a:bodyPr wrap="square" lIns="0" tIns="0" rIns="0" bIns="0" rtlCol="0" anchor="ctr">
            <a:normAutofit/>
          </a:bodyPr>
          <a:lstStyle/>
          <a:p>
            <a:pPr algn="ctr" indent="0" marL="0">
              <a:buNone/>
            </a:pPr>
            <a:r>
              <a:rPr lang="en-US" sz="1050" b="1" dirty="0">
                <a:solidFill>
                  <a:srgbClr val="F7FAFC"/>
                </a:solidFill>
                <a:latin typeface="Inter" pitchFamily="34" charset="0"/>
                <a:ea typeface="Inter" pitchFamily="34" charset="-122"/>
                <a:cs typeface="Inter" pitchFamily="34" charset="-120"/>
              </a:rPr>
              <a:t>CONTROL PLANE</a:t>
            </a:r>
            <a:endParaRPr lang="en-US" sz="1050" dirty="0"/>
          </a:p>
        </p:txBody>
      </p:sp>
      <p:sp>
        <p:nvSpPr>
          <p:cNvPr id="8" name="Text 6"/>
          <p:cNvSpPr txBox="1"/>
          <p:nvPr/>
        </p:nvSpPr>
        <p:spPr>
          <a:xfrm>
            <a:off x="4599432" y="3044952"/>
            <a:ext cx="3017520" cy="411480"/>
          </a:xfrm>
          <a:prstGeom prst="rect">
            <a:avLst/>
          </a:prstGeom>
          <a:noFill/>
          <a:ln/>
        </p:spPr>
        <p:txBody>
          <a:bodyPr wrap="square" lIns="0" tIns="0" rIns="0" bIns="0" rtlCol="0" anchor="ctr">
            <a:normAutofit/>
          </a:bodyPr>
          <a:lstStyle/>
          <a:p>
            <a:pPr algn="ctr" indent="0" marL="0">
              <a:buNone/>
            </a:pPr>
            <a:r>
              <a:rPr lang="en-US" sz="2200" b="1" dirty="0">
                <a:solidFill>
                  <a:srgbClr val="F7FAFC"/>
                </a:solidFill>
                <a:latin typeface="Inter" pitchFamily="34" charset="0"/>
                <a:ea typeface="Inter" pitchFamily="34" charset="-122"/>
                <a:cs typeface="Inter" pitchFamily="34" charset="-120"/>
              </a:rPr>
              <a:t>FastAPI + dashboard web</a:t>
            </a:r>
            <a:endParaRPr lang="en-US" sz="2200" dirty="0"/>
          </a:p>
        </p:txBody>
      </p:sp>
      <p:sp>
        <p:nvSpPr>
          <p:cNvPr id="9" name="Text 7"/>
          <p:cNvSpPr txBox="1"/>
          <p:nvPr/>
        </p:nvSpPr>
        <p:spPr>
          <a:xfrm>
            <a:off x="4663440" y="3621024"/>
            <a:ext cx="2880360" cy="274320"/>
          </a:xfrm>
          <a:prstGeom prst="rect">
            <a:avLst/>
          </a:prstGeom>
          <a:noFill/>
          <a:ln/>
        </p:spPr>
        <p:txBody>
          <a:bodyPr wrap="square" lIns="0" tIns="0" rIns="0" bIns="0" rtlCol="0" anchor="ctr">
            <a:normAutofit/>
          </a:bodyPr>
          <a:lstStyle/>
          <a:p>
            <a:pPr algn="ctr" indent="0" marL="0">
              <a:buNone/>
            </a:pPr>
            <a:r>
              <a:rPr lang="en-US" sz="1150" dirty="0">
                <a:solidFill>
                  <a:srgbClr val="8FA3B8"/>
                </a:solidFill>
                <a:latin typeface="Inter" pitchFamily="34" charset="0"/>
                <a:ea typeface="Inter" pitchFamily="34" charset="-122"/>
                <a:cs typeface="Inter" pitchFamily="34" charset="-120"/>
              </a:rPr>
              <a:t>runs · auth demo · Jira · estado · ejecución</a:t>
            </a:r>
            <a:endParaRPr lang="en-US" sz="1150" dirty="0"/>
          </a:p>
        </p:txBody>
      </p:sp>
      <p:sp>
        <p:nvSpPr>
          <p:cNvPr id="10" name="Shape 8"/>
          <p:cNvSpPr/>
          <p:nvPr/>
        </p:nvSpPr>
        <p:spPr>
          <a:xfrm>
            <a:off x="694944" y="1883664"/>
            <a:ext cx="2889504" cy="1042416"/>
          </a:xfrm>
          <a:prstGeom prst="roundRect">
            <a:avLst>
              <a:gd name="adj" fmla="val 10526"/>
            </a:avLst>
          </a:prstGeom>
          <a:solidFill>
            <a:srgbClr val="0B1D2D"/>
          </a:solidFill>
          <a:ln w="12700">
            <a:solidFill>
              <a:srgbClr val="2EA8FF"/>
            </a:solidFill>
            <a:prstDash val="solid"/>
          </a:ln>
        </p:spPr>
      </p:sp>
      <p:sp>
        <p:nvSpPr>
          <p:cNvPr id="11" name="Shape 9"/>
          <p:cNvSpPr/>
          <p:nvPr/>
        </p:nvSpPr>
        <p:spPr>
          <a:xfrm>
            <a:off x="694944" y="1883664"/>
            <a:ext cx="73152" cy="1042416"/>
          </a:xfrm>
          <a:prstGeom prst="rect">
            <a:avLst/>
          </a:prstGeom>
          <a:solidFill>
            <a:srgbClr val="2EA8FF"/>
          </a:solidFill>
          <a:ln w="6350">
            <a:solidFill>
              <a:srgbClr val="2EA8FF"/>
            </a:solidFill>
            <a:prstDash val="solid"/>
          </a:ln>
        </p:spPr>
      </p:sp>
      <p:sp>
        <p:nvSpPr>
          <p:cNvPr id="12" name="Text 10"/>
          <p:cNvSpPr txBox="1"/>
          <p:nvPr/>
        </p:nvSpPr>
        <p:spPr>
          <a:xfrm>
            <a:off x="914400" y="2029968"/>
            <a:ext cx="2505456" cy="283464"/>
          </a:xfrm>
          <a:prstGeom prst="rect">
            <a:avLst/>
          </a:prstGeom>
          <a:noFill/>
          <a:ln/>
        </p:spPr>
        <p:txBody>
          <a:bodyPr wrap="square" lIns="0" tIns="0" rIns="0" bIns="0" rtlCol="0" anchor="ctr">
            <a:normAutofit/>
          </a:bodyPr>
          <a:lstStyle/>
          <a:p>
            <a:pPr algn="l" indent="0" marL="0">
              <a:buNone/>
            </a:pPr>
            <a:r>
              <a:rPr lang="en-US" sz="1550" b="1" dirty="0">
                <a:solidFill>
                  <a:srgbClr val="F7FAFC"/>
                </a:solidFill>
                <a:latin typeface="Inter" pitchFamily="34" charset="0"/>
                <a:ea typeface="Inter" pitchFamily="34" charset="-122"/>
                <a:cs typeface="Inter" pitchFamily="34" charset="-120"/>
              </a:rPr>
              <a:t>Jira Cloud</a:t>
            </a:r>
            <a:endParaRPr lang="en-US" sz="1550" dirty="0"/>
          </a:p>
        </p:txBody>
      </p:sp>
      <p:sp>
        <p:nvSpPr>
          <p:cNvPr id="13" name="Text 11"/>
          <p:cNvSpPr txBox="1"/>
          <p:nvPr/>
        </p:nvSpPr>
        <p:spPr>
          <a:xfrm>
            <a:off x="914400" y="2368296"/>
            <a:ext cx="2505456" cy="402336"/>
          </a:xfrm>
          <a:prstGeom prst="rect">
            <a:avLst/>
          </a:prstGeom>
          <a:noFill/>
          <a:ln/>
        </p:spPr>
        <p:txBody>
          <a:bodyPr wrap="square" lIns="0" tIns="0" rIns="0" bIns="0" rtlCol="0" anchor="t">
            <a:normAutofit/>
          </a:bodyPr>
          <a:lstStyle/>
          <a:p>
            <a:pPr algn="l" indent="0" marL="0">
              <a:buNone/>
            </a:pPr>
            <a:r>
              <a:rPr lang="en-US" sz="1170" dirty="0">
                <a:solidFill>
                  <a:srgbClr val="8FA3B8"/>
                </a:solidFill>
                <a:latin typeface="Inter" pitchFamily="34" charset="0"/>
                <a:ea typeface="Inter" pitchFamily="34" charset="-122"/>
                <a:cs typeface="Inter" pitchFamily="34" charset="-120"/>
              </a:rPr>
              <a:t>REST API + datos locales de demostración y fallback.</a:t>
            </a:r>
            <a:endParaRPr lang="en-US" sz="1170" dirty="0"/>
          </a:p>
        </p:txBody>
      </p:sp>
      <p:sp>
        <p:nvSpPr>
          <p:cNvPr id="14" name="Shape 12"/>
          <p:cNvSpPr/>
          <p:nvPr/>
        </p:nvSpPr>
        <p:spPr>
          <a:xfrm>
            <a:off x="694944" y="3767328"/>
            <a:ext cx="2889504" cy="1042416"/>
          </a:xfrm>
          <a:prstGeom prst="roundRect">
            <a:avLst>
              <a:gd name="adj" fmla="val 10526"/>
            </a:avLst>
          </a:prstGeom>
          <a:solidFill>
            <a:srgbClr val="0B1D2D"/>
          </a:solidFill>
          <a:ln w="12700">
            <a:solidFill>
              <a:srgbClr val="1B75FF"/>
            </a:solidFill>
            <a:prstDash val="solid"/>
          </a:ln>
        </p:spPr>
      </p:sp>
      <p:sp>
        <p:nvSpPr>
          <p:cNvPr id="15" name="Shape 13"/>
          <p:cNvSpPr/>
          <p:nvPr/>
        </p:nvSpPr>
        <p:spPr>
          <a:xfrm>
            <a:off x="694944" y="3767328"/>
            <a:ext cx="73152" cy="1042416"/>
          </a:xfrm>
          <a:prstGeom prst="rect">
            <a:avLst/>
          </a:prstGeom>
          <a:solidFill>
            <a:srgbClr val="1B75FF"/>
          </a:solidFill>
          <a:ln w="6350">
            <a:solidFill>
              <a:srgbClr val="1B75FF"/>
            </a:solidFill>
            <a:prstDash val="solid"/>
          </a:ln>
        </p:spPr>
      </p:sp>
      <p:sp>
        <p:nvSpPr>
          <p:cNvPr id="16" name="Text 14"/>
          <p:cNvSpPr txBox="1"/>
          <p:nvPr/>
        </p:nvSpPr>
        <p:spPr>
          <a:xfrm>
            <a:off x="914400" y="3913632"/>
            <a:ext cx="2505456" cy="283464"/>
          </a:xfrm>
          <a:prstGeom prst="rect">
            <a:avLst/>
          </a:prstGeom>
          <a:noFill/>
          <a:ln/>
        </p:spPr>
        <p:txBody>
          <a:bodyPr wrap="square" lIns="0" tIns="0" rIns="0" bIns="0" rtlCol="0" anchor="ctr">
            <a:normAutofit/>
          </a:bodyPr>
          <a:lstStyle/>
          <a:p>
            <a:pPr algn="l" indent="0" marL="0">
              <a:buNone/>
            </a:pPr>
            <a:r>
              <a:rPr lang="en-US" sz="1550" b="1" dirty="0">
                <a:solidFill>
                  <a:srgbClr val="F7FAFC"/>
                </a:solidFill>
                <a:latin typeface="Inter" pitchFamily="34" charset="0"/>
                <a:ea typeface="Inter" pitchFamily="34" charset="-122"/>
                <a:cs typeface="Inter" pitchFamily="34" charset="-120"/>
              </a:rPr>
              <a:t>Proveedores LLM</a:t>
            </a:r>
            <a:endParaRPr lang="en-US" sz="1550" dirty="0"/>
          </a:p>
        </p:txBody>
      </p:sp>
      <p:sp>
        <p:nvSpPr>
          <p:cNvPr id="17" name="Text 15"/>
          <p:cNvSpPr txBox="1"/>
          <p:nvPr/>
        </p:nvSpPr>
        <p:spPr>
          <a:xfrm>
            <a:off x="914400" y="4251960"/>
            <a:ext cx="2505456" cy="402336"/>
          </a:xfrm>
          <a:prstGeom prst="rect">
            <a:avLst/>
          </a:prstGeom>
          <a:noFill/>
          <a:ln/>
        </p:spPr>
        <p:txBody>
          <a:bodyPr wrap="square" lIns="0" tIns="0" rIns="0" bIns="0" rtlCol="0" anchor="t">
            <a:normAutofit/>
          </a:bodyPr>
          <a:lstStyle/>
          <a:p>
            <a:pPr algn="l" indent="0" marL="0">
              <a:buNone/>
            </a:pPr>
            <a:r>
              <a:rPr lang="en-US" sz="1170" dirty="0">
                <a:solidFill>
                  <a:srgbClr val="8FA3B8"/>
                </a:solidFill>
                <a:latin typeface="Inter" pitchFamily="34" charset="0"/>
                <a:ea typeface="Inter" pitchFamily="34" charset="-122"/>
                <a:cs typeface="Inter" pitchFamily="34" charset="-120"/>
              </a:rPr>
              <a:t>OpenAI · Gemini · Anthropic · Mock.</a:t>
            </a:r>
            <a:endParaRPr lang="en-US" sz="1170" dirty="0"/>
          </a:p>
        </p:txBody>
      </p:sp>
      <p:sp>
        <p:nvSpPr>
          <p:cNvPr id="18" name="Shape 16"/>
          <p:cNvSpPr/>
          <p:nvPr/>
        </p:nvSpPr>
        <p:spPr>
          <a:xfrm>
            <a:off x="8613648" y="1883664"/>
            <a:ext cx="2889504" cy="1042416"/>
          </a:xfrm>
          <a:prstGeom prst="roundRect">
            <a:avLst>
              <a:gd name="adj" fmla="val 10526"/>
            </a:avLst>
          </a:prstGeom>
          <a:solidFill>
            <a:srgbClr val="0B1D2D"/>
          </a:solidFill>
          <a:ln w="12700">
            <a:solidFill>
              <a:srgbClr val="F2B138"/>
            </a:solidFill>
            <a:prstDash val="solid"/>
          </a:ln>
        </p:spPr>
      </p:sp>
      <p:sp>
        <p:nvSpPr>
          <p:cNvPr id="19" name="Shape 17"/>
          <p:cNvSpPr/>
          <p:nvPr/>
        </p:nvSpPr>
        <p:spPr>
          <a:xfrm>
            <a:off x="8613648" y="1883664"/>
            <a:ext cx="73152" cy="1042416"/>
          </a:xfrm>
          <a:prstGeom prst="rect">
            <a:avLst/>
          </a:prstGeom>
          <a:solidFill>
            <a:srgbClr val="F2B138"/>
          </a:solidFill>
          <a:ln w="6350">
            <a:solidFill>
              <a:srgbClr val="F2B138"/>
            </a:solidFill>
            <a:prstDash val="solid"/>
          </a:ln>
        </p:spPr>
      </p:sp>
      <p:sp>
        <p:nvSpPr>
          <p:cNvPr id="20" name="Text 18"/>
          <p:cNvSpPr txBox="1"/>
          <p:nvPr/>
        </p:nvSpPr>
        <p:spPr>
          <a:xfrm>
            <a:off x="8833104" y="2029968"/>
            <a:ext cx="2505456" cy="283464"/>
          </a:xfrm>
          <a:prstGeom prst="rect">
            <a:avLst/>
          </a:prstGeom>
          <a:noFill/>
          <a:ln/>
        </p:spPr>
        <p:txBody>
          <a:bodyPr wrap="square" lIns="0" tIns="0" rIns="0" bIns="0" rtlCol="0" anchor="ctr">
            <a:normAutofit/>
          </a:bodyPr>
          <a:lstStyle/>
          <a:p>
            <a:pPr algn="l" indent="0" marL="0">
              <a:buNone/>
            </a:pPr>
            <a:r>
              <a:rPr lang="en-US" sz="1550" b="1" dirty="0">
                <a:solidFill>
                  <a:srgbClr val="F7FAFC"/>
                </a:solidFill>
                <a:latin typeface="Inter" pitchFamily="34" charset="0"/>
                <a:ea typeface="Inter" pitchFamily="34" charset="-122"/>
                <a:cs typeface="Inter" pitchFamily="34" charset="-120"/>
              </a:rPr>
              <a:t>Ejecución Java</a:t>
            </a:r>
            <a:endParaRPr lang="en-US" sz="1550" dirty="0"/>
          </a:p>
        </p:txBody>
      </p:sp>
      <p:sp>
        <p:nvSpPr>
          <p:cNvPr id="21" name="Text 19"/>
          <p:cNvSpPr txBox="1"/>
          <p:nvPr/>
        </p:nvSpPr>
        <p:spPr>
          <a:xfrm>
            <a:off x="8833104" y="2368296"/>
            <a:ext cx="2505456" cy="402336"/>
          </a:xfrm>
          <a:prstGeom prst="rect">
            <a:avLst/>
          </a:prstGeom>
          <a:noFill/>
          <a:ln/>
        </p:spPr>
        <p:txBody>
          <a:bodyPr wrap="square" lIns="0" tIns="0" rIns="0" bIns="0" rtlCol="0" anchor="t">
            <a:normAutofit/>
          </a:bodyPr>
          <a:lstStyle/>
          <a:p>
            <a:pPr algn="l" indent="0" marL="0">
              <a:buNone/>
            </a:pPr>
            <a:r>
              <a:rPr lang="en-US" sz="1170" dirty="0">
                <a:solidFill>
                  <a:srgbClr val="8FA3B8"/>
                </a:solidFill>
                <a:latin typeface="Inter" pitchFamily="34" charset="0"/>
                <a:ea typeface="Inter" pitchFamily="34" charset="-122"/>
                <a:cs typeface="Inter" pitchFamily="34" charset="-120"/>
              </a:rPr>
              <a:t>Remote CI para mvn compile/test · LocalMock para simulación.</a:t>
            </a:r>
            <a:endParaRPr lang="en-US" sz="1170" dirty="0"/>
          </a:p>
        </p:txBody>
      </p:sp>
      <p:sp>
        <p:nvSpPr>
          <p:cNvPr id="22" name="Shape 20"/>
          <p:cNvSpPr/>
          <p:nvPr/>
        </p:nvSpPr>
        <p:spPr>
          <a:xfrm>
            <a:off x="8613648" y="3767328"/>
            <a:ext cx="2889504" cy="1042416"/>
          </a:xfrm>
          <a:prstGeom prst="roundRect">
            <a:avLst>
              <a:gd name="adj" fmla="val 10526"/>
            </a:avLst>
          </a:prstGeom>
          <a:solidFill>
            <a:srgbClr val="0B1D2D"/>
          </a:solidFill>
          <a:ln w="12700">
            <a:solidFill>
              <a:srgbClr val="38D996"/>
            </a:solidFill>
            <a:prstDash val="solid"/>
          </a:ln>
        </p:spPr>
      </p:sp>
      <p:sp>
        <p:nvSpPr>
          <p:cNvPr id="23" name="Shape 21"/>
          <p:cNvSpPr/>
          <p:nvPr/>
        </p:nvSpPr>
        <p:spPr>
          <a:xfrm>
            <a:off x="8613648" y="3767328"/>
            <a:ext cx="73152" cy="1042416"/>
          </a:xfrm>
          <a:prstGeom prst="rect">
            <a:avLst/>
          </a:prstGeom>
          <a:solidFill>
            <a:srgbClr val="38D996"/>
          </a:solidFill>
          <a:ln w="6350">
            <a:solidFill>
              <a:srgbClr val="38D996"/>
            </a:solidFill>
            <a:prstDash val="solid"/>
          </a:ln>
        </p:spPr>
      </p:sp>
      <p:sp>
        <p:nvSpPr>
          <p:cNvPr id="24" name="Text 22"/>
          <p:cNvSpPr txBox="1"/>
          <p:nvPr/>
        </p:nvSpPr>
        <p:spPr>
          <a:xfrm>
            <a:off x="8833104" y="3913632"/>
            <a:ext cx="2505456" cy="283464"/>
          </a:xfrm>
          <a:prstGeom prst="rect">
            <a:avLst/>
          </a:prstGeom>
          <a:noFill/>
          <a:ln/>
        </p:spPr>
        <p:txBody>
          <a:bodyPr wrap="square" lIns="0" tIns="0" rIns="0" bIns="0" rtlCol="0" anchor="ctr">
            <a:normAutofit/>
          </a:bodyPr>
          <a:lstStyle/>
          <a:p>
            <a:pPr algn="l" indent="0" marL="0">
              <a:buNone/>
            </a:pPr>
            <a:r>
              <a:rPr lang="en-US" sz="1550" b="1" dirty="0">
                <a:solidFill>
                  <a:srgbClr val="F7FAFC"/>
                </a:solidFill>
                <a:latin typeface="Inter" pitchFamily="34" charset="0"/>
                <a:ea typeface="Inter" pitchFamily="34" charset="-122"/>
                <a:cs typeface="Inter" pitchFamily="34" charset="-120"/>
              </a:rPr>
              <a:t>Estado y checkpoints</a:t>
            </a:r>
            <a:endParaRPr lang="en-US" sz="1550" dirty="0"/>
          </a:p>
        </p:txBody>
      </p:sp>
      <p:sp>
        <p:nvSpPr>
          <p:cNvPr id="25" name="Text 23"/>
          <p:cNvSpPr txBox="1"/>
          <p:nvPr/>
        </p:nvSpPr>
        <p:spPr>
          <a:xfrm>
            <a:off x="8833104" y="4251960"/>
            <a:ext cx="2505456" cy="402336"/>
          </a:xfrm>
          <a:prstGeom prst="rect">
            <a:avLst/>
          </a:prstGeom>
          <a:noFill/>
          <a:ln/>
        </p:spPr>
        <p:txBody>
          <a:bodyPr wrap="square" lIns="0" tIns="0" rIns="0" bIns="0" rtlCol="0" anchor="t">
            <a:normAutofit/>
          </a:bodyPr>
          <a:lstStyle/>
          <a:p>
            <a:pPr algn="l" indent="0" marL="0">
              <a:buNone/>
            </a:pPr>
            <a:r>
              <a:rPr lang="en-US" sz="1170" dirty="0">
                <a:solidFill>
                  <a:srgbClr val="8FA3B8"/>
                </a:solidFill>
                <a:latin typeface="Inter" pitchFamily="34" charset="0"/>
                <a:ea typeface="Inter" pitchFamily="34" charset="-122"/>
                <a:cs typeface="Inter" pitchFamily="34" charset="-120"/>
              </a:rPr>
              <a:t>SQLite persistente + ejecuciones activas también en memoria.</a:t>
            </a:r>
            <a:endParaRPr lang="en-US" sz="1170" dirty="0"/>
          </a:p>
        </p:txBody>
      </p:sp>
      <p:sp>
        <p:nvSpPr>
          <p:cNvPr id="26" name="Shape 24"/>
          <p:cNvSpPr/>
          <p:nvPr/>
        </p:nvSpPr>
        <p:spPr>
          <a:xfrm>
            <a:off x="4233672" y="4956048"/>
            <a:ext cx="3730752" cy="923544"/>
          </a:xfrm>
          <a:prstGeom prst="roundRect">
            <a:avLst>
              <a:gd name="adj" fmla="val 11881"/>
            </a:avLst>
          </a:prstGeom>
          <a:solidFill>
            <a:srgbClr val="0B1D2D"/>
          </a:solidFill>
          <a:ln w="12700">
            <a:solidFill>
              <a:srgbClr val="45D0E6"/>
            </a:solidFill>
            <a:prstDash val="solid"/>
          </a:ln>
        </p:spPr>
      </p:sp>
      <p:sp>
        <p:nvSpPr>
          <p:cNvPr id="27" name="Shape 25"/>
          <p:cNvSpPr/>
          <p:nvPr/>
        </p:nvSpPr>
        <p:spPr>
          <a:xfrm>
            <a:off x="4233672" y="4956048"/>
            <a:ext cx="73152" cy="923544"/>
          </a:xfrm>
          <a:prstGeom prst="rect">
            <a:avLst/>
          </a:prstGeom>
          <a:solidFill>
            <a:srgbClr val="45D0E6"/>
          </a:solidFill>
          <a:ln w="6350">
            <a:solidFill>
              <a:srgbClr val="45D0E6"/>
            </a:solidFill>
            <a:prstDash val="solid"/>
          </a:ln>
        </p:spPr>
      </p:sp>
      <p:sp>
        <p:nvSpPr>
          <p:cNvPr id="28" name="Text 26"/>
          <p:cNvSpPr txBox="1"/>
          <p:nvPr/>
        </p:nvSpPr>
        <p:spPr>
          <a:xfrm>
            <a:off x="4453128" y="5102352"/>
            <a:ext cx="3346704" cy="283464"/>
          </a:xfrm>
          <a:prstGeom prst="rect">
            <a:avLst/>
          </a:prstGeom>
          <a:noFill/>
          <a:ln/>
        </p:spPr>
        <p:txBody>
          <a:bodyPr wrap="square" lIns="0" tIns="0" rIns="0" bIns="0" rtlCol="0" anchor="ctr">
            <a:normAutofit/>
          </a:bodyPr>
          <a:lstStyle/>
          <a:p>
            <a:pPr algn="l" indent="0" marL="0">
              <a:buNone/>
            </a:pPr>
            <a:r>
              <a:rPr lang="en-US" sz="1550" b="1" dirty="0">
                <a:solidFill>
                  <a:srgbClr val="F7FAFC"/>
                </a:solidFill>
                <a:latin typeface="Inter" pitchFamily="34" charset="0"/>
                <a:ea typeface="Inter" pitchFamily="34" charset="-122"/>
                <a:cs typeface="Inter" pitchFamily="34" charset="-120"/>
              </a:rPr>
              <a:t>Observabilidad</a:t>
            </a:r>
            <a:endParaRPr lang="en-US" sz="1550" dirty="0"/>
          </a:p>
        </p:txBody>
      </p:sp>
      <p:sp>
        <p:nvSpPr>
          <p:cNvPr id="29" name="Text 27"/>
          <p:cNvSpPr txBox="1"/>
          <p:nvPr/>
        </p:nvSpPr>
        <p:spPr>
          <a:xfrm>
            <a:off x="4453128" y="5440680"/>
            <a:ext cx="3346704" cy="402336"/>
          </a:xfrm>
          <a:prstGeom prst="rect">
            <a:avLst/>
          </a:prstGeom>
          <a:noFill/>
          <a:ln/>
        </p:spPr>
        <p:txBody>
          <a:bodyPr wrap="square" lIns="0" tIns="0" rIns="0" bIns="0" rtlCol="0" anchor="t">
            <a:normAutofit/>
          </a:bodyPr>
          <a:lstStyle/>
          <a:p>
            <a:pPr algn="l" indent="0" marL="0">
              <a:buNone/>
            </a:pPr>
            <a:r>
              <a:rPr lang="en-US" sz="1170" dirty="0">
                <a:solidFill>
                  <a:srgbClr val="8FA3B8"/>
                </a:solidFill>
                <a:latin typeface="Inter" pitchFamily="34" charset="0"/>
                <a:ea typeface="Inter" pitchFamily="34" charset="-122"/>
                <a:cs typeface="Inter" pitchFamily="34" charset="-120"/>
              </a:rPr>
              <a:t>Tracing, spans, tokens, coste estimado y duración.</a:t>
            </a:r>
            <a:endParaRPr lang="en-US" sz="1170" dirty="0"/>
          </a:p>
        </p:txBody>
      </p:sp>
      <p:sp>
        <p:nvSpPr>
          <p:cNvPr id="30" name="Shape 28"/>
          <p:cNvSpPr/>
          <p:nvPr/>
        </p:nvSpPr>
        <p:spPr>
          <a:xfrm>
            <a:off x="3584448" y="2414016"/>
            <a:ext cx="612648" cy="502920"/>
          </a:xfrm>
          <a:prstGeom prst="line">
            <a:avLst/>
          </a:prstGeom>
          <a:noFill/>
          <a:ln w="15240">
            <a:solidFill>
              <a:srgbClr val="274258"/>
            </a:solidFill>
            <a:prstDash val="solid"/>
          </a:ln>
        </p:spPr>
      </p:sp>
      <p:sp>
        <p:nvSpPr>
          <p:cNvPr id="31" name="Shape 29"/>
          <p:cNvSpPr/>
          <p:nvPr/>
        </p:nvSpPr>
        <p:spPr>
          <a:xfrm>
            <a:off x="3584448" y="4279392"/>
            <a:ext cx="612648" cy="-502920"/>
          </a:xfrm>
          <a:prstGeom prst="line">
            <a:avLst/>
          </a:prstGeom>
          <a:noFill/>
          <a:ln w="15240">
            <a:solidFill>
              <a:srgbClr val="274258"/>
            </a:solidFill>
            <a:prstDash val="solid"/>
          </a:ln>
        </p:spPr>
      </p:sp>
      <p:sp>
        <p:nvSpPr>
          <p:cNvPr id="32" name="Shape 30"/>
          <p:cNvSpPr/>
          <p:nvPr/>
        </p:nvSpPr>
        <p:spPr>
          <a:xfrm>
            <a:off x="7964424" y="2907792"/>
            <a:ext cx="612648" cy="-502920"/>
          </a:xfrm>
          <a:prstGeom prst="line">
            <a:avLst/>
          </a:prstGeom>
          <a:noFill/>
          <a:ln w="15240">
            <a:solidFill>
              <a:srgbClr val="274258"/>
            </a:solidFill>
            <a:prstDash val="solid"/>
          </a:ln>
        </p:spPr>
      </p:sp>
      <p:sp>
        <p:nvSpPr>
          <p:cNvPr id="33" name="Shape 31"/>
          <p:cNvSpPr/>
          <p:nvPr/>
        </p:nvSpPr>
        <p:spPr>
          <a:xfrm>
            <a:off x="7964424" y="3776472"/>
            <a:ext cx="612648" cy="502920"/>
          </a:xfrm>
          <a:prstGeom prst="line">
            <a:avLst/>
          </a:prstGeom>
          <a:noFill/>
          <a:ln w="15240">
            <a:solidFill>
              <a:srgbClr val="274258"/>
            </a:solidFill>
            <a:prstDash val="solid"/>
          </a:ln>
        </p:spPr>
      </p:sp>
      <p:sp>
        <p:nvSpPr>
          <p:cNvPr id="34" name="Shape 32"/>
          <p:cNvSpPr/>
          <p:nvPr/>
        </p:nvSpPr>
        <p:spPr>
          <a:xfrm>
            <a:off x="6099048" y="4407408"/>
            <a:ext cx="0" cy="512064"/>
          </a:xfrm>
          <a:prstGeom prst="line">
            <a:avLst/>
          </a:prstGeom>
          <a:noFill/>
          <a:ln w="15240">
            <a:solidFill>
              <a:srgbClr val="274258"/>
            </a:solidFill>
            <a:prstDash val="solid"/>
          </a:ln>
        </p:spPr>
      </p:sp>
      <p:sp>
        <p:nvSpPr>
          <p:cNvPr id="35" name="Text 33"/>
          <p:cNvSpPr txBox="1"/>
          <p:nvPr/>
        </p:nvSpPr>
        <p:spPr>
          <a:xfrm>
            <a:off x="8641080" y="5138928"/>
            <a:ext cx="1335024" cy="182880"/>
          </a:xfrm>
          <a:prstGeom prst="rect">
            <a:avLst/>
          </a:prstGeom>
          <a:noFill/>
          <a:ln/>
        </p:spPr>
        <p:txBody>
          <a:bodyPr wrap="square" lIns="0" tIns="0" rIns="0" bIns="0" rtlCol="0" anchor="ctr">
            <a:normAutofit/>
          </a:bodyPr>
          <a:lstStyle/>
          <a:p>
            <a:pPr algn="l" indent="0" marL="0">
              <a:buNone/>
            </a:pPr>
            <a:r>
              <a:rPr lang="en-US" sz="950" b="1" dirty="0">
                <a:solidFill>
                  <a:srgbClr val="F2B138"/>
                </a:solidFill>
                <a:latin typeface="Inter" pitchFamily="34" charset="0"/>
                <a:ea typeface="Inter" pitchFamily="34" charset="-122"/>
                <a:cs typeface="Inter" pitchFamily="34" charset="-120"/>
              </a:rPr>
              <a:t>Nota de implementación:</a:t>
            </a:r>
            <a:endParaRPr lang="en-US" sz="950" dirty="0"/>
          </a:p>
        </p:txBody>
      </p:sp>
      <p:sp>
        <p:nvSpPr>
          <p:cNvPr id="36" name="Text 34"/>
          <p:cNvSpPr txBox="1"/>
          <p:nvPr/>
        </p:nvSpPr>
        <p:spPr>
          <a:xfrm>
            <a:off x="8641080" y="5385816"/>
            <a:ext cx="2761488" cy="621792"/>
          </a:xfrm>
          <a:prstGeom prst="rect">
            <a:avLst/>
          </a:prstGeom>
          <a:noFill/>
          <a:ln/>
        </p:spPr>
        <p:txBody>
          <a:bodyPr wrap="square" lIns="0" tIns="0" rIns="0" bIns="0" rtlCol="0" anchor="t">
            <a:normAutofit/>
          </a:bodyPr>
          <a:lstStyle/>
          <a:p>
            <a:pPr algn="l" indent="0" marL="0">
              <a:buNone/>
            </a:pPr>
            <a:r>
              <a:rPr lang="en-US" sz="1030" dirty="0">
                <a:solidFill>
                  <a:srgbClr val="8FA3B8"/>
                </a:solidFill>
                <a:latin typeface="Inter" pitchFamily="34" charset="0"/>
                <a:ea typeface="Inter" pitchFamily="34" charset="-122"/>
                <a:cs typeface="Inter" pitchFamily="34" charset="-120"/>
              </a:rPr>
              <a:t>AnthropicProvider existe, pero la factory API revisada selecciona Gemini/OpenAI/Mock. El tracing es “OpenTelemetry-compatible”; no se observó dependencia directa de OpenTelemetry en pyproject.</a:t>
            </a:r>
            <a:endParaRPr lang="en-US" sz="1030" dirty="0"/>
          </a:p>
        </p:txBody>
      </p:sp>
      <p:sp>
        <p:nvSpPr>
          <p:cNvPr id="25" name="Slide Number Placeholder 0"/>
          <p:cNvSpPr>
            <a:spLocks noGrp="1"/>
          </p:cNvSpPr>
          <p:nvPr>
            <p:ph type="sldNum" sz="quarter" idx="4294967295"/>
          </p:nvPr>
        </p:nvSpPr>
        <p:spPr>
          <a:xfrm>
            <a:off x="11192256" y="6556248"/>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F879B"/>
                </a:solidFill>
                <a:latin typeface="Inter"/>
                <a:ea typeface="Inter"/>
                <a:cs typeface="Inter"/>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21792" y="384048"/>
            <a:ext cx="2926080" cy="256032"/>
          </a:xfrm>
          <a:prstGeom prst="rect">
            <a:avLst/>
          </a:prstGeom>
          <a:noFill/>
          <a:ln/>
        </p:spPr>
        <p:txBody>
          <a:bodyPr wrap="square" lIns="0" tIns="0" rIns="0" bIns="0" rtlCol="0" anchor="ctr">
            <a:normAutofit/>
          </a:bodyPr>
          <a:lstStyle/>
          <a:p>
            <a:pPr algn="l" indent="0" marL="0">
              <a:buNone/>
            </a:pPr>
            <a:r>
              <a:rPr lang="en-US" sz="1050" b="1" spc="160" kern="0" dirty="0">
                <a:solidFill>
                  <a:srgbClr val="2EA8FF"/>
                </a:solidFill>
                <a:latin typeface="Inter" pitchFamily="34" charset="0"/>
                <a:ea typeface="Inter" pitchFamily="34" charset="-122"/>
                <a:cs typeface="Inter" pitchFamily="34" charset="-120"/>
              </a:rPr>
              <a:t>08 · MADUREZ</a:t>
            </a:r>
            <a:endParaRPr lang="en-US" sz="1050" dirty="0"/>
          </a:p>
        </p:txBody>
      </p:sp>
      <p:sp>
        <p:nvSpPr>
          <p:cNvPr id="3" name="Text 1"/>
          <p:cNvSpPr txBox="1"/>
          <p:nvPr/>
        </p:nvSpPr>
        <p:spPr>
          <a:xfrm>
            <a:off x="621792" y="713232"/>
            <a:ext cx="10927080" cy="530352"/>
          </a:xfrm>
          <a:prstGeom prst="rect">
            <a:avLst/>
          </a:prstGeom>
          <a:noFill/>
          <a:ln/>
        </p:spPr>
        <p:txBody>
          <a:bodyPr wrap="square" lIns="0" tIns="0" rIns="0" bIns="0" rtlCol="0" anchor="ctr">
            <a:normAutofit/>
          </a:bodyPr>
          <a:lstStyle/>
          <a:p>
            <a:pPr algn="l" indent="0" marL="0">
              <a:buNone/>
            </a:pPr>
            <a:r>
              <a:rPr lang="en-US" sz="3200" b="1" dirty="0">
                <a:solidFill>
                  <a:srgbClr val="F7FAFC"/>
                </a:solidFill>
                <a:latin typeface="Inter" pitchFamily="34" charset="0"/>
                <a:ea typeface="Inter" pitchFamily="34" charset="-122"/>
                <a:cs typeface="Inter" pitchFamily="34" charset="-120"/>
              </a:rPr>
              <a:t>Base coherente para piloto; evidencia insuficiente para producción</a:t>
            </a:r>
            <a:endParaRPr lang="en-US" sz="3200" dirty="0"/>
          </a:p>
        </p:txBody>
      </p:sp>
      <p:sp>
        <p:nvSpPr>
          <p:cNvPr id="4" name="Text 2"/>
          <p:cNvSpPr txBox="1"/>
          <p:nvPr/>
        </p:nvSpPr>
        <p:spPr>
          <a:xfrm>
            <a:off x="621792" y="1261872"/>
            <a:ext cx="10744200" cy="384048"/>
          </a:xfrm>
          <a:prstGeom prst="rect">
            <a:avLst/>
          </a:prstGeom>
          <a:noFill/>
          <a:ln/>
        </p:spPr>
        <p:txBody>
          <a:bodyPr wrap="square" lIns="0" tIns="0" rIns="0" bIns="0" rtlCol="0" anchor="ctr">
            <a:normAutofit/>
          </a:bodyPr>
          <a:lstStyle/>
          <a:p>
            <a:pPr algn="l" indent="0" marL="0">
              <a:buNone/>
            </a:pPr>
            <a:r>
              <a:rPr lang="en-US" sz="1550" dirty="0">
                <a:solidFill>
                  <a:srgbClr val="8FA3B8"/>
                </a:solidFill>
                <a:latin typeface="Inter" pitchFamily="34" charset="0"/>
                <a:ea typeface="Inter" pitchFamily="34" charset="-122"/>
                <a:cs typeface="Inter" pitchFamily="34" charset="-120"/>
              </a:rPr>
              <a:t>La lectura debe separar código ejecutable, modo demo/simulado y objetivos aún por validar operacionalmente.</a:t>
            </a:r>
            <a:endParaRPr lang="en-US" sz="1550" dirty="0"/>
          </a:p>
        </p:txBody>
      </p:sp>
      <p:sp>
        <p:nvSpPr>
          <p:cNvPr id="5" name="Shape 3"/>
          <p:cNvSpPr/>
          <p:nvPr/>
        </p:nvSpPr>
        <p:spPr>
          <a:xfrm>
            <a:off x="658368" y="1874520"/>
            <a:ext cx="3529584" cy="3575304"/>
          </a:xfrm>
          <a:prstGeom prst="roundRect">
            <a:avLst>
              <a:gd name="adj" fmla="val 3109"/>
            </a:avLst>
          </a:prstGeom>
          <a:solidFill>
            <a:srgbClr val="0B1D2D"/>
          </a:solidFill>
          <a:ln w="12700">
            <a:solidFill>
              <a:srgbClr val="274258"/>
            </a:solidFill>
            <a:prstDash val="solid"/>
          </a:ln>
        </p:spPr>
      </p:sp>
      <p:sp>
        <p:nvSpPr>
          <p:cNvPr id="6" name="Shape 4"/>
          <p:cNvSpPr/>
          <p:nvPr/>
        </p:nvSpPr>
        <p:spPr>
          <a:xfrm>
            <a:off x="658368" y="1874520"/>
            <a:ext cx="3529584" cy="91440"/>
          </a:xfrm>
          <a:prstGeom prst="rect">
            <a:avLst/>
          </a:prstGeom>
          <a:solidFill>
            <a:srgbClr val="38D996"/>
          </a:solidFill>
          <a:ln w="6350">
            <a:solidFill>
              <a:srgbClr val="38D996"/>
            </a:solidFill>
            <a:prstDash val="solid"/>
          </a:ln>
        </p:spPr>
      </p:sp>
      <p:sp>
        <p:nvSpPr>
          <p:cNvPr id="7" name="Text 5"/>
          <p:cNvSpPr txBox="1"/>
          <p:nvPr/>
        </p:nvSpPr>
        <p:spPr>
          <a:xfrm>
            <a:off x="877824" y="2130552"/>
            <a:ext cx="3090672" cy="274320"/>
          </a:xfrm>
          <a:prstGeom prst="rect">
            <a:avLst/>
          </a:prstGeom>
          <a:noFill/>
          <a:ln/>
        </p:spPr>
        <p:txBody>
          <a:bodyPr wrap="square" lIns="0" tIns="0" rIns="0" bIns="0" rtlCol="0" anchor="ctr">
            <a:normAutofit/>
          </a:bodyPr>
          <a:lstStyle/>
          <a:p>
            <a:pPr algn="l" indent="0" marL="0">
              <a:buNone/>
            </a:pPr>
            <a:r>
              <a:rPr lang="en-US" sz="1200" b="1" spc="110" kern="0" dirty="0">
                <a:solidFill>
                  <a:srgbClr val="38D996"/>
                </a:solidFill>
                <a:latin typeface="Inter" pitchFamily="34" charset="0"/>
                <a:ea typeface="Inter" pitchFamily="34" charset="-122"/>
                <a:cs typeface="Inter" pitchFamily="34" charset="-120"/>
              </a:rPr>
              <a:t>IMPLEMENTADO</a:t>
            </a:r>
            <a:endParaRPr lang="en-US" sz="1200" dirty="0"/>
          </a:p>
        </p:txBody>
      </p:sp>
      <p:sp>
        <p:nvSpPr>
          <p:cNvPr id="8" name="Shape 6"/>
          <p:cNvSpPr/>
          <p:nvPr/>
        </p:nvSpPr>
        <p:spPr>
          <a:xfrm>
            <a:off x="905256" y="2770632"/>
            <a:ext cx="73152" cy="73152"/>
          </a:xfrm>
          <a:prstGeom prst="ellipse">
            <a:avLst/>
          </a:prstGeom>
          <a:solidFill>
            <a:srgbClr val="38D996"/>
          </a:solidFill>
          <a:ln w="12700">
            <a:solidFill>
              <a:srgbClr val="38D996"/>
            </a:solidFill>
            <a:prstDash val="solid"/>
          </a:ln>
        </p:spPr>
      </p:sp>
      <p:sp>
        <p:nvSpPr>
          <p:cNvPr id="9" name="Text 7"/>
          <p:cNvSpPr txBox="1"/>
          <p:nvPr/>
        </p:nvSpPr>
        <p:spPr>
          <a:xfrm>
            <a:off x="1097280" y="2651760"/>
            <a:ext cx="2889504" cy="365760"/>
          </a:xfrm>
          <a:prstGeom prst="rect">
            <a:avLst/>
          </a:prstGeom>
          <a:noFill/>
          <a:ln/>
        </p:spPr>
        <p:txBody>
          <a:bodyPr wrap="square" lIns="0" tIns="0" rIns="0" bIns="0" rtlCol="0" anchor="t">
            <a:normAutofit/>
          </a:bodyPr>
          <a:lstStyle/>
          <a:p>
            <a:pPr algn="l" indent="0" marL="0">
              <a:buNone/>
            </a:pPr>
            <a:r>
              <a:rPr lang="en-US" sz="1250" dirty="0">
                <a:solidFill>
                  <a:srgbClr val="DCE6F2"/>
                </a:solidFill>
                <a:latin typeface="Inter" pitchFamily="34" charset="0"/>
                <a:ea typeface="Inter" pitchFamily="34" charset="-122"/>
                <a:cs typeface="Inter" pitchFamily="34" charset="-120"/>
              </a:rPr>
              <a:t>7 agentes + orquestador secuencial</a:t>
            </a:r>
            <a:endParaRPr lang="en-US" sz="1250" dirty="0"/>
          </a:p>
        </p:txBody>
      </p:sp>
      <p:sp>
        <p:nvSpPr>
          <p:cNvPr id="10" name="Shape 8"/>
          <p:cNvSpPr/>
          <p:nvPr/>
        </p:nvSpPr>
        <p:spPr>
          <a:xfrm>
            <a:off x="905256" y="3255264"/>
            <a:ext cx="73152" cy="73152"/>
          </a:xfrm>
          <a:prstGeom prst="ellipse">
            <a:avLst/>
          </a:prstGeom>
          <a:solidFill>
            <a:srgbClr val="38D996"/>
          </a:solidFill>
          <a:ln w="12700">
            <a:solidFill>
              <a:srgbClr val="38D996"/>
            </a:solidFill>
            <a:prstDash val="solid"/>
          </a:ln>
        </p:spPr>
      </p:sp>
      <p:sp>
        <p:nvSpPr>
          <p:cNvPr id="11" name="Text 9"/>
          <p:cNvSpPr txBox="1"/>
          <p:nvPr/>
        </p:nvSpPr>
        <p:spPr>
          <a:xfrm>
            <a:off x="1097280" y="3136392"/>
            <a:ext cx="2889504" cy="365760"/>
          </a:xfrm>
          <a:prstGeom prst="rect">
            <a:avLst/>
          </a:prstGeom>
          <a:noFill/>
          <a:ln/>
        </p:spPr>
        <p:txBody>
          <a:bodyPr wrap="square" lIns="0" tIns="0" rIns="0" bIns="0" rtlCol="0" anchor="t">
            <a:normAutofit/>
          </a:bodyPr>
          <a:lstStyle/>
          <a:p>
            <a:pPr algn="l" indent="0" marL="0">
              <a:buNone/>
            </a:pPr>
            <a:r>
              <a:rPr lang="en-US" sz="1250" dirty="0">
                <a:solidFill>
                  <a:srgbClr val="DCE6F2"/>
                </a:solidFill>
                <a:latin typeface="Inter" pitchFamily="34" charset="0"/>
                <a:ea typeface="Inter" pitchFamily="34" charset="-122"/>
                <a:cs typeface="Inter" pitchFamily="34" charset="-120"/>
              </a:rPr>
              <a:t>Secure FS, sanitización y security gate</a:t>
            </a:r>
            <a:endParaRPr lang="en-US" sz="1250" dirty="0"/>
          </a:p>
        </p:txBody>
      </p:sp>
      <p:sp>
        <p:nvSpPr>
          <p:cNvPr id="12" name="Shape 10"/>
          <p:cNvSpPr/>
          <p:nvPr/>
        </p:nvSpPr>
        <p:spPr>
          <a:xfrm>
            <a:off x="905256" y="3739896"/>
            <a:ext cx="73152" cy="73152"/>
          </a:xfrm>
          <a:prstGeom prst="ellipse">
            <a:avLst/>
          </a:prstGeom>
          <a:solidFill>
            <a:srgbClr val="38D996"/>
          </a:solidFill>
          <a:ln w="12700">
            <a:solidFill>
              <a:srgbClr val="38D996"/>
            </a:solidFill>
            <a:prstDash val="solid"/>
          </a:ln>
        </p:spPr>
      </p:sp>
      <p:sp>
        <p:nvSpPr>
          <p:cNvPr id="13" name="Text 11"/>
          <p:cNvSpPr txBox="1"/>
          <p:nvPr/>
        </p:nvSpPr>
        <p:spPr>
          <a:xfrm>
            <a:off x="1097280" y="3621024"/>
            <a:ext cx="2889504" cy="365760"/>
          </a:xfrm>
          <a:prstGeom prst="rect">
            <a:avLst/>
          </a:prstGeom>
          <a:noFill/>
          <a:ln/>
        </p:spPr>
        <p:txBody>
          <a:bodyPr wrap="square" lIns="0" tIns="0" rIns="0" bIns="0" rtlCol="0" anchor="t">
            <a:normAutofit/>
          </a:bodyPr>
          <a:lstStyle/>
          <a:p>
            <a:pPr algn="l" indent="0" marL="0">
              <a:buNone/>
            </a:pPr>
            <a:r>
              <a:rPr lang="en-US" sz="1250" dirty="0">
                <a:solidFill>
                  <a:srgbClr val="DCE6F2"/>
                </a:solidFill>
                <a:latin typeface="Inter" pitchFamily="34" charset="0"/>
                <a:ea typeface="Inter" pitchFamily="34" charset="-122"/>
                <a:cs typeface="Inter" pitchFamily="34" charset="-120"/>
              </a:rPr>
              <a:t>FastAPI + dashboard + cliente Jira</a:t>
            </a:r>
            <a:endParaRPr lang="en-US" sz="1250" dirty="0"/>
          </a:p>
        </p:txBody>
      </p:sp>
      <p:sp>
        <p:nvSpPr>
          <p:cNvPr id="14" name="Shape 12"/>
          <p:cNvSpPr/>
          <p:nvPr/>
        </p:nvSpPr>
        <p:spPr>
          <a:xfrm>
            <a:off x="905256" y="4224528"/>
            <a:ext cx="73152" cy="73152"/>
          </a:xfrm>
          <a:prstGeom prst="ellipse">
            <a:avLst/>
          </a:prstGeom>
          <a:solidFill>
            <a:srgbClr val="38D996"/>
          </a:solidFill>
          <a:ln w="12700">
            <a:solidFill>
              <a:srgbClr val="38D996"/>
            </a:solidFill>
            <a:prstDash val="solid"/>
          </a:ln>
        </p:spPr>
      </p:sp>
      <p:sp>
        <p:nvSpPr>
          <p:cNvPr id="15" name="Text 13"/>
          <p:cNvSpPr txBox="1"/>
          <p:nvPr/>
        </p:nvSpPr>
        <p:spPr>
          <a:xfrm>
            <a:off x="1097280" y="4105656"/>
            <a:ext cx="2889504" cy="365760"/>
          </a:xfrm>
          <a:prstGeom prst="rect">
            <a:avLst/>
          </a:prstGeom>
          <a:noFill/>
          <a:ln/>
        </p:spPr>
        <p:txBody>
          <a:bodyPr wrap="square" lIns="0" tIns="0" rIns="0" bIns="0" rtlCol="0" anchor="t">
            <a:normAutofit/>
          </a:bodyPr>
          <a:lstStyle/>
          <a:p>
            <a:pPr algn="l" indent="0" marL="0">
              <a:buNone/>
            </a:pPr>
            <a:r>
              <a:rPr lang="en-US" sz="1250" dirty="0">
                <a:solidFill>
                  <a:srgbClr val="DCE6F2"/>
                </a:solidFill>
                <a:latin typeface="Inter" pitchFamily="34" charset="0"/>
                <a:ea typeface="Inter" pitchFamily="34" charset="-122"/>
                <a:cs typeface="Inter" pitchFamily="34" charset="-120"/>
              </a:rPr>
              <a:t>Checkpoints SQLite y trazabilidad</a:t>
            </a:r>
            <a:endParaRPr lang="en-US" sz="1250" dirty="0"/>
          </a:p>
        </p:txBody>
      </p:sp>
      <p:sp>
        <p:nvSpPr>
          <p:cNvPr id="16" name="Shape 14"/>
          <p:cNvSpPr/>
          <p:nvPr/>
        </p:nvSpPr>
        <p:spPr>
          <a:xfrm>
            <a:off x="905256" y="4709160"/>
            <a:ext cx="73152" cy="73152"/>
          </a:xfrm>
          <a:prstGeom prst="ellipse">
            <a:avLst/>
          </a:prstGeom>
          <a:solidFill>
            <a:srgbClr val="38D996"/>
          </a:solidFill>
          <a:ln w="12700">
            <a:solidFill>
              <a:srgbClr val="38D996"/>
            </a:solidFill>
            <a:prstDash val="solid"/>
          </a:ln>
        </p:spPr>
      </p:sp>
      <p:sp>
        <p:nvSpPr>
          <p:cNvPr id="17" name="Text 15"/>
          <p:cNvSpPr txBox="1"/>
          <p:nvPr/>
        </p:nvSpPr>
        <p:spPr>
          <a:xfrm>
            <a:off x="1097280" y="4590288"/>
            <a:ext cx="2889504" cy="365760"/>
          </a:xfrm>
          <a:prstGeom prst="rect">
            <a:avLst/>
          </a:prstGeom>
          <a:noFill/>
          <a:ln/>
        </p:spPr>
        <p:txBody>
          <a:bodyPr wrap="square" lIns="0" tIns="0" rIns="0" bIns="0" rtlCol="0" anchor="t">
            <a:normAutofit/>
          </a:bodyPr>
          <a:lstStyle/>
          <a:p>
            <a:pPr algn="l" indent="0" marL="0">
              <a:buNone/>
            </a:pPr>
            <a:r>
              <a:rPr lang="en-US" sz="1250" dirty="0">
                <a:solidFill>
                  <a:srgbClr val="DCE6F2"/>
                </a:solidFill>
                <a:latin typeface="Inter" pitchFamily="34" charset="0"/>
                <a:ea typeface="Inter" pitchFamily="34" charset="-122"/>
                <a:cs typeface="Inter" pitchFamily="34" charset="-120"/>
              </a:rPr>
              <a:t>Tests/evaluación presentes en la estructura</a:t>
            </a:r>
            <a:endParaRPr lang="en-US" sz="1250" dirty="0"/>
          </a:p>
        </p:txBody>
      </p:sp>
      <p:sp>
        <p:nvSpPr>
          <p:cNvPr id="18" name="Shape 16"/>
          <p:cNvSpPr/>
          <p:nvPr/>
        </p:nvSpPr>
        <p:spPr>
          <a:xfrm>
            <a:off x="4334256" y="1874520"/>
            <a:ext cx="3529584" cy="3575304"/>
          </a:xfrm>
          <a:prstGeom prst="roundRect">
            <a:avLst>
              <a:gd name="adj" fmla="val 3109"/>
            </a:avLst>
          </a:prstGeom>
          <a:solidFill>
            <a:srgbClr val="0B1D2D"/>
          </a:solidFill>
          <a:ln w="12700">
            <a:solidFill>
              <a:srgbClr val="274258"/>
            </a:solidFill>
            <a:prstDash val="solid"/>
          </a:ln>
        </p:spPr>
      </p:sp>
      <p:sp>
        <p:nvSpPr>
          <p:cNvPr id="19" name="Shape 17"/>
          <p:cNvSpPr/>
          <p:nvPr/>
        </p:nvSpPr>
        <p:spPr>
          <a:xfrm>
            <a:off x="4334256" y="1874520"/>
            <a:ext cx="3529584" cy="91440"/>
          </a:xfrm>
          <a:prstGeom prst="rect">
            <a:avLst/>
          </a:prstGeom>
          <a:solidFill>
            <a:srgbClr val="F2B138"/>
          </a:solidFill>
          <a:ln w="6350">
            <a:solidFill>
              <a:srgbClr val="F2B138"/>
            </a:solidFill>
            <a:prstDash val="solid"/>
          </a:ln>
        </p:spPr>
      </p:sp>
      <p:sp>
        <p:nvSpPr>
          <p:cNvPr id="20" name="Text 18"/>
          <p:cNvSpPr txBox="1"/>
          <p:nvPr/>
        </p:nvSpPr>
        <p:spPr>
          <a:xfrm>
            <a:off x="4553712" y="2130552"/>
            <a:ext cx="3090672" cy="274320"/>
          </a:xfrm>
          <a:prstGeom prst="rect">
            <a:avLst/>
          </a:prstGeom>
          <a:noFill/>
          <a:ln/>
        </p:spPr>
        <p:txBody>
          <a:bodyPr wrap="square" lIns="0" tIns="0" rIns="0" bIns="0" rtlCol="0" anchor="ctr">
            <a:normAutofit/>
          </a:bodyPr>
          <a:lstStyle/>
          <a:p>
            <a:pPr algn="l" indent="0" marL="0">
              <a:buNone/>
            </a:pPr>
            <a:r>
              <a:rPr lang="en-US" sz="1200" b="1" spc="110" kern="0" dirty="0">
                <a:solidFill>
                  <a:srgbClr val="F2B138"/>
                </a:solidFill>
                <a:latin typeface="Inter" pitchFamily="34" charset="0"/>
                <a:ea typeface="Inter" pitchFamily="34" charset="-122"/>
                <a:cs typeface="Inter" pitchFamily="34" charset="-120"/>
              </a:rPr>
              <a:t>DEMO / SIMULACIÓN</a:t>
            </a:r>
            <a:endParaRPr lang="en-US" sz="1200" dirty="0"/>
          </a:p>
        </p:txBody>
      </p:sp>
      <p:sp>
        <p:nvSpPr>
          <p:cNvPr id="21" name="Shape 19"/>
          <p:cNvSpPr/>
          <p:nvPr/>
        </p:nvSpPr>
        <p:spPr>
          <a:xfrm>
            <a:off x="4581144" y="2770632"/>
            <a:ext cx="73152" cy="73152"/>
          </a:xfrm>
          <a:prstGeom prst="ellipse">
            <a:avLst/>
          </a:prstGeom>
          <a:solidFill>
            <a:srgbClr val="F2B138"/>
          </a:solidFill>
          <a:ln w="12700">
            <a:solidFill>
              <a:srgbClr val="F2B138"/>
            </a:solidFill>
            <a:prstDash val="solid"/>
          </a:ln>
        </p:spPr>
      </p:sp>
      <p:sp>
        <p:nvSpPr>
          <p:cNvPr id="22" name="Text 20"/>
          <p:cNvSpPr txBox="1"/>
          <p:nvPr/>
        </p:nvSpPr>
        <p:spPr>
          <a:xfrm>
            <a:off x="4773168" y="2651760"/>
            <a:ext cx="2889504" cy="365760"/>
          </a:xfrm>
          <a:prstGeom prst="rect">
            <a:avLst/>
          </a:prstGeom>
          <a:noFill/>
          <a:ln/>
        </p:spPr>
        <p:txBody>
          <a:bodyPr wrap="square" lIns="0" tIns="0" rIns="0" bIns="0" rtlCol="0" anchor="t">
            <a:normAutofit/>
          </a:bodyPr>
          <a:lstStyle/>
          <a:p>
            <a:pPr algn="l" indent="0" marL="0">
              <a:buNone/>
            </a:pPr>
            <a:r>
              <a:rPr lang="en-US" sz="1250" dirty="0">
                <a:solidFill>
                  <a:srgbClr val="DCE6F2"/>
                </a:solidFill>
                <a:latin typeface="Inter" pitchFamily="34" charset="0"/>
                <a:ea typeface="Inter" pitchFamily="34" charset="-122"/>
                <a:cs typeface="Inter" pitchFamily="34" charset="-120"/>
              </a:rPr>
              <a:t>MockProvider y LocalMock son defaults</a:t>
            </a:r>
            <a:endParaRPr lang="en-US" sz="1250" dirty="0"/>
          </a:p>
        </p:txBody>
      </p:sp>
      <p:sp>
        <p:nvSpPr>
          <p:cNvPr id="23" name="Shape 21"/>
          <p:cNvSpPr/>
          <p:nvPr/>
        </p:nvSpPr>
        <p:spPr>
          <a:xfrm>
            <a:off x="4581144" y="3255264"/>
            <a:ext cx="73152" cy="73152"/>
          </a:xfrm>
          <a:prstGeom prst="ellipse">
            <a:avLst/>
          </a:prstGeom>
          <a:solidFill>
            <a:srgbClr val="F2B138"/>
          </a:solidFill>
          <a:ln w="12700">
            <a:solidFill>
              <a:srgbClr val="F2B138"/>
            </a:solidFill>
            <a:prstDash val="solid"/>
          </a:ln>
        </p:spPr>
      </p:sp>
      <p:sp>
        <p:nvSpPr>
          <p:cNvPr id="24" name="Text 22"/>
          <p:cNvSpPr txBox="1"/>
          <p:nvPr/>
        </p:nvSpPr>
        <p:spPr>
          <a:xfrm>
            <a:off x="4773168" y="3136392"/>
            <a:ext cx="2889504" cy="365760"/>
          </a:xfrm>
          <a:prstGeom prst="rect">
            <a:avLst/>
          </a:prstGeom>
          <a:noFill/>
          <a:ln/>
        </p:spPr>
        <p:txBody>
          <a:bodyPr wrap="square" lIns="0" tIns="0" rIns="0" bIns="0" rtlCol="0" anchor="t">
            <a:normAutofit/>
          </a:bodyPr>
          <a:lstStyle/>
          <a:p>
            <a:pPr algn="l" indent="0" marL="0">
              <a:buNone/>
            </a:pPr>
            <a:r>
              <a:rPr lang="en-US" sz="1250" dirty="0">
                <a:solidFill>
                  <a:srgbClr val="DCE6F2"/>
                </a:solidFill>
                <a:latin typeface="Inter" pitchFamily="34" charset="0"/>
                <a:ea typeface="Inter" pitchFamily="34" charset="-122"/>
                <a:cs typeface="Inter" pitchFamily="34" charset="-120"/>
              </a:rPr>
              <a:t>Jira dispone de dataset/fallback local</a:t>
            </a:r>
            <a:endParaRPr lang="en-US" sz="1250" dirty="0"/>
          </a:p>
        </p:txBody>
      </p:sp>
      <p:sp>
        <p:nvSpPr>
          <p:cNvPr id="25" name="Shape 23"/>
          <p:cNvSpPr/>
          <p:nvPr/>
        </p:nvSpPr>
        <p:spPr>
          <a:xfrm>
            <a:off x="4581144" y="3739896"/>
            <a:ext cx="73152" cy="73152"/>
          </a:xfrm>
          <a:prstGeom prst="ellipse">
            <a:avLst/>
          </a:prstGeom>
          <a:solidFill>
            <a:srgbClr val="F2B138"/>
          </a:solidFill>
          <a:ln w="12700">
            <a:solidFill>
              <a:srgbClr val="F2B138"/>
            </a:solidFill>
            <a:prstDash val="solid"/>
          </a:ln>
        </p:spPr>
      </p:sp>
      <p:sp>
        <p:nvSpPr>
          <p:cNvPr id="26" name="Text 24"/>
          <p:cNvSpPr txBox="1"/>
          <p:nvPr/>
        </p:nvSpPr>
        <p:spPr>
          <a:xfrm>
            <a:off x="4773168" y="3621024"/>
            <a:ext cx="2889504" cy="365760"/>
          </a:xfrm>
          <a:prstGeom prst="rect">
            <a:avLst/>
          </a:prstGeom>
          <a:noFill/>
          <a:ln/>
        </p:spPr>
        <p:txBody>
          <a:bodyPr wrap="square" lIns="0" tIns="0" rIns="0" bIns="0" rtlCol="0" anchor="t">
            <a:normAutofit/>
          </a:bodyPr>
          <a:lstStyle/>
          <a:p>
            <a:pPr algn="l" indent="0" marL="0">
              <a:buNone/>
            </a:pPr>
            <a:r>
              <a:rPr lang="en-US" sz="1250" dirty="0">
                <a:solidFill>
                  <a:srgbClr val="DCE6F2"/>
                </a:solidFill>
                <a:latin typeface="Inter" pitchFamily="34" charset="0"/>
                <a:ea typeface="Inter" pitchFamily="34" charset="-122"/>
                <a:cs typeface="Inter" pitchFamily="34" charset="-120"/>
              </a:rPr>
              <a:t>Estado activo también vive en memoria</a:t>
            </a:r>
            <a:endParaRPr lang="en-US" sz="1250" dirty="0"/>
          </a:p>
        </p:txBody>
      </p:sp>
      <p:sp>
        <p:nvSpPr>
          <p:cNvPr id="27" name="Shape 25"/>
          <p:cNvSpPr/>
          <p:nvPr/>
        </p:nvSpPr>
        <p:spPr>
          <a:xfrm>
            <a:off x="4581144" y="4224528"/>
            <a:ext cx="73152" cy="73152"/>
          </a:xfrm>
          <a:prstGeom prst="ellipse">
            <a:avLst/>
          </a:prstGeom>
          <a:solidFill>
            <a:srgbClr val="F2B138"/>
          </a:solidFill>
          <a:ln w="12700">
            <a:solidFill>
              <a:srgbClr val="F2B138"/>
            </a:solidFill>
            <a:prstDash val="solid"/>
          </a:ln>
        </p:spPr>
      </p:sp>
      <p:sp>
        <p:nvSpPr>
          <p:cNvPr id="28" name="Text 26"/>
          <p:cNvSpPr txBox="1"/>
          <p:nvPr/>
        </p:nvSpPr>
        <p:spPr>
          <a:xfrm>
            <a:off x="4773168" y="4105656"/>
            <a:ext cx="2889504" cy="365760"/>
          </a:xfrm>
          <a:prstGeom prst="rect">
            <a:avLst/>
          </a:prstGeom>
          <a:noFill/>
          <a:ln/>
        </p:spPr>
        <p:txBody>
          <a:bodyPr wrap="square" lIns="0" tIns="0" rIns="0" bIns="0" rtlCol="0" anchor="t">
            <a:normAutofit/>
          </a:bodyPr>
          <a:lstStyle/>
          <a:p>
            <a:pPr algn="l" indent="0" marL="0">
              <a:buNone/>
            </a:pPr>
            <a:r>
              <a:rPr lang="en-US" sz="1250" dirty="0">
                <a:solidFill>
                  <a:srgbClr val="DCE6F2"/>
                </a:solidFill>
                <a:latin typeface="Inter" pitchFamily="34" charset="0"/>
                <a:ea typeface="Inter" pitchFamily="34" charset="-122"/>
                <a:cs typeface="Inter" pitchFamily="34" charset="-120"/>
              </a:rPr>
              <a:t>Usuarios y contraseñas demo en código</a:t>
            </a:r>
            <a:endParaRPr lang="en-US" sz="1250" dirty="0"/>
          </a:p>
        </p:txBody>
      </p:sp>
      <p:sp>
        <p:nvSpPr>
          <p:cNvPr id="29" name="Shape 27"/>
          <p:cNvSpPr/>
          <p:nvPr/>
        </p:nvSpPr>
        <p:spPr>
          <a:xfrm>
            <a:off x="4581144" y="4709160"/>
            <a:ext cx="73152" cy="73152"/>
          </a:xfrm>
          <a:prstGeom prst="ellipse">
            <a:avLst/>
          </a:prstGeom>
          <a:solidFill>
            <a:srgbClr val="F2B138"/>
          </a:solidFill>
          <a:ln w="12700">
            <a:solidFill>
              <a:srgbClr val="F2B138"/>
            </a:solidFill>
            <a:prstDash val="solid"/>
          </a:ln>
        </p:spPr>
      </p:sp>
      <p:sp>
        <p:nvSpPr>
          <p:cNvPr id="30" name="Text 28"/>
          <p:cNvSpPr txBox="1"/>
          <p:nvPr/>
        </p:nvSpPr>
        <p:spPr>
          <a:xfrm>
            <a:off x="4773168" y="4590288"/>
            <a:ext cx="2889504" cy="365760"/>
          </a:xfrm>
          <a:prstGeom prst="rect">
            <a:avLst/>
          </a:prstGeom>
          <a:noFill/>
          <a:ln/>
        </p:spPr>
        <p:txBody>
          <a:bodyPr wrap="square" lIns="0" tIns="0" rIns="0" bIns="0" rtlCol="0" anchor="t">
            <a:normAutofit/>
          </a:bodyPr>
          <a:lstStyle/>
          <a:p>
            <a:pPr algn="l" indent="0" marL="0">
              <a:buNone/>
            </a:pPr>
            <a:r>
              <a:rPr lang="en-US" sz="1250" dirty="0">
                <a:solidFill>
                  <a:srgbClr val="DCE6F2"/>
                </a:solidFill>
                <a:latin typeface="Inter" pitchFamily="34" charset="0"/>
                <a:ea typeface="Inter" pitchFamily="34" charset="-122"/>
                <a:cs typeface="Inter" pitchFamily="34" charset="-120"/>
              </a:rPr>
              <a:t>PR: se construye payload, no publicación</a:t>
            </a:r>
            <a:endParaRPr lang="en-US" sz="1250" dirty="0"/>
          </a:p>
        </p:txBody>
      </p:sp>
      <p:sp>
        <p:nvSpPr>
          <p:cNvPr id="31" name="Shape 29"/>
          <p:cNvSpPr/>
          <p:nvPr/>
        </p:nvSpPr>
        <p:spPr>
          <a:xfrm>
            <a:off x="8010144" y="1874520"/>
            <a:ext cx="3529584" cy="3575304"/>
          </a:xfrm>
          <a:prstGeom prst="roundRect">
            <a:avLst>
              <a:gd name="adj" fmla="val 3109"/>
            </a:avLst>
          </a:prstGeom>
          <a:solidFill>
            <a:srgbClr val="0B1D2D"/>
          </a:solidFill>
          <a:ln w="12700">
            <a:solidFill>
              <a:srgbClr val="274258"/>
            </a:solidFill>
            <a:prstDash val="solid"/>
          </a:ln>
        </p:spPr>
      </p:sp>
      <p:sp>
        <p:nvSpPr>
          <p:cNvPr id="32" name="Shape 30"/>
          <p:cNvSpPr/>
          <p:nvPr/>
        </p:nvSpPr>
        <p:spPr>
          <a:xfrm>
            <a:off x="8010144" y="1874520"/>
            <a:ext cx="3529584" cy="91440"/>
          </a:xfrm>
          <a:prstGeom prst="rect">
            <a:avLst/>
          </a:prstGeom>
          <a:solidFill>
            <a:srgbClr val="FF5B6E"/>
          </a:solidFill>
          <a:ln w="6350">
            <a:solidFill>
              <a:srgbClr val="FF5B6E"/>
            </a:solidFill>
            <a:prstDash val="solid"/>
          </a:ln>
        </p:spPr>
      </p:sp>
      <p:sp>
        <p:nvSpPr>
          <p:cNvPr id="33" name="Text 31"/>
          <p:cNvSpPr txBox="1"/>
          <p:nvPr/>
        </p:nvSpPr>
        <p:spPr>
          <a:xfrm>
            <a:off x="8229600" y="2130552"/>
            <a:ext cx="3090672" cy="274320"/>
          </a:xfrm>
          <a:prstGeom prst="rect">
            <a:avLst/>
          </a:prstGeom>
          <a:noFill/>
          <a:ln/>
        </p:spPr>
        <p:txBody>
          <a:bodyPr wrap="square" lIns="0" tIns="0" rIns="0" bIns="0" rtlCol="0" anchor="ctr">
            <a:normAutofit/>
          </a:bodyPr>
          <a:lstStyle/>
          <a:p>
            <a:pPr algn="l" indent="0" marL="0">
              <a:buNone/>
            </a:pPr>
            <a:r>
              <a:rPr lang="en-US" sz="1200" b="1" spc="110" kern="0" dirty="0">
                <a:solidFill>
                  <a:srgbClr val="FF5B6E"/>
                </a:solidFill>
                <a:latin typeface="Inter" pitchFamily="34" charset="0"/>
                <a:ea typeface="Inter" pitchFamily="34" charset="-122"/>
                <a:cs typeface="Inter" pitchFamily="34" charset="-120"/>
              </a:rPr>
              <a:t>PENDIENTE PARA PRODUCCIÓN</a:t>
            </a:r>
            <a:endParaRPr lang="en-US" sz="1200" dirty="0"/>
          </a:p>
        </p:txBody>
      </p:sp>
      <p:sp>
        <p:nvSpPr>
          <p:cNvPr id="34" name="Shape 32"/>
          <p:cNvSpPr/>
          <p:nvPr/>
        </p:nvSpPr>
        <p:spPr>
          <a:xfrm>
            <a:off x="8257032" y="2770632"/>
            <a:ext cx="73152" cy="73152"/>
          </a:xfrm>
          <a:prstGeom prst="ellipse">
            <a:avLst/>
          </a:prstGeom>
          <a:solidFill>
            <a:srgbClr val="FF5B6E"/>
          </a:solidFill>
          <a:ln w="12700">
            <a:solidFill>
              <a:srgbClr val="FF5B6E"/>
            </a:solidFill>
            <a:prstDash val="solid"/>
          </a:ln>
        </p:spPr>
      </p:sp>
      <p:sp>
        <p:nvSpPr>
          <p:cNvPr id="35" name="Text 33"/>
          <p:cNvSpPr txBox="1"/>
          <p:nvPr/>
        </p:nvSpPr>
        <p:spPr>
          <a:xfrm>
            <a:off x="8449056" y="2651760"/>
            <a:ext cx="2889504" cy="365760"/>
          </a:xfrm>
          <a:prstGeom prst="rect">
            <a:avLst/>
          </a:prstGeom>
          <a:noFill/>
          <a:ln/>
        </p:spPr>
        <p:txBody>
          <a:bodyPr wrap="square" lIns="0" tIns="0" rIns="0" bIns="0" rtlCol="0" anchor="t">
            <a:normAutofit/>
          </a:bodyPr>
          <a:lstStyle/>
          <a:p>
            <a:pPr algn="l" indent="0" marL="0">
              <a:buNone/>
            </a:pPr>
            <a:r>
              <a:rPr lang="en-US" sz="1250" dirty="0">
                <a:solidFill>
                  <a:srgbClr val="DCE6F2"/>
                </a:solidFill>
                <a:latin typeface="Inter" pitchFamily="34" charset="0"/>
                <a:ea typeface="Inter" pitchFamily="34" charset="-122"/>
                <a:cs typeface="Inter" pitchFamily="34" charset="-120"/>
              </a:rPr>
              <a:t>Validar CI real con repos Spring Boot</a:t>
            </a:r>
            <a:endParaRPr lang="en-US" sz="1250" dirty="0"/>
          </a:p>
        </p:txBody>
      </p:sp>
      <p:sp>
        <p:nvSpPr>
          <p:cNvPr id="36" name="Shape 34"/>
          <p:cNvSpPr/>
          <p:nvPr/>
        </p:nvSpPr>
        <p:spPr>
          <a:xfrm>
            <a:off x="8257032" y="3255264"/>
            <a:ext cx="73152" cy="73152"/>
          </a:xfrm>
          <a:prstGeom prst="ellipse">
            <a:avLst/>
          </a:prstGeom>
          <a:solidFill>
            <a:srgbClr val="FF5B6E"/>
          </a:solidFill>
          <a:ln w="12700">
            <a:solidFill>
              <a:srgbClr val="FF5B6E"/>
            </a:solidFill>
            <a:prstDash val="solid"/>
          </a:ln>
        </p:spPr>
      </p:sp>
      <p:sp>
        <p:nvSpPr>
          <p:cNvPr id="37" name="Text 35"/>
          <p:cNvSpPr txBox="1"/>
          <p:nvPr/>
        </p:nvSpPr>
        <p:spPr>
          <a:xfrm>
            <a:off x="8449056" y="3136392"/>
            <a:ext cx="2889504" cy="365760"/>
          </a:xfrm>
          <a:prstGeom prst="rect">
            <a:avLst/>
          </a:prstGeom>
          <a:noFill/>
          <a:ln/>
        </p:spPr>
        <p:txBody>
          <a:bodyPr wrap="square" lIns="0" tIns="0" rIns="0" bIns="0" rtlCol="0" anchor="t">
            <a:normAutofit/>
          </a:bodyPr>
          <a:lstStyle/>
          <a:p>
            <a:pPr algn="l" indent="0" marL="0">
              <a:buNone/>
            </a:pPr>
            <a:r>
              <a:rPr lang="en-US" sz="1250" dirty="0">
                <a:solidFill>
                  <a:srgbClr val="DCE6F2"/>
                </a:solidFill>
                <a:latin typeface="Inter" pitchFamily="34" charset="0"/>
                <a:ea typeface="Inter" pitchFamily="34" charset="-122"/>
                <a:cs typeface="Inter" pitchFamily="34" charset="-120"/>
              </a:rPr>
              <a:t>Publicación real de PR y permisos GitHub</a:t>
            </a:r>
            <a:endParaRPr lang="en-US" sz="1250" dirty="0"/>
          </a:p>
        </p:txBody>
      </p:sp>
      <p:sp>
        <p:nvSpPr>
          <p:cNvPr id="38" name="Shape 36"/>
          <p:cNvSpPr/>
          <p:nvPr/>
        </p:nvSpPr>
        <p:spPr>
          <a:xfrm>
            <a:off x="8257032" y="3739896"/>
            <a:ext cx="73152" cy="73152"/>
          </a:xfrm>
          <a:prstGeom prst="ellipse">
            <a:avLst/>
          </a:prstGeom>
          <a:solidFill>
            <a:srgbClr val="FF5B6E"/>
          </a:solidFill>
          <a:ln w="12700">
            <a:solidFill>
              <a:srgbClr val="FF5B6E"/>
            </a:solidFill>
            <a:prstDash val="solid"/>
          </a:ln>
        </p:spPr>
      </p:sp>
      <p:sp>
        <p:nvSpPr>
          <p:cNvPr id="39" name="Text 37"/>
          <p:cNvSpPr txBox="1"/>
          <p:nvPr/>
        </p:nvSpPr>
        <p:spPr>
          <a:xfrm>
            <a:off x="8449056" y="3621024"/>
            <a:ext cx="2889504" cy="365760"/>
          </a:xfrm>
          <a:prstGeom prst="rect">
            <a:avLst/>
          </a:prstGeom>
          <a:noFill/>
          <a:ln/>
        </p:spPr>
        <p:txBody>
          <a:bodyPr wrap="square" lIns="0" tIns="0" rIns="0" bIns="0" rtlCol="0" anchor="t">
            <a:normAutofit/>
          </a:bodyPr>
          <a:lstStyle/>
          <a:p>
            <a:pPr algn="l" indent="0" marL="0">
              <a:buNone/>
            </a:pPr>
            <a:r>
              <a:rPr lang="en-US" sz="1250" dirty="0">
                <a:solidFill>
                  <a:srgbClr val="DCE6F2"/>
                </a:solidFill>
                <a:latin typeface="Inter" pitchFamily="34" charset="0"/>
                <a:ea typeface="Inter" pitchFamily="34" charset="-122"/>
                <a:cs typeface="Inter" pitchFamily="34" charset="-120"/>
              </a:rPr>
              <a:t>IAM/autenticación y secret management</a:t>
            </a:r>
            <a:endParaRPr lang="en-US" sz="1250" dirty="0"/>
          </a:p>
        </p:txBody>
      </p:sp>
      <p:sp>
        <p:nvSpPr>
          <p:cNvPr id="40" name="Shape 38"/>
          <p:cNvSpPr/>
          <p:nvPr/>
        </p:nvSpPr>
        <p:spPr>
          <a:xfrm>
            <a:off x="8257032" y="4224528"/>
            <a:ext cx="73152" cy="73152"/>
          </a:xfrm>
          <a:prstGeom prst="ellipse">
            <a:avLst/>
          </a:prstGeom>
          <a:solidFill>
            <a:srgbClr val="FF5B6E"/>
          </a:solidFill>
          <a:ln w="12700">
            <a:solidFill>
              <a:srgbClr val="FF5B6E"/>
            </a:solidFill>
            <a:prstDash val="solid"/>
          </a:ln>
        </p:spPr>
      </p:sp>
      <p:sp>
        <p:nvSpPr>
          <p:cNvPr id="41" name="Text 39"/>
          <p:cNvSpPr txBox="1"/>
          <p:nvPr/>
        </p:nvSpPr>
        <p:spPr>
          <a:xfrm>
            <a:off x="8449056" y="4105656"/>
            <a:ext cx="2889504" cy="365760"/>
          </a:xfrm>
          <a:prstGeom prst="rect">
            <a:avLst/>
          </a:prstGeom>
          <a:noFill/>
          <a:ln/>
        </p:spPr>
        <p:txBody>
          <a:bodyPr wrap="square" lIns="0" tIns="0" rIns="0" bIns="0" rtlCol="0" anchor="t">
            <a:normAutofit/>
          </a:bodyPr>
          <a:lstStyle/>
          <a:p>
            <a:pPr algn="l" indent="0" marL="0">
              <a:buNone/>
            </a:pPr>
            <a:r>
              <a:rPr lang="en-US" sz="1250" dirty="0">
                <a:solidFill>
                  <a:srgbClr val="DCE6F2"/>
                </a:solidFill>
                <a:latin typeface="Inter" pitchFamily="34" charset="0"/>
                <a:ea typeface="Inter" pitchFamily="34" charset="-122"/>
                <a:cs typeface="Inter" pitchFamily="34" charset="-120"/>
              </a:rPr>
              <a:t>Persistencia/HA/operación endurecida</a:t>
            </a:r>
            <a:endParaRPr lang="en-US" sz="1250" dirty="0"/>
          </a:p>
        </p:txBody>
      </p:sp>
      <p:sp>
        <p:nvSpPr>
          <p:cNvPr id="42" name="Shape 40"/>
          <p:cNvSpPr/>
          <p:nvPr/>
        </p:nvSpPr>
        <p:spPr>
          <a:xfrm>
            <a:off x="8257032" y="4709160"/>
            <a:ext cx="73152" cy="73152"/>
          </a:xfrm>
          <a:prstGeom prst="ellipse">
            <a:avLst/>
          </a:prstGeom>
          <a:solidFill>
            <a:srgbClr val="FF5B6E"/>
          </a:solidFill>
          <a:ln w="12700">
            <a:solidFill>
              <a:srgbClr val="FF5B6E"/>
            </a:solidFill>
            <a:prstDash val="solid"/>
          </a:ln>
        </p:spPr>
      </p:sp>
      <p:sp>
        <p:nvSpPr>
          <p:cNvPr id="43" name="Text 41"/>
          <p:cNvSpPr txBox="1"/>
          <p:nvPr/>
        </p:nvSpPr>
        <p:spPr>
          <a:xfrm>
            <a:off x="8449056" y="4590288"/>
            <a:ext cx="2889504" cy="365760"/>
          </a:xfrm>
          <a:prstGeom prst="rect">
            <a:avLst/>
          </a:prstGeom>
          <a:noFill/>
          <a:ln/>
        </p:spPr>
        <p:txBody>
          <a:bodyPr wrap="square" lIns="0" tIns="0" rIns="0" bIns="0" rtlCol="0" anchor="t">
            <a:normAutofit/>
          </a:bodyPr>
          <a:lstStyle/>
          <a:p>
            <a:pPr algn="l" indent="0" marL="0">
              <a:buNone/>
            </a:pPr>
            <a:r>
              <a:rPr lang="en-US" sz="1250" dirty="0">
                <a:solidFill>
                  <a:srgbClr val="DCE6F2"/>
                </a:solidFill>
                <a:latin typeface="Inter" pitchFamily="34" charset="0"/>
                <a:ea typeface="Inter" pitchFamily="34" charset="-122"/>
                <a:cs typeface="Inter" pitchFamily="34" charset="-120"/>
              </a:rPr>
              <a:t>Benchmarks reales de calidad, coste y seguridad</a:t>
            </a:r>
            <a:endParaRPr lang="en-US" sz="1250" dirty="0"/>
          </a:p>
        </p:txBody>
      </p:sp>
      <p:sp>
        <p:nvSpPr>
          <p:cNvPr id="44" name="Shape 42"/>
          <p:cNvSpPr/>
          <p:nvPr/>
        </p:nvSpPr>
        <p:spPr>
          <a:xfrm>
            <a:off x="676656" y="5650992"/>
            <a:ext cx="10844784" cy="566928"/>
          </a:xfrm>
          <a:prstGeom prst="rect">
            <a:avLst/>
          </a:prstGeom>
          <a:solidFill>
            <a:srgbClr val="0A1C2C"/>
          </a:solidFill>
          <a:ln w="6350">
            <a:solidFill>
              <a:srgbClr val="0A1C2C"/>
            </a:solidFill>
            <a:prstDash val="solid"/>
          </a:ln>
        </p:spPr>
      </p:sp>
      <p:sp>
        <p:nvSpPr>
          <p:cNvPr id="45" name="Text 43"/>
          <p:cNvSpPr txBox="1"/>
          <p:nvPr/>
        </p:nvSpPr>
        <p:spPr>
          <a:xfrm>
            <a:off x="877824" y="5769864"/>
            <a:ext cx="1097280" cy="219456"/>
          </a:xfrm>
          <a:prstGeom prst="rect">
            <a:avLst/>
          </a:prstGeom>
          <a:noFill/>
          <a:ln/>
        </p:spPr>
        <p:txBody>
          <a:bodyPr wrap="square" lIns="0" tIns="0" rIns="0" bIns="0" rtlCol="0" anchor="ctr">
            <a:normAutofit/>
          </a:bodyPr>
          <a:lstStyle/>
          <a:p>
            <a:pPr algn="l" indent="0" marL="0">
              <a:buNone/>
            </a:pPr>
            <a:r>
              <a:rPr lang="en-US" sz="1000" b="1" spc="100" kern="0" dirty="0">
                <a:solidFill>
                  <a:srgbClr val="F2B138"/>
                </a:solidFill>
                <a:latin typeface="Inter" pitchFamily="34" charset="0"/>
                <a:ea typeface="Inter" pitchFamily="34" charset="-122"/>
                <a:cs typeface="Inter" pitchFamily="34" charset="-120"/>
              </a:rPr>
              <a:t>VERIFICACIÓN</a:t>
            </a:r>
            <a:endParaRPr lang="en-US" sz="1000" dirty="0"/>
          </a:p>
        </p:txBody>
      </p:sp>
      <p:sp>
        <p:nvSpPr>
          <p:cNvPr id="46" name="Text 44"/>
          <p:cNvSpPr txBox="1"/>
          <p:nvPr/>
        </p:nvSpPr>
        <p:spPr>
          <a:xfrm>
            <a:off x="2057400" y="5696712"/>
            <a:ext cx="9070848" cy="329184"/>
          </a:xfrm>
          <a:prstGeom prst="rect">
            <a:avLst/>
          </a:prstGeom>
          <a:noFill/>
          <a:ln/>
        </p:spPr>
        <p:txBody>
          <a:bodyPr wrap="square" lIns="0" tIns="0" rIns="0" bIns="0" rtlCol="0" anchor="ctr">
            <a:normAutofit/>
          </a:bodyPr>
          <a:lstStyle/>
          <a:p>
            <a:pPr algn="l" indent="0" marL="0">
              <a:buNone/>
            </a:pPr>
            <a:r>
              <a:rPr lang="en-US" sz="1220" b="1" dirty="0">
                <a:solidFill>
                  <a:srgbClr val="DCE6F2"/>
                </a:solidFill>
                <a:latin typeface="Inter" pitchFamily="34" charset="0"/>
                <a:ea typeface="Inter" pitchFamily="34" charset="-122"/>
                <a:cs typeface="Inter" pitchFamily="34" charset="-120"/>
              </a:rPr>
              <a:t>No se afirma que “todas las pruebas pasan”: este entorno no pudo clonar el repositorio para ejecutar pytest con PYTHONPATH=src. El estado de la suite queda no verificado.</a:t>
            </a:r>
            <a:endParaRPr lang="en-US" sz="1220" dirty="0"/>
          </a:p>
        </p:txBody>
      </p:sp>
      <p:sp>
        <p:nvSpPr>
          <p:cNvPr id="25" name="Slide Number Placeholder 0"/>
          <p:cNvSpPr>
            <a:spLocks noGrp="1"/>
          </p:cNvSpPr>
          <p:nvPr>
            <p:ph type="sldNum" sz="quarter" idx="4294967295"/>
          </p:nvPr>
        </p:nvSpPr>
        <p:spPr>
          <a:xfrm>
            <a:off x="11192256" y="6556248"/>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F879B"/>
                </a:solidFill>
                <a:latin typeface="Inter"/>
                <a:ea typeface="Inter"/>
                <a:cs typeface="Inter"/>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21792" y="384048"/>
            <a:ext cx="2926080" cy="256032"/>
          </a:xfrm>
          <a:prstGeom prst="rect">
            <a:avLst/>
          </a:prstGeom>
          <a:noFill/>
          <a:ln/>
        </p:spPr>
        <p:txBody>
          <a:bodyPr wrap="square" lIns="0" tIns="0" rIns="0" bIns="0" rtlCol="0" anchor="ctr">
            <a:normAutofit/>
          </a:bodyPr>
          <a:lstStyle/>
          <a:p>
            <a:pPr algn="l" indent="0" marL="0">
              <a:buNone/>
            </a:pPr>
            <a:r>
              <a:rPr lang="en-US" sz="1050" b="1" spc="160" kern="0" dirty="0">
                <a:solidFill>
                  <a:srgbClr val="2EA8FF"/>
                </a:solidFill>
                <a:latin typeface="Inter" pitchFamily="34" charset="0"/>
                <a:ea typeface="Inter" pitchFamily="34" charset="-122"/>
                <a:cs typeface="Inter" pitchFamily="34" charset="-120"/>
              </a:rPr>
              <a:t>09 · PRÓXIMOS PASOS</a:t>
            </a:r>
            <a:endParaRPr lang="en-US" sz="1050" dirty="0"/>
          </a:p>
        </p:txBody>
      </p:sp>
      <p:sp>
        <p:nvSpPr>
          <p:cNvPr id="3" name="Text 1"/>
          <p:cNvSpPr txBox="1"/>
          <p:nvPr/>
        </p:nvSpPr>
        <p:spPr>
          <a:xfrm>
            <a:off x="621792" y="713232"/>
            <a:ext cx="10927080" cy="530352"/>
          </a:xfrm>
          <a:prstGeom prst="rect">
            <a:avLst/>
          </a:prstGeom>
          <a:noFill/>
          <a:ln/>
        </p:spPr>
        <p:txBody>
          <a:bodyPr wrap="square" lIns="0" tIns="0" rIns="0" bIns="0" rtlCol="0" anchor="ctr">
            <a:normAutofit/>
          </a:bodyPr>
          <a:lstStyle/>
          <a:p>
            <a:pPr algn="l" indent="0" marL="0">
              <a:buNone/>
            </a:pPr>
            <a:r>
              <a:rPr lang="en-US" sz="3200" b="1" dirty="0">
                <a:solidFill>
                  <a:srgbClr val="F7FAFC"/>
                </a:solidFill>
                <a:latin typeface="Inter" pitchFamily="34" charset="0"/>
                <a:ea typeface="Inter" pitchFamily="34" charset="-122"/>
                <a:cs typeface="Inter" pitchFamily="34" charset="-120"/>
              </a:rPr>
              <a:t>Convertir una buena demo en evidencia operativa</a:t>
            </a:r>
            <a:endParaRPr lang="en-US" sz="3200" dirty="0"/>
          </a:p>
        </p:txBody>
      </p:sp>
      <p:sp>
        <p:nvSpPr>
          <p:cNvPr id="4" name="Text 2"/>
          <p:cNvSpPr txBox="1"/>
          <p:nvPr/>
        </p:nvSpPr>
        <p:spPr>
          <a:xfrm>
            <a:off x="621792" y="1261872"/>
            <a:ext cx="10744200" cy="384048"/>
          </a:xfrm>
          <a:prstGeom prst="rect">
            <a:avLst/>
          </a:prstGeom>
          <a:noFill/>
          <a:ln/>
        </p:spPr>
        <p:txBody>
          <a:bodyPr wrap="square" lIns="0" tIns="0" rIns="0" bIns="0" rtlCol="0" anchor="ctr">
            <a:normAutofit/>
          </a:bodyPr>
          <a:lstStyle/>
          <a:p>
            <a:pPr algn="l" indent="0" marL="0">
              <a:buNone/>
            </a:pPr>
            <a:r>
              <a:rPr lang="en-US" sz="1550" dirty="0">
                <a:solidFill>
                  <a:srgbClr val="8FA3B8"/>
                </a:solidFill>
                <a:latin typeface="Inter" pitchFamily="34" charset="0"/>
                <a:ea typeface="Inter" pitchFamily="34" charset="-122"/>
                <a:cs typeface="Inter" pitchFamily="34" charset="-120"/>
              </a:rPr>
              <a:t>La prioridad no es añadir más agentes: es cerrar el loop real de entrega, identidad, persistencia y medición.</a:t>
            </a:r>
            <a:endParaRPr lang="en-US" sz="1550" dirty="0"/>
          </a:p>
        </p:txBody>
      </p:sp>
      <p:sp>
        <p:nvSpPr>
          <p:cNvPr id="5" name="Shape 3"/>
          <p:cNvSpPr/>
          <p:nvPr/>
        </p:nvSpPr>
        <p:spPr>
          <a:xfrm>
            <a:off x="1078992" y="3017520"/>
            <a:ext cx="9966960" cy="0"/>
          </a:xfrm>
          <a:prstGeom prst="line">
            <a:avLst/>
          </a:prstGeom>
          <a:noFill/>
          <a:ln w="25400">
            <a:solidFill>
              <a:srgbClr val="274258"/>
            </a:solidFill>
            <a:prstDash val="solid"/>
          </a:ln>
        </p:spPr>
      </p:sp>
      <p:sp>
        <p:nvSpPr>
          <p:cNvPr id="6" name="Shape 4"/>
          <p:cNvSpPr/>
          <p:nvPr/>
        </p:nvSpPr>
        <p:spPr>
          <a:xfrm>
            <a:off x="749808" y="2770632"/>
            <a:ext cx="530352" cy="530352"/>
          </a:xfrm>
          <a:prstGeom prst="ellipse">
            <a:avLst/>
          </a:prstGeom>
          <a:solidFill>
            <a:srgbClr val="1B75FF"/>
          </a:solidFill>
          <a:ln w="12700">
            <a:solidFill>
              <a:srgbClr val="1B75FF"/>
            </a:solidFill>
            <a:prstDash val="solid"/>
          </a:ln>
        </p:spPr>
      </p:sp>
      <p:sp>
        <p:nvSpPr>
          <p:cNvPr id="7" name="Text 5"/>
          <p:cNvSpPr txBox="1"/>
          <p:nvPr/>
        </p:nvSpPr>
        <p:spPr>
          <a:xfrm>
            <a:off x="749808" y="2770632"/>
            <a:ext cx="530352" cy="530352"/>
          </a:xfrm>
          <a:prstGeom prst="rect">
            <a:avLst/>
          </a:prstGeom>
          <a:noFill/>
          <a:ln/>
        </p:spPr>
        <p:txBody>
          <a:bodyPr wrap="square" lIns="0" tIns="0" rIns="0" bIns="0" rtlCol="0" anchor="ctr">
            <a:normAutofit/>
          </a:bodyPr>
          <a:lstStyle/>
          <a:p>
            <a:pPr algn="ctr" indent="0" marL="0">
              <a:buNone/>
            </a:pPr>
            <a:r>
              <a:rPr lang="en-US" sz="1050" b="1" dirty="0">
                <a:solidFill>
                  <a:srgbClr val="F7FAFC"/>
                </a:solidFill>
                <a:latin typeface="Inter" pitchFamily="34" charset="0"/>
                <a:ea typeface="Inter" pitchFamily="34" charset="-122"/>
                <a:cs typeface="Inter" pitchFamily="34" charset="-120"/>
              </a:rPr>
              <a:t>01</a:t>
            </a:r>
            <a:endParaRPr lang="en-US" sz="1050" dirty="0"/>
          </a:p>
        </p:txBody>
      </p:sp>
      <p:sp>
        <p:nvSpPr>
          <p:cNvPr id="8" name="Text 6"/>
          <p:cNvSpPr txBox="1"/>
          <p:nvPr/>
        </p:nvSpPr>
        <p:spPr>
          <a:xfrm>
            <a:off x="566928" y="3529584"/>
            <a:ext cx="1883664" cy="310896"/>
          </a:xfrm>
          <a:prstGeom prst="rect">
            <a:avLst/>
          </a:prstGeom>
          <a:noFill/>
          <a:ln/>
        </p:spPr>
        <p:txBody>
          <a:bodyPr wrap="square" lIns="0" tIns="0" rIns="0" bIns="0" rtlCol="0" anchor="ctr">
            <a:normAutofit/>
          </a:bodyPr>
          <a:lstStyle/>
          <a:p>
            <a:pPr algn="ctr" indent="0" marL="0">
              <a:buNone/>
            </a:pPr>
            <a:r>
              <a:rPr lang="en-US" sz="1600" b="1" dirty="0">
                <a:solidFill>
                  <a:srgbClr val="F7FAFC"/>
                </a:solidFill>
                <a:latin typeface="Inter" pitchFamily="34" charset="0"/>
                <a:ea typeface="Inter" pitchFamily="34" charset="-122"/>
                <a:cs typeface="Inter" pitchFamily="34" charset="-120"/>
              </a:rPr>
              <a:t>Piloto real</a:t>
            </a:r>
            <a:endParaRPr lang="en-US" sz="1600" dirty="0"/>
          </a:p>
        </p:txBody>
      </p:sp>
      <p:sp>
        <p:nvSpPr>
          <p:cNvPr id="9" name="Text 7"/>
          <p:cNvSpPr txBox="1"/>
          <p:nvPr/>
        </p:nvSpPr>
        <p:spPr>
          <a:xfrm>
            <a:off x="512064" y="3950208"/>
            <a:ext cx="2011680" cy="804672"/>
          </a:xfrm>
          <a:prstGeom prst="rect">
            <a:avLst/>
          </a:prstGeom>
          <a:noFill/>
          <a:ln/>
        </p:spPr>
        <p:txBody>
          <a:bodyPr wrap="square" lIns="0" tIns="0" rIns="0" bIns="0" rtlCol="0" anchor="t">
            <a:normAutofit/>
          </a:bodyPr>
          <a:lstStyle/>
          <a:p>
            <a:pPr algn="ctr" indent="0" marL="0">
              <a:buNone/>
            </a:pPr>
            <a:r>
              <a:rPr lang="en-US" sz="1160" dirty="0">
                <a:solidFill>
                  <a:srgbClr val="8FA3B8"/>
                </a:solidFill>
                <a:latin typeface="Inter" pitchFamily="34" charset="0"/>
                <a:ea typeface="Inter" pitchFamily="34" charset="-122"/>
                <a:cs typeface="Inter" pitchFamily="34" charset="-120"/>
              </a:rPr>
              <a:t>Ejecutar el pipeline sobre un repositorio Spring Boot representativo.</a:t>
            </a:r>
            <a:endParaRPr lang="en-US" sz="1160" dirty="0"/>
          </a:p>
        </p:txBody>
      </p:sp>
      <p:sp>
        <p:nvSpPr>
          <p:cNvPr id="10" name="Shape 8"/>
          <p:cNvSpPr/>
          <p:nvPr/>
        </p:nvSpPr>
        <p:spPr>
          <a:xfrm>
            <a:off x="2944368" y="2770632"/>
            <a:ext cx="530352" cy="530352"/>
          </a:xfrm>
          <a:prstGeom prst="ellipse">
            <a:avLst/>
          </a:prstGeom>
          <a:solidFill>
            <a:srgbClr val="2EA8FF"/>
          </a:solidFill>
          <a:ln w="12700">
            <a:solidFill>
              <a:srgbClr val="2EA8FF"/>
            </a:solidFill>
            <a:prstDash val="solid"/>
          </a:ln>
        </p:spPr>
      </p:sp>
      <p:sp>
        <p:nvSpPr>
          <p:cNvPr id="11" name="Text 9"/>
          <p:cNvSpPr txBox="1"/>
          <p:nvPr/>
        </p:nvSpPr>
        <p:spPr>
          <a:xfrm>
            <a:off x="2944368" y="2770632"/>
            <a:ext cx="530352" cy="530352"/>
          </a:xfrm>
          <a:prstGeom prst="rect">
            <a:avLst/>
          </a:prstGeom>
          <a:noFill/>
          <a:ln/>
        </p:spPr>
        <p:txBody>
          <a:bodyPr wrap="square" lIns="0" tIns="0" rIns="0" bIns="0" rtlCol="0" anchor="ctr">
            <a:normAutofit/>
          </a:bodyPr>
          <a:lstStyle/>
          <a:p>
            <a:pPr algn="ctr" indent="0" marL="0">
              <a:buNone/>
            </a:pPr>
            <a:r>
              <a:rPr lang="en-US" sz="1050" b="1" dirty="0">
                <a:solidFill>
                  <a:srgbClr val="F7FAFC"/>
                </a:solidFill>
                <a:latin typeface="Inter" pitchFamily="34" charset="0"/>
                <a:ea typeface="Inter" pitchFamily="34" charset="-122"/>
                <a:cs typeface="Inter" pitchFamily="34" charset="-120"/>
              </a:rPr>
              <a:t>02</a:t>
            </a:r>
            <a:endParaRPr lang="en-US" sz="1050" dirty="0"/>
          </a:p>
        </p:txBody>
      </p:sp>
      <p:sp>
        <p:nvSpPr>
          <p:cNvPr id="12" name="Text 10"/>
          <p:cNvSpPr txBox="1"/>
          <p:nvPr/>
        </p:nvSpPr>
        <p:spPr>
          <a:xfrm>
            <a:off x="2761488" y="3529584"/>
            <a:ext cx="1883664" cy="310896"/>
          </a:xfrm>
          <a:prstGeom prst="rect">
            <a:avLst/>
          </a:prstGeom>
          <a:noFill/>
          <a:ln/>
        </p:spPr>
        <p:txBody>
          <a:bodyPr wrap="square" lIns="0" tIns="0" rIns="0" bIns="0" rtlCol="0" anchor="ctr">
            <a:normAutofit/>
          </a:bodyPr>
          <a:lstStyle/>
          <a:p>
            <a:pPr algn="ctr" indent="0" marL="0">
              <a:buNone/>
            </a:pPr>
            <a:r>
              <a:rPr lang="en-US" sz="1600" b="1" dirty="0">
                <a:solidFill>
                  <a:srgbClr val="F7FAFC"/>
                </a:solidFill>
                <a:latin typeface="Inter" pitchFamily="34" charset="0"/>
                <a:ea typeface="Inter" pitchFamily="34" charset="-122"/>
                <a:cs typeface="Inter" pitchFamily="34" charset="-120"/>
              </a:rPr>
              <a:t>CI + PR reales</a:t>
            </a:r>
            <a:endParaRPr lang="en-US" sz="1600" dirty="0"/>
          </a:p>
        </p:txBody>
      </p:sp>
      <p:sp>
        <p:nvSpPr>
          <p:cNvPr id="13" name="Text 11"/>
          <p:cNvSpPr txBox="1"/>
          <p:nvPr/>
        </p:nvSpPr>
        <p:spPr>
          <a:xfrm>
            <a:off x="2706624" y="3950208"/>
            <a:ext cx="2011680" cy="804672"/>
          </a:xfrm>
          <a:prstGeom prst="rect">
            <a:avLst/>
          </a:prstGeom>
          <a:noFill/>
          <a:ln/>
        </p:spPr>
        <p:txBody>
          <a:bodyPr wrap="square" lIns="0" tIns="0" rIns="0" bIns="0" rtlCol="0" anchor="t">
            <a:normAutofit/>
          </a:bodyPr>
          <a:lstStyle/>
          <a:p>
            <a:pPr algn="ctr" indent="0" marL="0">
              <a:buNone/>
            </a:pPr>
            <a:r>
              <a:rPr lang="en-US" sz="1160" dirty="0">
                <a:solidFill>
                  <a:srgbClr val="8FA3B8"/>
                </a:solidFill>
                <a:latin typeface="Inter" pitchFamily="34" charset="0"/>
                <a:ea typeface="Inter" pitchFamily="34" charset="-122"/>
                <a:cs typeface="Inter" pitchFamily="34" charset="-120"/>
              </a:rPr>
              <a:t>Conectar build/test remoto y publicación de Pull Requests con permisos controlados.</a:t>
            </a:r>
            <a:endParaRPr lang="en-US" sz="1160" dirty="0"/>
          </a:p>
        </p:txBody>
      </p:sp>
      <p:sp>
        <p:nvSpPr>
          <p:cNvPr id="14" name="Shape 12"/>
          <p:cNvSpPr/>
          <p:nvPr/>
        </p:nvSpPr>
        <p:spPr>
          <a:xfrm>
            <a:off x="5138928" y="2770632"/>
            <a:ext cx="530352" cy="530352"/>
          </a:xfrm>
          <a:prstGeom prst="ellipse">
            <a:avLst/>
          </a:prstGeom>
          <a:solidFill>
            <a:srgbClr val="45D0E6"/>
          </a:solidFill>
          <a:ln w="12700">
            <a:solidFill>
              <a:srgbClr val="45D0E6"/>
            </a:solidFill>
            <a:prstDash val="solid"/>
          </a:ln>
        </p:spPr>
      </p:sp>
      <p:sp>
        <p:nvSpPr>
          <p:cNvPr id="15" name="Text 13"/>
          <p:cNvSpPr txBox="1"/>
          <p:nvPr/>
        </p:nvSpPr>
        <p:spPr>
          <a:xfrm>
            <a:off x="5138928" y="2770632"/>
            <a:ext cx="530352" cy="530352"/>
          </a:xfrm>
          <a:prstGeom prst="rect">
            <a:avLst/>
          </a:prstGeom>
          <a:noFill/>
          <a:ln/>
        </p:spPr>
        <p:txBody>
          <a:bodyPr wrap="square" lIns="0" tIns="0" rIns="0" bIns="0" rtlCol="0" anchor="ctr">
            <a:normAutofit/>
          </a:bodyPr>
          <a:lstStyle/>
          <a:p>
            <a:pPr algn="ctr" indent="0" marL="0">
              <a:buNone/>
            </a:pPr>
            <a:r>
              <a:rPr lang="en-US" sz="1050" b="1" dirty="0">
                <a:solidFill>
                  <a:srgbClr val="F7FAFC"/>
                </a:solidFill>
                <a:latin typeface="Inter" pitchFamily="34" charset="0"/>
                <a:ea typeface="Inter" pitchFamily="34" charset="-122"/>
                <a:cs typeface="Inter" pitchFamily="34" charset="-120"/>
              </a:rPr>
              <a:t>03</a:t>
            </a:r>
            <a:endParaRPr lang="en-US" sz="1050" dirty="0"/>
          </a:p>
        </p:txBody>
      </p:sp>
      <p:sp>
        <p:nvSpPr>
          <p:cNvPr id="16" name="Text 14"/>
          <p:cNvSpPr txBox="1"/>
          <p:nvPr/>
        </p:nvSpPr>
        <p:spPr>
          <a:xfrm>
            <a:off x="4956048" y="3529584"/>
            <a:ext cx="1883664" cy="310896"/>
          </a:xfrm>
          <a:prstGeom prst="rect">
            <a:avLst/>
          </a:prstGeom>
          <a:noFill/>
          <a:ln/>
        </p:spPr>
        <p:txBody>
          <a:bodyPr wrap="square" lIns="0" tIns="0" rIns="0" bIns="0" rtlCol="0" anchor="ctr">
            <a:normAutofit/>
          </a:bodyPr>
          <a:lstStyle/>
          <a:p>
            <a:pPr algn="ctr" indent="0" marL="0">
              <a:buNone/>
            </a:pPr>
            <a:r>
              <a:rPr lang="en-US" sz="1600" b="1" dirty="0">
                <a:solidFill>
                  <a:srgbClr val="F7FAFC"/>
                </a:solidFill>
                <a:latin typeface="Inter" pitchFamily="34" charset="0"/>
                <a:ea typeface="Inter" pitchFamily="34" charset="-122"/>
                <a:cs typeface="Inter" pitchFamily="34" charset="-120"/>
              </a:rPr>
              <a:t>Endurecer identidad y estado</a:t>
            </a:r>
            <a:endParaRPr lang="en-US" sz="1600" dirty="0"/>
          </a:p>
        </p:txBody>
      </p:sp>
      <p:sp>
        <p:nvSpPr>
          <p:cNvPr id="17" name="Text 15"/>
          <p:cNvSpPr txBox="1"/>
          <p:nvPr/>
        </p:nvSpPr>
        <p:spPr>
          <a:xfrm>
            <a:off x="4901184" y="3950208"/>
            <a:ext cx="2011680" cy="804672"/>
          </a:xfrm>
          <a:prstGeom prst="rect">
            <a:avLst/>
          </a:prstGeom>
          <a:noFill/>
          <a:ln/>
        </p:spPr>
        <p:txBody>
          <a:bodyPr wrap="square" lIns="0" tIns="0" rIns="0" bIns="0" rtlCol="0" anchor="t">
            <a:normAutofit/>
          </a:bodyPr>
          <a:lstStyle/>
          <a:p>
            <a:pPr algn="ctr" indent="0" marL="0">
              <a:buNone/>
            </a:pPr>
            <a:r>
              <a:rPr lang="en-US" sz="1160" dirty="0">
                <a:solidFill>
                  <a:srgbClr val="8FA3B8"/>
                </a:solidFill>
                <a:latin typeface="Inter" pitchFamily="34" charset="0"/>
                <a:ea typeface="Inter" pitchFamily="34" charset="-122"/>
                <a:cs typeface="Inter" pitchFamily="34" charset="-120"/>
              </a:rPr>
              <a:t>Sustituir auth demo; gestionar secretos y almacenamiento persistente.</a:t>
            </a:r>
            <a:endParaRPr lang="en-US" sz="1160" dirty="0"/>
          </a:p>
        </p:txBody>
      </p:sp>
      <p:sp>
        <p:nvSpPr>
          <p:cNvPr id="18" name="Shape 16"/>
          <p:cNvSpPr/>
          <p:nvPr/>
        </p:nvSpPr>
        <p:spPr>
          <a:xfrm>
            <a:off x="7333488" y="2770632"/>
            <a:ext cx="530352" cy="530352"/>
          </a:xfrm>
          <a:prstGeom prst="ellipse">
            <a:avLst/>
          </a:prstGeom>
          <a:solidFill>
            <a:srgbClr val="F2B138"/>
          </a:solidFill>
          <a:ln w="12700">
            <a:solidFill>
              <a:srgbClr val="F2B138"/>
            </a:solidFill>
            <a:prstDash val="solid"/>
          </a:ln>
        </p:spPr>
      </p:sp>
      <p:sp>
        <p:nvSpPr>
          <p:cNvPr id="19" name="Text 17"/>
          <p:cNvSpPr txBox="1"/>
          <p:nvPr/>
        </p:nvSpPr>
        <p:spPr>
          <a:xfrm>
            <a:off x="7333488" y="2770632"/>
            <a:ext cx="530352" cy="530352"/>
          </a:xfrm>
          <a:prstGeom prst="rect">
            <a:avLst/>
          </a:prstGeom>
          <a:noFill/>
          <a:ln/>
        </p:spPr>
        <p:txBody>
          <a:bodyPr wrap="square" lIns="0" tIns="0" rIns="0" bIns="0" rtlCol="0" anchor="ctr">
            <a:normAutofit/>
          </a:bodyPr>
          <a:lstStyle/>
          <a:p>
            <a:pPr algn="ctr" indent="0" marL="0">
              <a:buNone/>
            </a:pPr>
            <a:r>
              <a:rPr lang="en-US" sz="1050" b="1" dirty="0">
                <a:solidFill>
                  <a:srgbClr val="F7FAFC"/>
                </a:solidFill>
                <a:latin typeface="Inter" pitchFamily="34" charset="0"/>
                <a:ea typeface="Inter" pitchFamily="34" charset="-122"/>
                <a:cs typeface="Inter" pitchFamily="34" charset="-120"/>
              </a:rPr>
              <a:t>04</a:t>
            </a:r>
            <a:endParaRPr lang="en-US" sz="1050" dirty="0"/>
          </a:p>
        </p:txBody>
      </p:sp>
      <p:sp>
        <p:nvSpPr>
          <p:cNvPr id="20" name="Text 18"/>
          <p:cNvSpPr txBox="1"/>
          <p:nvPr/>
        </p:nvSpPr>
        <p:spPr>
          <a:xfrm>
            <a:off x="7150608" y="3529584"/>
            <a:ext cx="1883664" cy="310896"/>
          </a:xfrm>
          <a:prstGeom prst="rect">
            <a:avLst/>
          </a:prstGeom>
          <a:noFill/>
          <a:ln/>
        </p:spPr>
        <p:txBody>
          <a:bodyPr wrap="square" lIns="0" tIns="0" rIns="0" bIns="0" rtlCol="0" anchor="ctr">
            <a:normAutofit/>
          </a:bodyPr>
          <a:lstStyle/>
          <a:p>
            <a:pPr algn="ctr" indent="0" marL="0">
              <a:buNone/>
            </a:pPr>
            <a:r>
              <a:rPr lang="en-US" sz="1600" b="1" dirty="0">
                <a:solidFill>
                  <a:srgbClr val="F7FAFC"/>
                </a:solidFill>
                <a:latin typeface="Inter" pitchFamily="34" charset="0"/>
                <a:ea typeface="Inter" pitchFamily="34" charset="-122"/>
                <a:cs typeface="Inter" pitchFamily="34" charset="-120"/>
              </a:rPr>
              <a:t>Medir</a:t>
            </a:r>
            <a:endParaRPr lang="en-US" sz="1600" dirty="0"/>
          </a:p>
        </p:txBody>
      </p:sp>
      <p:sp>
        <p:nvSpPr>
          <p:cNvPr id="21" name="Text 19"/>
          <p:cNvSpPr txBox="1"/>
          <p:nvPr/>
        </p:nvSpPr>
        <p:spPr>
          <a:xfrm>
            <a:off x="7095744" y="3950208"/>
            <a:ext cx="2011680" cy="804672"/>
          </a:xfrm>
          <a:prstGeom prst="rect">
            <a:avLst/>
          </a:prstGeom>
          <a:noFill/>
          <a:ln/>
        </p:spPr>
        <p:txBody>
          <a:bodyPr wrap="square" lIns="0" tIns="0" rIns="0" bIns="0" rtlCol="0" anchor="t">
            <a:normAutofit/>
          </a:bodyPr>
          <a:lstStyle/>
          <a:p>
            <a:pPr algn="ctr" indent="0" marL="0">
              <a:buNone/>
            </a:pPr>
            <a:r>
              <a:rPr lang="en-US" sz="1160" dirty="0">
                <a:solidFill>
                  <a:srgbClr val="8FA3B8"/>
                </a:solidFill>
                <a:latin typeface="Inter" pitchFamily="34" charset="0"/>
                <a:ea typeface="Inter" pitchFamily="34" charset="-122"/>
                <a:cs typeface="Inter" pitchFamily="34" charset="-120"/>
              </a:rPr>
              <a:t>Calidad, coste, seguridad, regresiones y tiempo ahorrado por tarea.</a:t>
            </a:r>
            <a:endParaRPr lang="en-US" sz="1160" dirty="0"/>
          </a:p>
        </p:txBody>
      </p:sp>
      <p:sp>
        <p:nvSpPr>
          <p:cNvPr id="22" name="Shape 20"/>
          <p:cNvSpPr/>
          <p:nvPr/>
        </p:nvSpPr>
        <p:spPr>
          <a:xfrm>
            <a:off x="9528048" y="2770632"/>
            <a:ext cx="530352" cy="530352"/>
          </a:xfrm>
          <a:prstGeom prst="ellipse">
            <a:avLst/>
          </a:prstGeom>
          <a:solidFill>
            <a:srgbClr val="38D996"/>
          </a:solidFill>
          <a:ln w="12700">
            <a:solidFill>
              <a:srgbClr val="38D996"/>
            </a:solidFill>
            <a:prstDash val="solid"/>
          </a:ln>
        </p:spPr>
      </p:sp>
      <p:sp>
        <p:nvSpPr>
          <p:cNvPr id="23" name="Text 21"/>
          <p:cNvSpPr txBox="1"/>
          <p:nvPr/>
        </p:nvSpPr>
        <p:spPr>
          <a:xfrm>
            <a:off x="9528048" y="2770632"/>
            <a:ext cx="530352" cy="530352"/>
          </a:xfrm>
          <a:prstGeom prst="rect">
            <a:avLst/>
          </a:prstGeom>
          <a:noFill/>
          <a:ln/>
        </p:spPr>
        <p:txBody>
          <a:bodyPr wrap="square" lIns="0" tIns="0" rIns="0" bIns="0" rtlCol="0" anchor="ctr">
            <a:normAutofit/>
          </a:bodyPr>
          <a:lstStyle/>
          <a:p>
            <a:pPr algn="ctr" indent="0" marL="0">
              <a:buNone/>
            </a:pPr>
            <a:r>
              <a:rPr lang="en-US" sz="1050" b="1" dirty="0">
                <a:solidFill>
                  <a:srgbClr val="F7FAFC"/>
                </a:solidFill>
                <a:latin typeface="Inter" pitchFamily="34" charset="0"/>
                <a:ea typeface="Inter" pitchFamily="34" charset="-122"/>
                <a:cs typeface="Inter" pitchFamily="34" charset="-120"/>
              </a:rPr>
              <a:t>05</a:t>
            </a:r>
            <a:endParaRPr lang="en-US" sz="1050" dirty="0"/>
          </a:p>
        </p:txBody>
      </p:sp>
      <p:sp>
        <p:nvSpPr>
          <p:cNvPr id="24" name="Text 22"/>
          <p:cNvSpPr txBox="1"/>
          <p:nvPr/>
        </p:nvSpPr>
        <p:spPr>
          <a:xfrm>
            <a:off x="9345168" y="3529584"/>
            <a:ext cx="1883664" cy="310896"/>
          </a:xfrm>
          <a:prstGeom prst="rect">
            <a:avLst/>
          </a:prstGeom>
          <a:noFill/>
          <a:ln/>
        </p:spPr>
        <p:txBody>
          <a:bodyPr wrap="square" lIns="0" tIns="0" rIns="0" bIns="0" rtlCol="0" anchor="ctr">
            <a:normAutofit/>
          </a:bodyPr>
          <a:lstStyle/>
          <a:p>
            <a:pPr algn="ctr" indent="0" marL="0">
              <a:buNone/>
            </a:pPr>
            <a:r>
              <a:rPr lang="en-US" sz="1600" b="1" dirty="0">
                <a:solidFill>
                  <a:srgbClr val="F7FAFC"/>
                </a:solidFill>
                <a:latin typeface="Inter" pitchFamily="34" charset="0"/>
                <a:ea typeface="Inter" pitchFamily="34" charset="-122"/>
                <a:cs typeface="Inter" pitchFamily="34" charset="-120"/>
              </a:rPr>
              <a:t>Gobernar</a:t>
            </a:r>
            <a:endParaRPr lang="en-US" sz="1600" dirty="0"/>
          </a:p>
        </p:txBody>
      </p:sp>
      <p:sp>
        <p:nvSpPr>
          <p:cNvPr id="25" name="Text 23"/>
          <p:cNvSpPr txBox="1"/>
          <p:nvPr/>
        </p:nvSpPr>
        <p:spPr>
          <a:xfrm>
            <a:off x="9290304" y="3950208"/>
            <a:ext cx="2011680" cy="804672"/>
          </a:xfrm>
          <a:prstGeom prst="rect">
            <a:avLst/>
          </a:prstGeom>
          <a:noFill/>
          <a:ln/>
        </p:spPr>
        <p:txBody>
          <a:bodyPr wrap="square" lIns="0" tIns="0" rIns="0" bIns="0" rtlCol="0" anchor="t">
            <a:normAutofit/>
          </a:bodyPr>
          <a:lstStyle/>
          <a:p>
            <a:pPr algn="ctr" indent="0" marL="0">
              <a:buNone/>
            </a:pPr>
            <a:r>
              <a:rPr lang="en-US" sz="1160" dirty="0">
                <a:solidFill>
                  <a:srgbClr val="8FA3B8"/>
                </a:solidFill>
                <a:latin typeface="Inter" pitchFamily="34" charset="0"/>
                <a:ea typeface="Inter" pitchFamily="34" charset="-122"/>
                <a:cs typeface="Inter" pitchFamily="34" charset="-120"/>
              </a:rPr>
              <a:t>Políticas de aprobación, auditoría, SLOs y criterios de promoción.</a:t>
            </a:r>
            <a:endParaRPr lang="en-US" sz="1160" dirty="0"/>
          </a:p>
        </p:txBody>
      </p:sp>
      <p:sp>
        <p:nvSpPr>
          <p:cNvPr id="26" name="Shape 24"/>
          <p:cNvSpPr/>
          <p:nvPr/>
        </p:nvSpPr>
        <p:spPr>
          <a:xfrm>
            <a:off x="914400" y="5184648"/>
            <a:ext cx="10287000" cy="749808"/>
          </a:xfrm>
          <a:prstGeom prst="roundRect">
            <a:avLst>
              <a:gd name="adj" fmla="val 14634"/>
            </a:avLst>
          </a:prstGeom>
          <a:solidFill>
            <a:srgbClr val="0D2730"/>
          </a:solidFill>
          <a:ln w="12700">
            <a:solidFill>
              <a:srgbClr val="38D996"/>
            </a:solidFill>
            <a:prstDash val="solid"/>
          </a:ln>
        </p:spPr>
      </p:sp>
      <p:sp>
        <p:nvSpPr>
          <p:cNvPr id="27" name="Text 25"/>
          <p:cNvSpPr txBox="1"/>
          <p:nvPr/>
        </p:nvSpPr>
        <p:spPr>
          <a:xfrm>
            <a:off x="1143000" y="5404104"/>
            <a:ext cx="1298448" cy="256032"/>
          </a:xfrm>
          <a:prstGeom prst="rect">
            <a:avLst/>
          </a:prstGeom>
          <a:noFill/>
          <a:ln/>
        </p:spPr>
        <p:txBody>
          <a:bodyPr wrap="square" lIns="0" tIns="0" rIns="0" bIns="0" rtlCol="0" anchor="ctr">
            <a:normAutofit/>
          </a:bodyPr>
          <a:lstStyle/>
          <a:p>
            <a:pPr algn="l" indent="0" marL="0">
              <a:buNone/>
            </a:pPr>
            <a:r>
              <a:rPr lang="en-US" sz="1050" b="1" spc="110" kern="0" dirty="0">
                <a:solidFill>
                  <a:srgbClr val="38D996"/>
                </a:solidFill>
                <a:latin typeface="Inter" pitchFamily="34" charset="0"/>
                <a:ea typeface="Inter" pitchFamily="34" charset="-122"/>
                <a:cs typeface="Inter" pitchFamily="34" charset="-120"/>
              </a:rPr>
              <a:t>DECISION GATE</a:t>
            </a:r>
            <a:endParaRPr lang="en-US" sz="1050" dirty="0"/>
          </a:p>
        </p:txBody>
      </p:sp>
      <p:sp>
        <p:nvSpPr>
          <p:cNvPr id="28" name="Text 26"/>
          <p:cNvSpPr txBox="1"/>
          <p:nvPr/>
        </p:nvSpPr>
        <p:spPr>
          <a:xfrm>
            <a:off x="2596896" y="5303520"/>
            <a:ext cx="8211312" cy="438912"/>
          </a:xfrm>
          <a:prstGeom prst="rect">
            <a:avLst/>
          </a:prstGeom>
          <a:noFill/>
          <a:ln/>
        </p:spPr>
        <p:txBody>
          <a:bodyPr wrap="square" lIns="0" tIns="0" rIns="0" bIns="0" rtlCol="0" anchor="ctr">
            <a:normAutofit/>
          </a:bodyPr>
          <a:lstStyle/>
          <a:p>
            <a:pPr algn="l" indent="0" marL="0">
              <a:buNone/>
            </a:pPr>
            <a:r>
              <a:rPr lang="en-US" sz="1550" b="1" dirty="0">
                <a:solidFill>
                  <a:srgbClr val="F7FAFC"/>
                </a:solidFill>
                <a:latin typeface="Inter" pitchFamily="34" charset="0"/>
                <a:ea typeface="Inter" pitchFamily="34" charset="-122"/>
                <a:cs typeface="Inter" pitchFamily="34" charset="-120"/>
              </a:rPr>
              <a:t>Promover más allá del piloto solo cuando CI, seguridad, identidad, persistencia y métricas estén respaldados por evidencia operacional.</a:t>
            </a:r>
            <a:endParaRPr lang="en-US" sz="1550" dirty="0"/>
          </a:p>
        </p:txBody>
      </p:sp>
      <p:sp>
        <p:nvSpPr>
          <p:cNvPr id="29" name="Text 27"/>
          <p:cNvSpPr txBox="1"/>
          <p:nvPr/>
        </p:nvSpPr>
        <p:spPr>
          <a:xfrm>
            <a:off x="932688" y="6089904"/>
            <a:ext cx="10241280" cy="265176"/>
          </a:xfrm>
          <a:prstGeom prst="rect">
            <a:avLst/>
          </a:prstGeom>
          <a:noFill/>
          <a:ln/>
        </p:spPr>
        <p:txBody>
          <a:bodyPr wrap="square" lIns="0" tIns="0" rIns="0" bIns="0" rtlCol="0" anchor="ctr">
            <a:normAutofit/>
          </a:bodyPr>
          <a:lstStyle/>
          <a:p>
            <a:pPr algn="ctr" indent="0" marL="0">
              <a:buNone/>
            </a:pPr>
            <a:r>
              <a:rPr lang="en-US" sz="1350" b="1" dirty="0">
                <a:solidFill>
                  <a:srgbClr val="2EA8FF"/>
                </a:solidFill>
                <a:latin typeface="Inter" pitchFamily="34" charset="0"/>
                <a:ea typeface="Inter" pitchFamily="34" charset="-122"/>
                <a:cs typeface="Inter" pitchFamily="34" charset="-120"/>
              </a:rPr>
              <a:t>Lectura ejecutiva: la ventaja no es autonomía irrestricta; es autonomía dentro de guardrails verificables.</a:t>
            </a:r>
            <a:endParaRPr lang="en-US" sz="1350" dirty="0"/>
          </a:p>
        </p:txBody>
      </p:sp>
      <p:sp>
        <p:nvSpPr>
          <p:cNvPr id="25" name="Slide Number Placeholder 0"/>
          <p:cNvSpPr>
            <a:spLocks noGrp="1"/>
          </p:cNvSpPr>
          <p:nvPr>
            <p:ph type="sldNum" sz="quarter" idx="4294967295"/>
          </p:nvPr>
        </p:nvSpPr>
        <p:spPr>
          <a:xfrm>
            <a:off x="11192256" y="6556248"/>
            <a:ext cx="411480" cy="16459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F879B"/>
                </a:solidFill>
                <a:latin typeface="Inter"/>
                <a:ea typeface="Inter"/>
                <a:cs typeface="Inter"/>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AI Java Engineer - Technical Analysis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Java Engineer - Fábrica gobernada de agentes para desarrollo Java</dc:title>
  <dc:subject>Análisis técnico y arquitectura de AI Java Engineer</dc:subject>
  <dc:creator>OpenAI</dc:creator>
  <cp:lastModifiedBy>OpenAI</cp:lastModifiedBy>
  <cp:revision>1</cp:revision>
  <dcterms:created xsi:type="dcterms:W3CDTF">2026-09-23T05:57:31Z</dcterms:created>
  <dcterms:modified xsi:type="dcterms:W3CDTF">2026-09-23T05:57:31Z</dcterms:modified>
</cp:coreProperties>
</file>